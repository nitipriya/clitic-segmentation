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ti Priya" userId="cd8c73518b688e04" providerId="LiveId" clId="{60F7965D-54B3-4455-9AC8-5BF549022B77}"/>
    <pc:docChg chg="delSld modSld">
      <pc:chgData name="Niti Priya" userId="cd8c73518b688e04" providerId="LiveId" clId="{60F7965D-54B3-4455-9AC8-5BF549022B77}" dt="2026-04-13T11:34:50.583" v="7" actId="20577"/>
      <pc:docMkLst>
        <pc:docMk/>
      </pc:docMkLst>
      <pc:sldChg chg="modSp mod">
        <pc:chgData name="Niti Priya" userId="cd8c73518b688e04" providerId="LiveId" clId="{60F7965D-54B3-4455-9AC8-5BF549022B77}" dt="2026-04-13T11:34:50.583" v="7" actId="20577"/>
        <pc:sldMkLst>
          <pc:docMk/>
          <pc:sldMk cId="0" sldId="257"/>
        </pc:sldMkLst>
        <pc:spChg chg="mod">
          <ac:chgData name="Niti Priya" userId="cd8c73518b688e04" providerId="LiveId" clId="{60F7965D-54B3-4455-9AC8-5BF549022B77}" dt="2026-04-13T11:34:50.583" v="7" actId="20577"/>
          <ac:spMkLst>
            <pc:docMk/>
            <pc:sldMk cId="0" sldId="257"/>
            <ac:spMk id="29" creationId="{00000000-0000-0000-0000-000000000000}"/>
          </ac:spMkLst>
        </pc:spChg>
      </pc:sldChg>
      <pc:sldChg chg="del">
        <pc:chgData name="Niti Priya" userId="cd8c73518b688e04" providerId="LiveId" clId="{60F7965D-54B3-4455-9AC8-5BF549022B77}" dt="2026-04-13T11:33:08.083" v="5" actId="2696"/>
        <pc:sldMkLst>
          <pc:docMk/>
          <pc:sldMk cId="0" sldId="259"/>
        </pc:sldMkLst>
      </pc:sldChg>
      <pc:sldChg chg="modSp mod">
        <pc:chgData name="Niti Priya" userId="cd8c73518b688e04" providerId="LiveId" clId="{60F7965D-54B3-4455-9AC8-5BF549022B77}" dt="2026-04-13T10:31:27.593" v="4" actId="20577"/>
        <pc:sldMkLst>
          <pc:docMk/>
          <pc:sldMk cId="0" sldId="267"/>
        </pc:sldMkLst>
        <pc:graphicFrameChg chg="modGraphic">
          <ac:chgData name="Niti Priya" userId="cd8c73518b688e04" providerId="LiveId" clId="{60F7965D-54B3-4455-9AC8-5BF549022B77}" dt="2026-04-13T10:31:27.593" v="4" actId="20577"/>
          <ac:graphicFrameMkLst>
            <pc:docMk/>
            <pc:sldMk cId="0" sldId="267"/>
            <ac:graphicFrameMk id="13" creationId="{00000000-0000-0000-0000-000000000000}"/>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Boundary F1</c:v>
                </c:pt>
              </c:strCache>
            </c:strRef>
          </c:tx>
          <c:spPr>
            <a:solidFill>
              <a:srgbClr val="C75B7A"/>
            </a:solidFill>
            <a:effectLst/>
          </c:spPr>
          <c:invertIfNegative val="0"/>
          <c:dLbls>
            <c:numFmt formatCode="#,##0" sourceLinked="0"/>
            <c:spPr>
              <a:noFill/>
              <a:ln>
                <a:noFill/>
              </a:ln>
              <a:effectLst/>
            </c:spPr>
            <c:txPr>
              <a:bodyPr/>
              <a:lstStyle/>
              <a:p>
                <a:pPr>
                  <a:defRPr sz="1200" b="0" i="0" u="none" strike="noStrike">
                    <a:solidFill>
                      <a:srgbClr val="2E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Dev Set</c:v>
                </c:pt>
                <c:pt idx="1">
                  <c:v>Test Set</c:v>
                </c:pt>
              </c:strCache>
            </c:strRef>
          </c:cat>
          <c:val>
            <c:numRef>
              <c:f>Sheet1!$B$2:$B$3</c:f>
              <c:numCache>
                <c:formatCode>General</c:formatCode>
                <c:ptCount val="2"/>
                <c:pt idx="0">
                  <c:v>0.99490000000000001</c:v>
                </c:pt>
                <c:pt idx="1">
                  <c:v>0.96440000000000003</c:v>
                </c:pt>
              </c:numCache>
            </c:numRef>
          </c:val>
          <c:extLst>
            <c:ext xmlns:c16="http://schemas.microsoft.com/office/drawing/2014/chart" uri="{C3380CC4-5D6E-409C-BE32-E72D297353CC}">
              <c16:uniqueId val="{00000000-56D9-4B7B-B860-4DD969E83D3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A7A8A"/>
                </a:solidFill>
                <a:latin typeface="Arial"/>
              </a:defRPr>
            </a:pPr>
            <a:endParaRPr lang="en-US"/>
          </a:p>
        </c:txPr>
        <c:crossAx val="2094734552"/>
        <c:crosses val="autoZero"/>
        <c:auto val="1"/>
        <c:lblAlgn val="ctr"/>
        <c:lblOffset val="100"/>
        <c:noMultiLvlLbl val="1"/>
      </c:catAx>
      <c:valAx>
        <c:axId val="2094734552"/>
        <c:scaling>
          <c:orientation val="minMax"/>
          <c:min val="0.9"/>
        </c:scaling>
        <c:delete val="0"/>
        <c:axPos val="l"/>
        <c:majorGridlines>
          <c:spPr>
            <a:ln w="6350" cap="flat">
              <a:solidFill>
                <a:srgbClr val="E8DDD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7A8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E1A2E"/>
                </a:solidFill>
                <a:latin typeface="Arial"/>
              </a:defRPr>
            </a:pPr>
            <a:r>
              <a:rPr lang="en-IN" sz="1200" b="0" i="0" u="none" strike="noStrike">
                <a:solidFill>
                  <a:srgbClr val="2E1A2E"/>
                </a:solidFill>
                <a:latin typeface="Arial"/>
              </a:rPr>
              <a:t>F1 Score Comparison</a:t>
            </a:r>
          </a:p>
        </c:rich>
      </c:tx>
      <c:overlay val="0"/>
    </c:title>
    <c:autoTitleDeleted val="0"/>
    <c:plotArea>
      <c:layout/>
      <c:barChart>
        <c:barDir val="col"/>
        <c:grouping val="clustered"/>
        <c:varyColors val="0"/>
        <c:ser>
          <c:idx val="0"/>
          <c:order val="0"/>
          <c:tx>
            <c:strRef>
              <c:f>Sheet1!$B$1</c:f>
              <c:strCache>
                <c:ptCount val="1"/>
                <c:pt idx="0">
                  <c:v>Boundary F1</c:v>
                </c:pt>
              </c:strCache>
            </c:strRef>
          </c:tx>
          <c:spPr>
            <a:solidFill>
              <a:srgbClr val="C75B7A"/>
            </a:solidFill>
            <a:effectLst/>
          </c:spPr>
          <c:invertIfNegative val="0"/>
          <c:dPt>
            <c:idx val="0"/>
            <c:invertIfNegative val="0"/>
            <c:bubble3D val="0"/>
            <c:extLst>
              <c:ext xmlns:c16="http://schemas.microsoft.com/office/drawing/2014/chart" uri="{C3380CC4-5D6E-409C-BE32-E72D297353CC}">
                <c16:uniqueId val="{00000001-01E6-4B8D-8FDB-F847646185EF}"/>
              </c:ext>
            </c:extLst>
          </c:dPt>
          <c:dPt>
            <c:idx val="1"/>
            <c:invertIfNegative val="0"/>
            <c:bubble3D val="0"/>
            <c:spPr>
              <a:solidFill>
                <a:srgbClr val="3A6A9A"/>
              </a:solidFill>
              <a:effectLst/>
            </c:spPr>
            <c:extLst>
              <c:ext xmlns:c16="http://schemas.microsoft.com/office/drawing/2014/chart" uri="{C3380CC4-5D6E-409C-BE32-E72D297353CC}">
                <c16:uniqueId val="{00000003-01E6-4B8D-8FDB-F847646185EF}"/>
              </c:ext>
            </c:extLst>
          </c:dPt>
          <c:dLbls>
            <c:numFmt formatCode="#,##0" sourceLinked="0"/>
            <c:spPr>
              <a:noFill/>
              <a:ln>
                <a:noFill/>
              </a:ln>
              <a:effectLst/>
            </c:spPr>
            <c:txPr>
              <a:bodyPr/>
              <a:lstStyle/>
              <a:p>
                <a:pPr>
                  <a:defRPr sz="1200" b="0" i="0" u="none" strike="noStrike">
                    <a:solidFill>
                      <a:srgbClr val="2E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Spanish (Train+Test)</c:v>
                </c:pt>
                <c:pt idx="1">
                  <c:v>Italian (Zero-Shot)</c:v>
                </c:pt>
              </c:strCache>
            </c:strRef>
          </c:cat>
          <c:val>
            <c:numRef>
              <c:f>Sheet1!$B$2:$B$3</c:f>
              <c:numCache>
                <c:formatCode>General</c:formatCode>
                <c:ptCount val="2"/>
                <c:pt idx="0">
                  <c:v>0.96440000000000003</c:v>
                </c:pt>
                <c:pt idx="1">
                  <c:v>0.70240000000000002</c:v>
                </c:pt>
              </c:numCache>
            </c:numRef>
          </c:val>
          <c:extLst>
            <c:ext xmlns:c16="http://schemas.microsoft.com/office/drawing/2014/chart" uri="{C3380CC4-5D6E-409C-BE32-E72D297353CC}">
              <c16:uniqueId val="{00000004-01E6-4B8D-8FDB-F847646185E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A7A8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8DDD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7A8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Dev F1</c:v>
                </c:pt>
              </c:strCache>
            </c:strRef>
          </c:tx>
          <c:spPr>
            <a:solidFill>
              <a:srgbClr val="C75B7A"/>
            </a:solidFill>
            <a:effectLst/>
          </c:spPr>
          <c:invertIfNegative val="0"/>
          <c:dPt>
            <c:idx val="0"/>
            <c:invertIfNegative val="0"/>
            <c:bubble3D val="0"/>
            <c:extLst>
              <c:ext xmlns:c16="http://schemas.microsoft.com/office/drawing/2014/chart" uri="{C3380CC4-5D6E-409C-BE32-E72D297353CC}">
                <c16:uniqueId val="{00000001-6844-4E34-8BB6-2C05FB7ECEE0}"/>
              </c:ext>
            </c:extLst>
          </c:dPt>
          <c:dPt>
            <c:idx val="1"/>
            <c:invertIfNegative val="0"/>
            <c:bubble3D val="0"/>
            <c:spPr>
              <a:solidFill>
                <a:srgbClr val="2A8A7A"/>
              </a:solidFill>
              <a:effectLst/>
            </c:spPr>
            <c:extLst>
              <c:ext xmlns:c16="http://schemas.microsoft.com/office/drawing/2014/chart" uri="{C3380CC4-5D6E-409C-BE32-E72D297353CC}">
                <c16:uniqueId val="{00000003-6844-4E34-8BB6-2C05FB7ECEE0}"/>
              </c:ext>
            </c:extLst>
          </c:dPt>
          <c:dPt>
            <c:idx val="2"/>
            <c:invertIfNegative val="0"/>
            <c:bubble3D val="0"/>
            <c:spPr>
              <a:solidFill>
                <a:srgbClr val="3A6A9A"/>
              </a:solidFill>
              <a:effectLst/>
            </c:spPr>
            <c:extLst>
              <c:ext xmlns:c16="http://schemas.microsoft.com/office/drawing/2014/chart" uri="{C3380CC4-5D6E-409C-BE32-E72D297353CC}">
                <c16:uniqueId val="{00000005-6844-4E34-8BB6-2C05FB7ECEE0}"/>
              </c:ext>
            </c:extLst>
          </c:dPt>
          <c:dPt>
            <c:idx val="3"/>
            <c:invertIfNegative val="0"/>
            <c:bubble3D val="0"/>
            <c:spPr>
              <a:solidFill>
                <a:srgbClr val="C0392B"/>
              </a:solidFill>
              <a:effectLst/>
            </c:spPr>
            <c:extLst>
              <c:ext xmlns:c16="http://schemas.microsoft.com/office/drawing/2014/chart" uri="{C3380CC4-5D6E-409C-BE32-E72D297353CC}">
                <c16:uniqueId val="{00000007-6844-4E34-8BB6-2C05FB7ECEE0}"/>
              </c:ext>
            </c:extLst>
          </c:dPt>
          <c:dLbls>
            <c:numFmt formatCode="#,##0" sourceLinked="0"/>
            <c:spPr>
              <a:noFill/>
              <a:ln>
                <a:noFill/>
              </a:ln>
              <a:effectLst/>
            </c:spPr>
            <c:txPr>
              <a:bodyPr/>
              <a:lstStyle/>
              <a:p>
                <a:pPr>
                  <a:defRPr sz="1200" b="0" i="0" u="none" strike="noStrike">
                    <a:solidFill>
                      <a:srgbClr val="2E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Full Model
(POS+N-grams)</c:v>
                </c:pt>
                <c:pt idx="1">
                  <c:v>Base Only</c:v>
                </c:pt>
                <c:pt idx="2">
                  <c:v>Without POS</c:v>
                </c:pt>
                <c:pt idx="3">
                  <c:v>Without N-grams</c:v>
                </c:pt>
              </c:strCache>
            </c:strRef>
          </c:cat>
          <c:val>
            <c:numRef>
              <c:f>Sheet1!$B$2:$B$5</c:f>
              <c:numCache>
                <c:formatCode>General</c:formatCode>
                <c:ptCount val="4"/>
                <c:pt idx="0">
                  <c:v>0.96440000000000003</c:v>
                </c:pt>
                <c:pt idx="1">
                  <c:v>0.99750000000000005</c:v>
                </c:pt>
                <c:pt idx="2">
                  <c:v>0.99239999999999995</c:v>
                </c:pt>
                <c:pt idx="3">
                  <c:v>0.93130000000000002</c:v>
                </c:pt>
              </c:numCache>
            </c:numRef>
          </c:val>
          <c:extLst>
            <c:ext xmlns:c16="http://schemas.microsoft.com/office/drawing/2014/chart" uri="{C3380CC4-5D6E-409C-BE32-E72D297353CC}">
              <c16:uniqueId val="{00000008-6844-4E34-8BB6-2C05FB7ECEE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A7A8A"/>
                </a:solidFill>
                <a:latin typeface="Arial"/>
              </a:defRPr>
            </a:pPr>
            <a:endParaRPr lang="en-US"/>
          </a:p>
        </c:txPr>
        <c:crossAx val="2094734552"/>
        <c:crosses val="autoZero"/>
        <c:auto val="1"/>
        <c:lblAlgn val="ctr"/>
        <c:lblOffset val="100"/>
        <c:noMultiLvlLbl val="1"/>
      </c:catAx>
      <c:valAx>
        <c:axId val="2094734552"/>
        <c:scaling>
          <c:orientation val="minMax"/>
          <c:min val="0.9"/>
        </c:scaling>
        <c:delete val="0"/>
        <c:axPos val="l"/>
        <c:majorGridlines>
          <c:spPr>
            <a:ln w="6350" cap="flat">
              <a:solidFill>
                <a:srgbClr val="E8DDD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7A8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Accuracy</c:v>
                </c:pt>
              </c:strCache>
            </c:strRef>
          </c:tx>
          <c:spPr>
            <a:solidFill>
              <a:srgbClr val="C75B7A"/>
            </a:solidFill>
            <a:effectLst/>
          </c:spPr>
          <c:invertIfNegative val="0"/>
          <c:cat>
            <c:strRef>
              <c:f>Sheet1!$A$2:$A$9</c:f>
              <c:strCache>
                <c:ptCount val="8"/>
                <c:pt idx="0">
                  <c:v>convirtiéndose</c:v>
                </c:pt>
                <c:pt idx="1">
                  <c:v>dedicarse</c:v>
                </c:pt>
                <c:pt idx="2">
                  <c:v>mantenerse</c:v>
                </c:pt>
                <c:pt idx="3">
                  <c:v>vengarse</c:v>
                </c:pt>
                <c:pt idx="4">
                  <c:v>centrarse</c:v>
                </c:pt>
                <c:pt idx="5">
                  <c:v>celebrarse</c:v>
                </c:pt>
                <c:pt idx="6">
                  <c:v>conocerse</c:v>
                </c:pt>
                <c:pt idx="7">
                  <c:v>colocarlos</c:v>
                </c:pt>
              </c:strCache>
            </c:strRef>
          </c:cat>
          <c:val>
            <c:numRef>
              <c:f>Sheet1!$B$2:$B$9</c:f>
              <c:numCache>
                <c:formatCode>General</c:formatCode>
                <c:ptCount val="8"/>
                <c:pt idx="0">
                  <c:v>1</c:v>
                </c:pt>
                <c:pt idx="1">
                  <c:v>1</c:v>
                </c:pt>
                <c:pt idx="2">
                  <c:v>1</c:v>
                </c:pt>
                <c:pt idx="3">
                  <c:v>1</c:v>
                </c:pt>
                <c:pt idx="4">
                  <c:v>1</c:v>
                </c:pt>
                <c:pt idx="5">
                  <c:v>0</c:v>
                </c:pt>
                <c:pt idx="6">
                  <c:v>0</c:v>
                </c:pt>
                <c:pt idx="7">
                  <c:v>0</c:v>
                </c:pt>
              </c:numCache>
            </c:numRef>
          </c:val>
          <c:extLst>
            <c:ext xmlns:c16="http://schemas.microsoft.com/office/drawing/2014/chart" uri="{C3380CC4-5D6E-409C-BE32-E72D297353CC}">
              <c16:uniqueId val="{00000000-4A0F-4334-99DD-69DC4D0810B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8A7A8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8DDD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7A8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6310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942"/>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D4A03C"/>
          </a:solidFill>
          <a:ln/>
        </p:spPr>
      </p:sp>
      <p:sp>
        <p:nvSpPr>
          <p:cNvPr id="3" name="Shape 1"/>
          <p:cNvSpPr/>
          <p:nvPr/>
        </p:nvSpPr>
        <p:spPr>
          <a:xfrm>
            <a:off x="0" y="45720"/>
            <a:ext cx="91440" cy="5097780"/>
          </a:xfrm>
          <a:prstGeom prst="rect">
            <a:avLst/>
          </a:prstGeom>
          <a:solidFill>
            <a:srgbClr val="C75B7A"/>
          </a:solidFill>
          <a:ln/>
        </p:spPr>
      </p:sp>
      <p:sp>
        <p:nvSpPr>
          <p:cNvPr id="4" name="Text 2"/>
          <p:cNvSpPr/>
          <p:nvPr/>
        </p:nvSpPr>
        <p:spPr>
          <a:xfrm>
            <a:off x="822960" y="731520"/>
            <a:ext cx="7772400" cy="914400"/>
          </a:xfrm>
          <a:prstGeom prst="rect">
            <a:avLst/>
          </a:prstGeom>
          <a:noFill/>
          <a:ln/>
        </p:spPr>
        <p:txBody>
          <a:bodyPr wrap="square" lIns="0" tIns="0" rIns="0" bIns="0"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Clitic Segmentation</a:t>
            </a:r>
            <a:endParaRPr lang="en-US" sz="4400" dirty="0"/>
          </a:p>
        </p:txBody>
      </p:sp>
      <p:sp>
        <p:nvSpPr>
          <p:cNvPr id="5" name="Text 3"/>
          <p:cNvSpPr/>
          <p:nvPr/>
        </p:nvSpPr>
        <p:spPr>
          <a:xfrm>
            <a:off x="822960" y="1554480"/>
            <a:ext cx="7772400" cy="548640"/>
          </a:xfrm>
          <a:prstGeom prst="rect">
            <a:avLst/>
          </a:prstGeom>
          <a:noFill/>
          <a:ln/>
        </p:spPr>
        <p:txBody>
          <a:bodyPr wrap="square" lIns="0" tIns="0" rIns="0" bIns="0" rtlCol="0" anchor="ctr"/>
          <a:lstStyle/>
          <a:p>
            <a:pPr marL="0" indent="0">
              <a:buNone/>
            </a:pPr>
            <a:r>
              <a:rPr lang="en-US" sz="2800" i="1" dirty="0">
                <a:solidFill>
                  <a:srgbClr val="E89AAE"/>
                </a:solidFill>
                <a:latin typeface="Georgia" pitchFamily="34" charset="0"/>
                <a:ea typeface="Georgia" pitchFamily="34" charset="-122"/>
                <a:cs typeface="Georgia" pitchFamily="34" charset="-120"/>
              </a:rPr>
              <a:t>Using Character-Level BIO Tagging</a:t>
            </a:r>
            <a:endParaRPr lang="en-US" sz="2800" dirty="0"/>
          </a:p>
        </p:txBody>
      </p:sp>
      <p:sp>
        <p:nvSpPr>
          <p:cNvPr id="6" name="Text 4"/>
          <p:cNvSpPr/>
          <p:nvPr/>
        </p:nvSpPr>
        <p:spPr>
          <a:xfrm>
            <a:off x="822960" y="2286000"/>
            <a:ext cx="7772400" cy="320040"/>
          </a:xfrm>
          <a:prstGeom prst="rect">
            <a:avLst/>
          </a:prstGeom>
          <a:noFill/>
          <a:ln/>
        </p:spPr>
        <p:txBody>
          <a:bodyPr wrap="square" lIns="0" tIns="0" rIns="0" bIns="0" rtlCol="0" anchor="ctr"/>
          <a:lstStyle/>
          <a:p>
            <a:pPr marL="0" indent="0">
              <a:buNone/>
            </a:pPr>
            <a:r>
              <a:rPr lang="en-US" sz="1300" dirty="0">
                <a:solidFill>
                  <a:srgbClr val="8A7A8A"/>
                </a:solidFill>
                <a:latin typeface="Calibri" pitchFamily="34" charset="0"/>
                <a:ea typeface="Calibri" pitchFamily="34" charset="-122"/>
                <a:cs typeface="Calibri" pitchFamily="34" charset="-120"/>
              </a:rPr>
              <a:t>Morphological Analysis  •  Sequence Labeling  •  Cross-Lingual Evaluation</a:t>
            </a:r>
            <a:endParaRPr lang="en-US" sz="1300" dirty="0"/>
          </a:p>
        </p:txBody>
      </p:sp>
      <p:sp>
        <p:nvSpPr>
          <p:cNvPr id="7" name="Shape 5"/>
          <p:cNvSpPr/>
          <p:nvPr/>
        </p:nvSpPr>
        <p:spPr>
          <a:xfrm>
            <a:off x="822960" y="2880360"/>
            <a:ext cx="7498080" cy="594360"/>
          </a:xfrm>
          <a:prstGeom prst="rect">
            <a:avLst/>
          </a:prstGeom>
          <a:solidFill>
            <a:srgbClr val="6B3A6B"/>
          </a:solidFill>
          <a:ln/>
        </p:spPr>
      </p:sp>
      <p:sp>
        <p:nvSpPr>
          <p:cNvPr id="8" name="Text 6"/>
          <p:cNvSpPr/>
          <p:nvPr/>
        </p:nvSpPr>
        <p:spPr>
          <a:xfrm>
            <a:off x="1005840" y="2880360"/>
            <a:ext cx="7132320" cy="594360"/>
          </a:xfrm>
          <a:prstGeom prst="rect">
            <a:avLst/>
          </a:prstGeom>
          <a:noFill/>
          <a:ln/>
        </p:spPr>
        <p:txBody>
          <a:bodyPr wrap="square" lIns="0" tIns="0" rIns="0" bIns="0" rtlCol="0" anchor="ctr"/>
          <a:lstStyle/>
          <a:p>
            <a:pPr marL="0" indent="0">
              <a:buNone/>
            </a:pPr>
            <a:r>
              <a:rPr lang="en-US" sz="1600" b="1" dirty="0">
                <a:solidFill>
                  <a:srgbClr val="D4A03C"/>
                </a:solidFill>
                <a:latin typeface="Calibri" pitchFamily="34" charset="0"/>
                <a:ea typeface="Calibri" pitchFamily="34" charset="-122"/>
                <a:cs typeface="Calibri" pitchFamily="34" charset="-120"/>
              </a:rPr>
              <a:t>Spanish:  </a:t>
            </a:r>
            <a:r>
              <a:rPr lang="en-US" sz="1600" dirty="0">
                <a:solidFill>
                  <a:srgbClr val="FFFFFF"/>
                </a:solidFill>
                <a:latin typeface="Consolas" pitchFamily="34" charset="0"/>
                <a:ea typeface="Consolas" pitchFamily="34" charset="-122"/>
                <a:cs typeface="Consolas" pitchFamily="34" charset="-120"/>
              </a:rPr>
              <a:t>dámelo  →  da  me  lo</a:t>
            </a:r>
            <a:r>
              <a:rPr lang="en-US" sz="1200" i="1" dirty="0">
                <a:solidFill>
                  <a:srgbClr val="8A7A8A"/>
                </a:solidFill>
                <a:latin typeface="Calibri" pitchFamily="34" charset="0"/>
                <a:ea typeface="Calibri" pitchFamily="34" charset="-122"/>
                <a:cs typeface="Calibri" pitchFamily="34" charset="-120"/>
              </a:rPr>
              <a:t>     (give-me-it → give  me  it)</a:t>
            </a:r>
            <a:endParaRPr lang="en-US" sz="1600" dirty="0"/>
          </a:p>
        </p:txBody>
      </p:sp>
      <p:sp>
        <p:nvSpPr>
          <p:cNvPr id="9" name="Shape 7"/>
          <p:cNvSpPr/>
          <p:nvPr/>
        </p:nvSpPr>
        <p:spPr>
          <a:xfrm>
            <a:off x="822960" y="3749040"/>
            <a:ext cx="1783080" cy="914400"/>
          </a:xfrm>
          <a:prstGeom prst="rect">
            <a:avLst/>
          </a:prstGeom>
          <a:solidFill>
            <a:srgbClr val="6B3A6B"/>
          </a:solidFill>
          <a:ln/>
        </p:spPr>
      </p:sp>
      <p:sp>
        <p:nvSpPr>
          <p:cNvPr id="10" name="Text 8"/>
          <p:cNvSpPr/>
          <p:nvPr/>
        </p:nvSpPr>
        <p:spPr>
          <a:xfrm>
            <a:off x="822960" y="3767328"/>
            <a:ext cx="1783080" cy="457200"/>
          </a:xfrm>
          <a:prstGeom prst="rect">
            <a:avLst/>
          </a:prstGeom>
          <a:noFill/>
          <a:ln/>
        </p:spPr>
        <p:txBody>
          <a:bodyPr wrap="square" lIns="0" tIns="0" rIns="0" bIns="0" rtlCol="0" anchor="ctr"/>
          <a:lstStyle/>
          <a:p>
            <a:pPr marL="0" indent="0" algn="ctr">
              <a:buNone/>
            </a:pPr>
            <a:r>
              <a:rPr lang="en-US" sz="2200" b="1" dirty="0">
                <a:solidFill>
                  <a:srgbClr val="D4A03C"/>
                </a:solidFill>
                <a:latin typeface="Georgia" pitchFamily="34" charset="0"/>
                <a:ea typeface="Georgia" pitchFamily="34" charset="-122"/>
                <a:cs typeface="Georgia" pitchFamily="34" charset="-120"/>
              </a:rPr>
              <a:t>0.9644</a:t>
            </a:r>
            <a:endParaRPr lang="en-US" sz="2200" dirty="0"/>
          </a:p>
        </p:txBody>
      </p:sp>
      <p:sp>
        <p:nvSpPr>
          <p:cNvPr id="11" name="Text 9"/>
          <p:cNvSpPr/>
          <p:nvPr/>
        </p:nvSpPr>
        <p:spPr>
          <a:xfrm>
            <a:off x="822960" y="4206240"/>
            <a:ext cx="1783080" cy="411480"/>
          </a:xfrm>
          <a:prstGeom prst="rect">
            <a:avLst/>
          </a:prstGeom>
          <a:noFill/>
          <a:ln/>
        </p:spPr>
        <p:txBody>
          <a:bodyPr wrap="square" lIns="0" tIns="0" rIns="0" bIns="0" rtlCol="0" anchor="t"/>
          <a:lstStyle/>
          <a:p>
            <a:pPr marL="0" indent="0" algn="ctr">
              <a:buNone/>
            </a:pPr>
            <a:r>
              <a:rPr lang="en-US" sz="900" dirty="0">
                <a:solidFill>
                  <a:srgbClr val="8A7A8A"/>
                </a:solidFill>
                <a:latin typeface="Calibri" pitchFamily="34" charset="0"/>
                <a:ea typeface="Calibri" pitchFamily="34" charset="-122"/>
                <a:cs typeface="Calibri" pitchFamily="34" charset="-120"/>
              </a:rPr>
              <a:t>Boundary F1</a:t>
            </a:r>
            <a:endParaRPr lang="en-US" sz="900" dirty="0"/>
          </a:p>
          <a:p>
            <a:pPr marL="0" indent="0" algn="ctr">
              <a:buNone/>
            </a:pPr>
            <a:r>
              <a:rPr lang="en-US" sz="900" dirty="0">
                <a:solidFill>
                  <a:srgbClr val="8A7A8A"/>
                </a:solidFill>
                <a:latin typeface="Calibri" pitchFamily="34" charset="0"/>
                <a:ea typeface="Calibri" pitchFamily="34" charset="-122"/>
                <a:cs typeface="Calibri" pitchFamily="34" charset="-120"/>
              </a:rPr>
              <a:t>(Spanish)</a:t>
            </a:r>
            <a:endParaRPr lang="en-US" sz="900" dirty="0"/>
          </a:p>
        </p:txBody>
      </p:sp>
      <p:sp>
        <p:nvSpPr>
          <p:cNvPr id="12" name="Shape 10"/>
          <p:cNvSpPr/>
          <p:nvPr/>
        </p:nvSpPr>
        <p:spPr>
          <a:xfrm>
            <a:off x="2834640" y="3749040"/>
            <a:ext cx="1783080" cy="914400"/>
          </a:xfrm>
          <a:prstGeom prst="rect">
            <a:avLst/>
          </a:prstGeom>
          <a:solidFill>
            <a:srgbClr val="6B3A6B"/>
          </a:solidFill>
          <a:ln/>
        </p:spPr>
      </p:sp>
      <p:sp>
        <p:nvSpPr>
          <p:cNvPr id="13" name="Text 11"/>
          <p:cNvSpPr/>
          <p:nvPr/>
        </p:nvSpPr>
        <p:spPr>
          <a:xfrm>
            <a:off x="2834640" y="3767328"/>
            <a:ext cx="1783080" cy="457200"/>
          </a:xfrm>
          <a:prstGeom prst="rect">
            <a:avLst/>
          </a:prstGeom>
          <a:noFill/>
          <a:ln/>
        </p:spPr>
        <p:txBody>
          <a:bodyPr wrap="square" lIns="0" tIns="0" rIns="0" bIns="0" rtlCol="0" anchor="ctr"/>
          <a:lstStyle/>
          <a:p>
            <a:pPr marL="0" indent="0" algn="ctr">
              <a:buNone/>
            </a:pPr>
            <a:r>
              <a:rPr lang="en-US" sz="2200" b="1" dirty="0">
                <a:solidFill>
                  <a:srgbClr val="D4A03C"/>
                </a:solidFill>
                <a:latin typeface="Georgia" pitchFamily="34" charset="0"/>
                <a:ea typeface="Georgia" pitchFamily="34" charset="-122"/>
                <a:cs typeface="Georgia" pitchFamily="34" charset="-120"/>
              </a:rPr>
              <a:t>0.7024</a:t>
            </a:r>
            <a:endParaRPr lang="en-US" sz="2200" dirty="0"/>
          </a:p>
        </p:txBody>
      </p:sp>
      <p:sp>
        <p:nvSpPr>
          <p:cNvPr id="14" name="Text 12"/>
          <p:cNvSpPr/>
          <p:nvPr/>
        </p:nvSpPr>
        <p:spPr>
          <a:xfrm>
            <a:off x="2834640" y="4206240"/>
            <a:ext cx="1783080" cy="411480"/>
          </a:xfrm>
          <a:prstGeom prst="rect">
            <a:avLst/>
          </a:prstGeom>
          <a:noFill/>
          <a:ln/>
        </p:spPr>
        <p:txBody>
          <a:bodyPr wrap="square" lIns="0" tIns="0" rIns="0" bIns="0" rtlCol="0" anchor="t"/>
          <a:lstStyle/>
          <a:p>
            <a:pPr marL="0" indent="0" algn="ctr">
              <a:buNone/>
            </a:pPr>
            <a:r>
              <a:rPr lang="en-US" sz="900" dirty="0">
                <a:solidFill>
                  <a:srgbClr val="8A7A8A"/>
                </a:solidFill>
                <a:latin typeface="Calibri" pitchFamily="34" charset="0"/>
                <a:ea typeface="Calibri" pitchFamily="34" charset="-122"/>
                <a:cs typeface="Calibri" pitchFamily="34" charset="-120"/>
              </a:rPr>
              <a:t>Cross-Lingual F1</a:t>
            </a:r>
            <a:endParaRPr lang="en-US" sz="900" dirty="0"/>
          </a:p>
          <a:p>
            <a:pPr marL="0" indent="0" algn="ctr">
              <a:buNone/>
            </a:pPr>
            <a:r>
              <a:rPr lang="en-US" sz="900" dirty="0">
                <a:solidFill>
                  <a:srgbClr val="8A7A8A"/>
                </a:solidFill>
                <a:latin typeface="Calibri" pitchFamily="34" charset="0"/>
                <a:ea typeface="Calibri" pitchFamily="34" charset="-122"/>
                <a:cs typeface="Calibri" pitchFamily="34" charset="-120"/>
              </a:rPr>
              <a:t>(Spanish→Italian)</a:t>
            </a:r>
            <a:endParaRPr lang="en-US" sz="900" dirty="0"/>
          </a:p>
        </p:txBody>
      </p:sp>
      <p:sp>
        <p:nvSpPr>
          <p:cNvPr id="15" name="Shape 13"/>
          <p:cNvSpPr/>
          <p:nvPr/>
        </p:nvSpPr>
        <p:spPr>
          <a:xfrm>
            <a:off x="4846320" y="3749040"/>
            <a:ext cx="1783080" cy="914400"/>
          </a:xfrm>
          <a:prstGeom prst="rect">
            <a:avLst/>
          </a:prstGeom>
          <a:solidFill>
            <a:srgbClr val="6B3A6B"/>
          </a:solidFill>
          <a:ln/>
        </p:spPr>
      </p:sp>
      <p:sp>
        <p:nvSpPr>
          <p:cNvPr id="16" name="Text 14"/>
          <p:cNvSpPr/>
          <p:nvPr/>
        </p:nvSpPr>
        <p:spPr>
          <a:xfrm>
            <a:off x="4846320" y="3767328"/>
            <a:ext cx="1783080" cy="457200"/>
          </a:xfrm>
          <a:prstGeom prst="rect">
            <a:avLst/>
          </a:prstGeom>
          <a:noFill/>
          <a:ln/>
        </p:spPr>
        <p:txBody>
          <a:bodyPr wrap="square" lIns="0" tIns="0" rIns="0" bIns="0" rtlCol="0" anchor="ctr"/>
          <a:lstStyle/>
          <a:p>
            <a:pPr marL="0" indent="0" algn="ctr">
              <a:buNone/>
            </a:pPr>
            <a:r>
              <a:rPr lang="en-US" sz="2200" b="1" dirty="0">
                <a:solidFill>
                  <a:srgbClr val="D4A03C"/>
                </a:solidFill>
                <a:latin typeface="Georgia" pitchFamily="34" charset="0"/>
                <a:ea typeface="Georgia" pitchFamily="34" charset="-122"/>
                <a:cs typeface="Georgia" pitchFamily="34" charset="-120"/>
              </a:rPr>
              <a:t>BIO</a:t>
            </a:r>
            <a:endParaRPr lang="en-US" sz="2200" dirty="0"/>
          </a:p>
        </p:txBody>
      </p:sp>
      <p:sp>
        <p:nvSpPr>
          <p:cNvPr id="17" name="Text 15"/>
          <p:cNvSpPr/>
          <p:nvPr/>
        </p:nvSpPr>
        <p:spPr>
          <a:xfrm>
            <a:off x="4846320" y="4206240"/>
            <a:ext cx="1783080" cy="411480"/>
          </a:xfrm>
          <a:prstGeom prst="rect">
            <a:avLst/>
          </a:prstGeom>
          <a:noFill/>
          <a:ln/>
        </p:spPr>
        <p:txBody>
          <a:bodyPr wrap="square" lIns="0" tIns="0" rIns="0" bIns="0" rtlCol="0" anchor="t"/>
          <a:lstStyle/>
          <a:p>
            <a:pPr marL="0" indent="0" algn="ctr">
              <a:buNone/>
            </a:pPr>
            <a:r>
              <a:rPr lang="en-US" sz="900" dirty="0">
                <a:solidFill>
                  <a:srgbClr val="8A7A8A"/>
                </a:solidFill>
                <a:latin typeface="Calibri" pitchFamily="34" charset="0"/>
                <a:ea typeface="Calibri" pitchFamily="34" charset="-122"/>
                <a:cs typeface="Calibri" pitchFamily="34" charset="-120"/>
              </a:rPr>
              <a:t>Character-Level</a:t>
            </a:r>
            <a:endParaRPr lang="en-US" sz="900" dirty="0"/>
          </a:p>
          <a:p>
            <a:pPr marL="0" indent="0" algn="ctr">
              <a:buNone/>
            </a:pPr>
            <a:r>
              <a:rPr lang="en-US" sz="900" dirty="0">
                <a:solidFill>
                  <a:srgbClr val="8A7A8A"/>
                </a:solidFill>
                <a:latin typeface="Calibri" pitchFamily="34" charset="0"/>
                <a:ea typeface="Calibri" pitchFamily="34" charset="-122"/>
                <a:cs typeface="Calibri" pitchFamily="34" charset="-120"/>
              </a:rPr>
              <a:t>Tagging Scheme</a:t>
            </a:r>
            <a:endParaRPr lang="en-US" sz="900" dirty="0"/>
          </a:p>
        </p:txBody>
      </p:sp>
      <p:sp>
        <p:nvSpPr>
          <p:cNvPr id="18" name="Shape 16"/>
          <p:cNvSpPr/>
          <p:nvPr/>
        </p:nvSpPr>
        <p:spPr>
          <a:xfrm>
            <a:off x="6858000" y="3749040"/>
            <a:ext cx="1783080" cy="914400"/>
          </a:xfrm>
          <a:prstGeom prst="rect">
            <a:avLst/>
          </a:prstGeom>
          <a:solidFill>
            <a:srgbClr val="6B3A6B"/>
          </a:solidFill>
          <a:ln/>
        </p:spPr>
      </p:sp>
      <p:sp>
        <p:nvSpPr>
          <p:cNvPr id="19" name="Text 17"/>
          <p:cNvSpPr/>
          <p:nvPr/>
        </p:nvSpPr>
        <p:spPr>
          <a:xfrm>
            <a:off x="6858000" y="3767328"/>
            <a:ext cx="1783080" cy="457200"/>
          </a:xfrm>
          <a:prstGeom prst="rect">
            <a:avLst/>
          </a:prstGeom>
          <a:noFill/>
          <a:ln/>
        </p:spPr>
        <p:txBody>
          <a:bodyPr wrap="square" lIns="0" tIns="0" rIns="0" bIns="0" rtlCol="0" anchor="ctr"/>
          <a:lstStyle/>
          <a:p>
            <a:pPr marL="0" indent="0" algn="ctr">
              <a:buNone/>
            </a:pPr>
            <a:r>
              <a:rPr lang="en-US" sz="2200" b="1" dirty="0">
                <a:solidFill>
                  <a:srgbClr val="D4A03C"/>
                </a:solidFill>
                <a:latin typeface="Georgia" pitchFamily="34" charset="0"/>
                <a:ea typeface="Georgia" pitchFamily="34" charset="-122"/>
                <a:cs typeface="Georgia" pitchFamily="34" charset="-120"/>
              </a:rPr>
              <a:t>UD</a:t>
            </a:r>
            <a:endParaRPr lang="en-US" sz="2200" dirty="0"/>
          </a:p>
        </p:txBody>
      </p:sp>
      <p:sp>
        <p:nvSpPr>
          <p:cNvPr id="20" name="Text 18"/>
          <p:cNvSpPr/>
          <p:nvPr/>
        </p:nvSpPr>
        <p:spPr>
          <a:xfrm>
            <a:off x="6858000" y="4206240"/>
            <a:ext cx="1783080" cy="411480"/>
          </a:xfrm>
          <a:prstGeom prst="rect">
            <a:avLst/>
          </a:prstGeom>
          <a:noFill/>
          <a:ln/>
        </p:spPr>
        <p:txBody>
          <a:bodyPr wrap="square" lIns="0" tIns="0" rIns="0" bIns="0" rtlCol="0" anchor="t"/>
          <a:lstStyle/>
          <a:p>
            <a:pPr marL="0" indent="0" algn="ctr">
              <a:buNone/>
            </a:pPr>
            <a:r>
              <a:rPr lang="en-US" sz="900" dirty="0">
                <a:solidFill>
                  <a:srgbClr val="8A7A8A"/>
                </a:solidFill>
                <a:latin typeface="Calibri" pitchFamily="34" charset="0"/>
                <a:ea typeface="Calibri" pitchFamily="34" charset="-122"/>
                <a:cs typeface="Calibri" pitchFamily="34" charset="-120"/>
              </a:rPr>
              <a:t>Universal</a:t>
            </a:r>
            <a:endParaRPr lang="en-US" sz="900" dirty="0"/>
          </a:p>
          <a:p>
            <a:pPr marL="0" indent="0" algn="ctr">
              <a:buNone/>
            </a:pPr>
            <a:r>
              <a:rPr lang="en-US" sz="900" dirty="0">
                <a:solidFill>
                  <a:srgbClr val="8A7A8A"/>
                </a:solidFill>
                <a:latin typeface="Calibri" pitchFamily="34" charset="0"/>
                <a:ea typeface="Calibri" pitchFamily="34" charset="-122"/>
                <a:cs typeface="Calibri" pitchFamily="34" charset="-120"/>
              </a:rPr>
              <a:t>Dependencies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75B7A"/>
          </a:solidFill>
          <a:ln/>
        </p:spPr>
      </p:sp>
      <p:pic>
        <p:nvPicPr>
          <p:cNvPr id="3" name="Image 0" descr="preencoded.png"/>
          <p:cNvPicPr>
            <a:picLocks noChangeAspect="1"/>
          </p:cNvPicPr>
          <p:nvPr/>
        </p:nvPicPr>
        <p:blipFill>
          <a:blip r:embed="rId3"/>
          <a:stretch>
            <a:fillRect/>
          </a:stretch>
        </p:blipFill>
        <p:spPr>
          <a:xfrm>
            <a:off x="731520" y="274320"/>
            <a:ext cx="320040" cy="320040"/>
          </a:xfrm>
          <a:prstGeom prst="rect">
            <a:avLst/>
          </a:prstGeom>
        </p:spPr>
      </p:pic>
      <p:sp>
        <p:nvSpPr>
          <p:cNvPr id="4" name="Text 1"/>
          <p:cNvSpPr/>
          <p:nvPr/>
        </p:nvSpPr>
        <p:spPr>
          <a:xfrm>
            <a:off x="1143000" y="228600"/>
            <a:ext cx="7498080" cy="411480"/>
          </a:xfrm>
          <a:prstGeom prst="rect">
            <a:avLst/>
          </a:prstGeom>
          <a:noFill/>
          <a:ln/>
        </p:spPr>
        <p:txBody>
          <a:bodyPr wrap="square" lIns="0" tIns="0" rIns="0" bIns="0" rtlCol="0" anchor="ctr"/>
          <a:lstStyle/>
          <a:p>
            <a:pPr marL="0" indent="0">
              <a:buNone/>
            </a:pPr>
            <a:r>
              <a:rPr lang="en-US" sz="2500" b="1" dirty="0">
                <a:solidFill>
                  <a:srgbClr val="2E1A2E"/>
                </a:solidFill>
                <a:latin typeface="Georgia" pitchFamily="34" charset="0"/>
                <a:ea typeface="Georgia" pitchFamily="34" charset="-122"/>
                <a:cs typeface="Georgia" pitchFamily="34" charset="-120"/>
              </a:rPr>
              <a:t>Introduction — What is Clitic Segmentation?</a:t>
            </a:r>
            <a:endParaRPr lang="en-US" sz="2500" dirty="0"/>
          </a:p>
        </p:txBody>
      </p:sp>
      <p:sp>
        <p:nvSpPr>
          <p:cNvPr id="5" name="Shape 2"/>
          <p:cNvSpPr/>
          <p:nvPr/>
        </p:nvSpPr>
        <p:spPr>
          <a:xfrm>
            <a:off x="731520" y="777240"/>
            <a:ext cx="7680960" cy="1097280"/>
          </a:xfrm>
          <a:prstGeom prst="rect">
            <a:avLst/>
          </a:prstGeom>
          <a:solidFill>
            <a:srgbClr val="FFFFFF"/>
          </a:solidFill>
          <a:ln/>
          <a:effectLst>
            <a:outerShdw blurRad="50800" dist="25400" dir="8100000" algn="bl" rotWithShape="0">
              <a:srgbClr val="000000">
                <a:alpha val="8000"/>
              </a:srgbClr>
            </a:outerShdw>
          </a:effectLst>
        </p:spPr>
      </p:sp>
      <p:sp>
        <p:nvSpPr>
          <p:cNvPr id="6" name="Text 3"/>
          <p:cNvSpPr/>
          <p:nvPr/>
        </p:nvSpPr>
        <p:spPr>
          <a:xfrm>
            <a:off x="914400" y="841248"/>
            <a:ext cx="7315200" cy="960120"/>
          </a:xfrm>
          <a:prstGeom prst="rect">
            <a:avLst/>
          </a:prstGeom>
          <a:noFill/>
          <a:ln/>
        </p:spPr>
        <p:txBody>
          <a:bodyPr wrap="square" lIns="0" tIns="0" rIns="0" bIns="0" rtlCol="0" anchor="ctr"/>
          <a:lstStyle/>
          <a:p>
            <a:pPr marL="0" indent="0">
              <a:buNone/>
            </a:pPr>
            <a:r>
              <a:rPr lang="en-US" sz="1150" dirty="0">
                <a:solidFill>
                  <a:srgbClr val="4A3A4A"/>
                </a:solidFill>
                <a:latin typeface="Calibri" pitchFamily="34" charset="0"/>
                <a:ea typeface="Calibri" pitchFamily="34" charset="-122"/>
                <a:cs typeface="Calibri" pitchFamily="34" charset="-120"/>
              </a:rPr>
              <a:t>Clitic segmentation is a subtask of morphological analysis where tokens containing multiple morphemes (e.g., clitics attached to words) must be split into their constituent parts. This is critical for morphologically rich languages like Spanish and Italian, where a single surface token encodes multiple syntactic words.</a:t>
            </a:r>
            <a:endParaRPr lang="en-US" sz="1150" dirty="0"/>
          </a:p>
          <a:p>
            <a:pPr marL="0" indent="0">
              <a:buNone/>
            </a:pPr>
            <a:endParaRPr lang="en-US" sz="1150" dirty="0"/>
          </a:p>
          <a:p>
            <a:pPr marL="0" indent="0">
              <a:buNone/>
            </a:pPr>
            <a:r>
              <a:rPr lang="en-US" sz="1150" dirty="0">
                <a:solidFill>
                  <a:srgbClr val="4A3A4A"/>
                </a:solidFill>
                <a:latin typeface="Calibri" pitchFamily="34" charset="0"/>
                <a:ea typeface="Calibri" pitchFamily="34" charset="-122"/>
                <a:cs typeface="Calibri" pitchFamily="34" charset="-120"/>
              </a:rPr>
              <a:t>In this project, the task is modeled as a character-level sequence labeling problem, where each character is assigned a B (beginning), I (inside), or O (outside) label to mark clitic boundaries.</a:t>
            </a:r>
            <a:endParaRPr lang="en-US" sz="1150" dirty="0"/>
          </a:p>
        </p:txBody>
      </p:sp>
      <p:sp>
        <p:nvSpPr>
          <p:cNvPr id="7" name="Text 4"/>
          <p:cNvSpPr/>
          <p:nvPr/>
        </p:nvSpPr>
        <p:spPr>
          <a:xfrm>
            <a:off x="731520" y="2057400"/>
            <a:ext cx="3657600" cy="274320"/>
          </a:xfrm>
          <a:prstGeom prst="rect">
            <a:avLst/>
          </a:prstGeom>
          <a:noFill/>
          <a:ln/>
        </p:spPr>
        <p:txBody>
          <a:bodyPr wrap="square" lIns="0" tIns="0" rIns="0" bIns="0" rtlCol="0" anchor="ctr"/>
          <a:lstStyle/>
          <a:p>
            <a:pPr marL="0" indent="0">
              <a:buNone/>
            </a:pPr>
            <a:r>
              <a:rPr lang="en-US" sz="1500" b="1" dirty="0">
                <a:solidFill>
                  <a:srgbClr val="2E1A2E"/>
                </a:solidFill>
                <a:latin typeface="Calibri" pitchFamily="34" charset="0"/>
                <a:ea typeface="Calibri" pitchFamily="34" charset="-122"/>
                <a:cs typeface="Calibri" pitchFamily="34" charset="-120"/>
              </a:rPr>
              <a:t>What Are Clitics?</a:t>
            </a:r>
            <a:endParaRPr lang="en-US" sz="1500" dirty="0"/>
          </a:p>
        </p:txBody>
      </p:sp>
      <p:sp>
        <p:nvSpPr>
          <p:cNvPr id="8" name="Shape 5"/>
          <p:cNvSpPr/>
          <p:nvPr/>
        </p:nvSpPr>
        <p:spPr>
          <a:xfrm>
            <a:off x="731520" y="2377440"/>
            <a:ext cx="3840480" cy="1371600"/>
          </a:xfrm>
          <a:prstGeom prst="rect">
            <a:avLst/>
          </a:prstGeom>
          <a:solidFill>
            <a:srgbClr val="FFFFFF"/>
          </a:solidFill>
          <a:ln/>
          <a:effectLst>
            <a:outerShdw blurRad="50800" dist="25400" dir="8100000" algn="bl" rotWithShape="0">
              <a:srgbClr val="000000">
                <a:alpha val="8000"/>
              </a:srgbClr>
            </a:outerShdw>
          </a:effectLst>
        </p:spPr>
      </p:sp>
      <p:sp>
        <p:nvSpPr>
          <p:cNvPr id="9" name="Text 6"/>
          <p:cNvSpPr/>
          <p:nvPr/>
        </p:nvSpPr>
        <p:spPr>
          <a:xfrm>
            <a:off x="868680" y="2423160"/>
            <a:ext cx="3566160" cy="1280160"/>
          </a:xfrm>
          <a:prstGeom prst="rect">
            <a:avLst/>
          </a:prstGeom>
          <a:noFill/>
          <a:ln/>
        </p:spPr>
        <p:txBody>
          <a:bodyPr wrap="square" lIns="0" tIns="0" rIns="0" bIns="0" rtlCol="0" anchor="ctr"/>
          <a:lstStyle/>
          <a:p>
            <a:pPr marL="0" indent="0">
              <a:buNone/>
            </a:pPr>
            <a:r>
              <a:rPr lang="en-US" sz="1050" dirty="0">
                <a:solidFill>
                  <a:srgbClr val="4A3A4A"/>
                </a:solidFill>
                <a:latin typeface="Calibri" pitchFamily="34" charset="0"/>
                <a:ea typeface="Calibri" pitchFamily="34" charset="-122"/>
                <a:cs typeface="Calibri" pitchFamily="34" charset="-120"/>
              </a:rPr>
              <a:t>Clitics are short, unstressed words that attach to a host word and cannot stand alone. In Romance languages, pronoun clitics attach to verbs:</a:t>
            </a:r>
            <a:endParaRPr lang="en-US" sz="1050" dirty="0"/>
          </a:p>
          <a:p>
            <a:pPr marL="0" indent="0">
              <a:buNone/>
            </a:pPr>
            <a:endParaRPr lang="en-US" sz="1050" dirty="0"/>
          </a:p>
          <a:p>
            <a:pPr marL="0" indent="0">
              <a:buNone/>
            </a:pPr>
            <a:r>
              <a:rPr lang="en-US" sz="1050" dirty="0">
                <a:solidFill>
                  <a:srgbClr val="4A3A4A"/>
                </a:solidFill>
                <a:latin typeface="Calibri" pitchFamily="34" charset="0"/>
                <a:ea typeface="Calibri" pitchFamily="34" charset="-122"/>
                <a:cs typeface="Calibri" pitchFamily="34" charset="-120"/>
              </a:rPr>
              <a:t>• Spanish: dámelo → da + me + lo (give + me + it)</a:t>
            </a:r>
            <a:endParaRPr lang="en-US" sz="1050" dirty="0"/>
          </a:p>
          <a:p>
            <a:pPr marL="0" indent="0">
              <a:buNone/>
            </a:pPr>
            <a:r>
              <a:rPr lang="en-US" sz="1050" dirty="0">
                <a:solidFill>
                  <a:srgbClr val="4A3A4A"/>
                </a:solidFill>
                <a:latin typeface="Calibri" pitchFamily="34" charset="0"/>
                <a:ea typeface="Calibri" pitchFamily="34" charset="-122"/>
                <a:cs typeface="Calibri" pitchFamily="34" charset="-120"/>
              </a:rPr>
              <a:t>• Spanish: diciéndole → diciendo + le (telling + him)</a:t>
            </a:r>
            <a:endParaRPr lang="en-US" sz="1050" dirty="0"/>
          </a:p>
          <a:p>
            <a:pPr marL="0" indent="0">
              <a:buNone/>
            </a:pPr>
            <a:r>
              <a:rPr lang="en-US" sz="1050" dirty="0">
                <a:solidFill>
                  <a:srgbClr val="4A3A4A"/>
                </a:solidFill>
                <a:latin typeface="Calibri" pitchFamily="34" charset="0"/>
                <a:ea typeface="Calibri" pitchFamily="34" charset="-122"/>
                <a:cs typeface="Calibri" pitchFamily="34" charset="-120"/>
              </a:rPr>
              <a:t>• Italian: dimmelo → di + mme + lo (tell + me + it)</a:t>
            </a:r>
            <a:endParaRPr lang="en-US" sz="1050" dirty="0"/>
          </a:p>
          <a:p>
            <a:pPr marL="0" indent="0">
              <a:buNone/>
            </a:pPr>
            <a:endParaRPr lang="en-US" sz="1050" dirty="0"/>
          </a:p>
          <a:p>
            <a:pPr marL="0" indent="0">
              <a:buNone/>
            </a:pPr>
            <a:r>
              <a:rPr lang="en-US" sz="1050" dirty="0">
                <a:solidFill>
                  <a:srgbClr val="4A3A4A"/>
                </a:solidFill>
                <a:latin typeface="Calibri" pitchFamily="34" charset="0"/>
                <a:ea typeface="Calibri" pitchFamily="34" charset="-122"/>
                <a:cs typeface="Calibri" pitchFamily="34" charset="-120"/>
              </a:rPr>
              <a:t>Search engines and NLP parsers need these split to work correctly.</a:t>
            </a:r>
            <a:endParaRPr lang="en-US" sz="1050" dirty="0"/>
          </a:p>
        </p:txBody>
      </p:sp>
      <p:sp>
        <p:nvSpPr>
          <p:cNvPr id="10" name="Text 7"/>
          <p:cNvSpPr/>
          <p:nvPr/>
        </p:nvSpPr>
        <p:spPr>
          <a:xfrm>
            <a:off x="4937760" y="2057400"/>
            <a:ext cx="3657600" cy="274320"/>
          </a:xfrm>
          <a:prstGeom prst="rect">
            <a:avLst/>
          </a:prstGeom>
          <a:noFill/>
          <a:ln/>
        </p:spPr>
        <p:txBody>
          <a:bodyPr wrap="square" lIns="0" tIns="0" rIns="0" bIns="0" rtlCol="0" anchor="ctr"/>
          <a:lstStyle/>
          <a:p>
            <a:pPr marL="0" indent="0">
              <a:buNone/>
            </a:pPr>
            <a:r>
              <a:rPr lang="en-US" sz="1500" b="1" dirty="0">
                <a:solidFill>
                  <a:srgbClr val="2E1A2E"/>
                </a:solidFill>
                <a:latin typeface="Calibri" pitchFamily="34" charset="0"/>
                <a:ea typeface="Calibri" pitchFamily="34" charset="-122"/>
                <a:cs typeface="Calibri" pitchFamily="34" charset="-120"/>
              </a:rPr>
              <a:t>Why It Matters</a:t>
            </a:r>
            <a:endParaRPr lang="en-US" sz="1500" dirty="0"/>
          </a:p>
        </p:txBody>
      </p:sp>
      <p:sp>
        <p:nvSpPr>
          <p:cNvPr id="11" name="Shape 8"/>
          <p:cNvSpPr/>
          <p:nvPr/>
        </p:nvSpPr>
        <p:spPr>
          <a:xfrm>
            <a:off x="4937760" y="2377440"/>
            <a:ext cx="3566160" cy="292608"/>
          </a:xfrm>
          <a:prstGeom prst="rect">
            <a:avLst/>
          </a:prstGeom>
          <a:solidFill>
            <a:srgbClr val="FFFFFF"/>
          </a:solidFill>
          <a:ln/>
          <a:effectLst>
            <a:outerShdw blurRad="50800" dist="25400" dir="8100000" algn="bl" rotWithShape="0">
              <a:srgbClr val="000000">
                <a:alpha val="8000"/>
              </a:srgbClr>
            </a:outerShdw>
          </a:effectLst>
        </p:spPr>
      </p:sp>
      <p:sp>
        <p:nvSpPr>
          <p:cNvPr id="12" name="Shape 9"/>
          <p:cNvSpPr/>
          <p:nvPr/>
        </p:nvSpPr>
        <p:spPr>
          <a:xfrm>
            <a:off x="4937760" y="2377440"/>
            <a:ext cx="54864" cy="292608"/>
          </a:xfrm>
          <a:prstGeom prst="rect">
            <a:avLst/>
          </a:prstGeom>
          <a:solidFill>
            <a:srgbClr val="C75B7A"/>
          </a:solidFill>
          <a:ln/>
        </p:spPr>
      </p:sp>
      <p:sp>
        <p:nvSpPr>
          <p:cNvPr id="13" name="Text 10"/>
          <p:cNvSpPr/>
          <p:nvPr/>
        </p:nvSpPr>
        <p:spPr>
          <a:xfrm>
            <a:off x="5074920" y="2404872"/>
            <a:ext cx="1280160" cy="237744"/>
          </a:xfrm>
          <a:prstGeom prst="rect">
            <a:avLst/>
          </a:prstGeom>
          <a:noFill/>
          <a:ln/>
        </p:spPr>
        <p:txBody>
          <a:bodyPr wrap="square" lIns="0" tIns="0" rIns="0" bIns="0" rtlCol="0" anchor="ctr"/>
          <a:lstStyle/>
          <a:p>
            <a:pPr marL="0" indent="0">
              <a:buNone/>
            </a:pPr>
            <a:r>
              <a:rPr lang="en-US" sz="1000" b="1" dirty="0">
                <a:solidFill>
                  <a:srgbClr val="2E1A2E"/>
                </a:solidFill>
                <a:latin typeface="Calibri" pitchFamily="34" charset="0"/>
                <a:ea typeface="Calibri" pitchFamily="34" charset="-122"/>
                <a:cs typeface="Calibri" pitchFamily="34" charset="-120"/>
              </a:rPr>
              <a:t>Syntactic Parsing</a:t>
            </a:r>
            <a:endParaRPr lang="en-US" sz="1000" dirty="0"/>
          </a:p>
        </p:txBody>
      </p:sp>
      <p:sp>
        <p:nvSpPr>
          <p:cNvPr id="14" name="Text 11"/>
          <p:cNvSpPr/>
          <p:nvPr/>
        </p:nvSpPr>
        <p:spPr>
          <a:xfrm>
            <a:off x="6400800" y="2404872"/>
            <a:ext cx="2011680" cy="237744"/>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Parsers need individual words, not fused tokens</a:t>
            </a:r>
            <a:endParaRPr lang="en-US" sz="950" dirty="0"/>
          </a:p>
        </p:txBody>
      </p:sp>
      <p:sp>
        <p:nvSpPr>
          <p:cNvPr id="15" name="Shape 12"/>
          <p:cNvSpPr/>
          <p:nvPr/>
        </p:nvSpPr>
        <p:spPr>
          <a:xfrm>
            <a:off x="4937760" y="2724912"/>
            <a:ext cx="3566160" cy="292608"/>
          </a:xfrm>
          <a:prstGeom prst="rect">
            <a:avLst/>
          </a:prstGeom>
          <a:solidFill>
            <a:srgbClr val="FFFFFF"/>
          </a:solidFill>
          <a:ln/>
          <a:effectLst>
            <a:outerShdw blurRad="50800" dist="25400" dir="8100000" algn="bl" rotWithShape="0">
              <a:srgbClr val="000000">
                <a:alpha val="8000"/>
              </a:srgbClr>
            </a:outerShdw>
          </a:effectLst>
        </p:spPr>
      </p:sp>
      <p:sp>
        <p:nvSpPr>
          <p:cNvPr id="16" name="Shape 13"/>
          <p:cNvSpPr/>
          <p:nvPr/>
        </p:nvSpPr>
        <p:spPr>
          <a:xfrm>
            <a:off x="4937760" y="2724912"/>
            <a:ext cx="54864" cy="292608"/>
          </a:xfrm>
          <a:prstGeom prst="rect">
            <a:avLst/>
          </a:prstGeom>
          <a:solidFill>
            <a:srgbClr val="C75B7A"/>
          </a:solidFill>
          <a:ln/>
        </p:spPr>
      </p:sp>
      <p:sp>
        <p:nvSpPr>
          <p:cNvPr id="17" name="Text 14"/>
          <p:cNvSpPr/>
          <p:nvPr/>
        </p:nvSpPr>
        <p:spPr>
          <a:xfrm>
            <a:off x="5074920" y="2752344"/>
            <a:ext cx="1280160" cy="237744"/>
          </a:xfrm>
          <a:prstGeom prst="rect">
            <a:avLst/>
          </a:prstGeom>
          <a:noFill/>
          <a:ln/>
        </p:spPr>
        <p:txBody>
          <a:bodyPr wrap="square" lIns="0" tIns="0" rIns="0" bIns="0" rtlCol="0" anchor="ctr"/>
          <a:lstStyle/>
          <a:p>
            <a:pPr marL="0" indent="0">
              <a:buNone/>
            </a:pPr>
            <a:r>
              <a:rPr lang="en-US" sz="1000" b="1" dirty="0">
                <a:solidFill>
                  <a:srgbClr val="2E1A2E"/>
                </a:solidFill>
                <a:latin typeface="Calibri" pitchFamily="34" charset="0"/>
                <a:ea typeface="Calibri" pitchFamily="34" charset="-122"/>
                <a:cs typeface="Calibri" pitchFamily="34" charset="-120"/>
              </a:rPr>
              <a:t>Machine Translation</a:t>
            </a:r>
            <a:endParaRPr lang="en-US" sz="1000" dirty="0"/>
          </a:p>
        </p:txBody>
      </p:sp>
      <p:sp>
        <p:nvSpPr>
          <p:cNvPr id="18" name="Text 15"/>
          <p:cNvSpPr/>
          <p:nvPr/>
        </p:nvSpPr>
        <p:spPr>
          <a:xfrm>
            <a:off x="6400800" y="2752344"/>
            <a:ext cx="2011680" cy="237744"/>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Each clitic maps to a separate target word</a:t>
            </a:r>
            <a:endParaRPr lang="en-US" sz="950" dirty="0"/>
          </a:p>
        </p:txBody>
      </p:sp>
      <p:sp>
        <p:nvSpPr>
          <p:cNvPr id="19" name="Shape 16"/>
          <p:cNvSpPr/>
          <p:nvPr/>
        </p:nvSpPr>
        <p:spPr>
          <a:xfrm>
            <a:off x="4937760" y="3072384"/>
            <a:ext cx="3566160" cy="292608"/>
          </a:xfrm>
          <a:prstGeom prst="rect">
            <a:avLst/>
          </a:prstGeom>
          <a:solidFill>
            <a:srgbClr val="FFFFFF"/>
          </a:solidFill>
          <a:ln/>
          <a:effectLst>
            <a:outerShdw blurRad="50800" dist="25400" dir="8100000" algn="bl" rotWithShape="0">
              <a:srgbClr val="000000">
                <a:alpha val="8000"/>
              </a:srgbClr>
            </a:outerShdw>
          </a:effectLst>
        </p:spPr>
      </p:sp>
      <p:sp>
        <p:nvSpPr>
          <p:cNvPr id="20" name="Shape 17"/>
          <p:cNvSpPr/>
          <p:nvPr/>
        </p:nvSpPr>
        <p:spPr>
          <a:xfrm>
            <a:off x="4937760" y="3072384"/>
            <a:ext cx="54864" cy="292608"/>
          </a:xfrm>
          <a:prstGeom prst="rect">
            <a:avLst/>
          </a:prstGeom>
          <a:solidFill>
            <a:srgbClr val="C75B7A"/>
          </a:solidFill>
          <a:ln/>
        </p:spPr>
      </p:sp>
      <p:sp>
        <p:nvSpPr>
          <p:cNvPr id="21" name="Text 18"/>
          <p:cNvSpPr/>
          <p:nvPr/>
        </p:nvSpPr>
        <p:spPr>
          <a:xfrm>
            <a:off x="5074920" y="3099816"/>
            <a:ext cx="1280160" cy="237744"/>
          </a:xfrm>
          <a:prstGeom prst="rect">
            <a:avLst/>
          </a:prstGeom>
          <a:noFill/>
          <a:ln/>
        </p:spPr>
        <p:txBody>
          <a:bodyPr wrap="square" lIns="0" tIns="0" rIns="0" bIns="0" rtlCol="0" anchor="ctr"/>
          <a:lstStyle/>
          <a:p>
            <a:pPr marL="0" indent="0">
              <a:buNone/>
            </a:pPr>
            <a:r>
              <a:rPr lang="en-US" sz="1000" b="1" dirty="0">
                <a:solidFill>
                  <a:srgbClr val="2E1A2E"/>
                </a:solidFill>
                <a:latin typeface="Calibri" pitchFamily="34" charset="0"/>
                <a:ea typeface="Calibri" pitchFamily="34" charset="-122"/>
                <a:cs typeface="Calibri" pitchFamily="34" charset="-120"/>
              </a:rPr>
              <a:t>Information Retrieval</a:t>
            </a:r>
            <a:endParaRPr lang="en-US" sz="1000" dirty="0"/>
          </a:p>
        </p:txBody>
      </p:sp>
      <p:sp>
        <p:nvSpPr>
          <p:cNvPr id="22" name="Text 19"/>
          <p:cNvSpPr/>
          <p:nvPr/>
        </p:nvSpPr>
        <p:spPr>
          <a:xfrm>
            <a:off x="6400800" y="3099816"/>
            <a:ext cx="2011680" cy="237744"/>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Search must index individual morphemes</a:t>
            </a:r>
            <a:endParaRPr lang="en-US" sz="950" dirty="0"/>
          </a:p>
        </p:txBody>
      </p:sp>
      <p:sp>
        <p:nvSpPr>
          <p:cNvPr id="23" name="Shape 20"/>
          <p:cNvSpPr/>
          <p:nvPr/>
        </p:nvSpPr>
        <p:spPr>
          <a:xfrm>
            <a:off x="4937760" y="3419856"/>
            <a:ext cx="3566160" cy="292608"/>
          </a:xfrm>
          <a:prstGeom prst="rect">
            <a:avLst/>
          </a:prstGeom>
          <a:solidFill>
            <a:srgbClr val="FFFFFF"/>
          </a:solidFill>
          <a:ln/>
          <a:effectLst>
            <a:outerShdw blurRad="50800" dist="25400" dir="8100000" algn="bl" rotWithShape="0">
              <a:srgbClr val="000000">
                <a:alpha val="8000"/>
              </a:srgbClr>
            </a:outerShdw>
          </a:effectLst>
        </p:spPr>
      </p:sp>
      <p:sp>
        <p:nvSpPr>
          <p:cNvPr id="24" name="Shape 21"/>
          <p:cNvSpPr/>
          <p:nvPr/>
        </p:nvSpPr>
        <p:spPr>
          <a:xfrm>
            <a:off x="4937760" y="3419856"/>
            <a:ext cx="54864" cy="292608"/>
          </a:xfrm>
          <a:prstGeom prst="rect">
            <a:avLst/>
          </a:prstGeom>
          <a:solidFill>
            <a:srgbClr val="C75B7A"/>
          </a:solidFill>
          <a:ln/>
        </p:spPr>
      </p:sp>
      <p:sp>
        <p:nvSpPr>
          <p:cNvPr id="25" name="Text 22"/>
          <p:cNvSpPr/>
          <p:nvPr/>
        </p:nvSpPr>
        <p:spPr>
          <a:xfrm>
            <a:off x="5074920" y="3447288"/>
            <a:ext cx="1280160" cy="237744"/>
          </a:xfrm>
          <a:prstGeom prst="rect">
            <a:avLst/>
          </a:prstGeom>
          <a:noFill/>
          <a:ln/>
        </p:spPr>
        <p:txBody>
          <a:bodyPr wrap="square" lIns="0" tIns="0" rIns="0" bIns="0" rtlCol="0" anchor="ctr"/>
          <a:lstStyle/>
          <a:p>
            <a:pPr marL="0" indent="0">
              <a:buNone/>
            </a:pPr>
            <a:r>
              <a:rPr lang="en-US" sz="1000" b="1" dirty="0">
                <a:solidFill>
                  <a:srgbClr val="2E1A2E"/>
                </a:solidFill>
                <a:latin typeface="Calibri" pitchFamily="34" charset="0"/>
                <a:ea typeface="Calibri" pitchFamily="34" charset="-122"/>
                <a:cs typeface="Calibri" pitchFamily="34" charset="-120"/>
              </a:rPr>
              <a:t>Knowledge Graphs</a:t>
            </a:r>
            <a:endParaRPr lang="en-US" sz="1000" dirty="0"/>
          </a:p>
        </p:txBody>
      </p:sp>
      <p:sp>
        <p:nvSpPr>
          <p:cNvPr id="26" name="Text 23"/>
          <p:cNvSpPr/>
          <p:nvPr/>
        </p:nvSpPr>
        <p:spPr>
          <a:xfrm>
            <a:off x="6400800" y="3447288"/>
            <a:ext cx="2011680" cy="237744"/>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Entity extraction requires clean word boundaries</a:t>
            </a:r>
            <a:endParaRPr lang="en-US" sz="950" dirty="0"/>
          </a:p>
        </p:txBody>
      </p:sp>
      <p:sp>
        <p:nvSpPr>
          <p:cNvPr id="27" name="Shape 24"/>
          <p:cNvSpPr/>
          <p:nvPr/>
        </p:nvSpPr>
        <p:spPr>
          <a:xfrm>
            <a:off x="731520" y="3977640"/>
            <a:ext cx="7680960" cy="502920"/>
          </a:xfrm>
          <a:prstGeom prst="rect">
            <a:avLst/>
          </a:prstGeom>
          <a:solidFill>
            <a:srgbClr val="4A1942"/>
          </a:solidFill>
          <a:ln/>
        </p:spPr>
      </p:sp>
      <p:sp>
        <p:nvSpPr>
          <p:cNvPr id="28" name="Text 25"/>
          <p:cNvSpPr/>
          <p:nvPr/>
        </p:nvSpPr>
        <p:spPr>
          <a:xfrm>
            <a:off x="914400" y="3977640"/>
            <a:ext cx="7315200" cy="5029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Dataset: Universal Dependencies (UD) — multilingual treebanks with multi-word token (MWT) annotations that explicitly encode segmentation boundaries.</a:t>
            </a:r>
            <a:endParaRPr lang="en-US" sz="1100" dirty="0"/>
          </a:p>
        </p:txBody>
      </p:sp>
      <p:sp>
        <p:nvSpPr>
          <p:cNvPr id="29" name="Text 26"/>
          <p:cNvSpPr/>
          <p:nvPr/>
        </p:nvSpPr>
        <p:spPr>
          <a:xfrm>
            <a:off x="731520" y="4617720"/>
            <a:ext cx="7680960" cy="228600"/>
          </a:xfrm>
          <a:prstGeom prst="rect">
            <a:avLst/>
          </a:prstGeom>
          <a:noFill/>
          <a:ln/>
        </p:spPr>
        <p:txBody>
          <a:bodyPr wrap="square" lIns="0" tIns="0" rIns="0" bIns="0" rtlCol="0" anchor="ctr"/>
          <a:lstStyle/>
          <a:p>
            <a:pPr marL="0" indent="0">
              <a:buNone/>
            </a:pP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75B7A"/>
          </a:solidFill>
          <a:ln/>
        </p:spPr>
      </p:sp>
      <p:pic>
        <p:nvPicPr>
          <p:cNvPr id="3" name="Image 0" descr="preencoded.png"/>
          <p:cNvPicPr>
            <a:picLocks noChangeAspect="1"/>
          </p:cNvPicPr>
          <p:nvPr/>
        </p:nvPicPr>
        <p:blipFill>
          <a:blip r:embed="rId3"/>
          <a:stretch>
            <a:fillRect/>
          </a:stretch>
        </p:blipFill>
        <p:spPr>
          <a:xfrm>
            <a:off x="731520" y="274320"/>
            <a:ext cx="320040" cy="320040"/>
          </a:xfrm>
          <a:prstGeom prst="rect">
            <a:avLst/>
          </a:prstGeom>
        </p:spPr>
      </p:pic>
      <p:sp>
        <p:nvSpPr>
          <p:cNvPr id="4" name="Text 1"/>
          <p:cNvSpPr/>
          <p:nvPr/>
        </p:nvSpPr>
        <p:spPr>
          <a:xfrm>
            <a:off x="1143000" y="228600"/>
            <a:ext cx="7498080" cy="411480"/>
          </a:xfrm>
          <a:prstGeom prst="rect">
            <a:avLst/>
          </a:prstGeom>
          <a:noFill/>
          <a:ln/>
        </p:spPr>
        <p:txBody>
          <a:bodyPr wrap="square" lIns="0" tIns="0" rIns="0" bIns="0" rtlCol="0" anchor="ctr"/>
          <a:lstStyle/>
          <a:p>
            <a:pPr marL="0" indent="0">
              <a:buNone/>
            </a:pPr>
            <a:r>
              <a:rPr lang="en-US" sz="2500" b="1" dirty="0">
                <a:solidFill>
                  <a:srgbClr val="2E1A2E"/>
                </a:solidFill>
                <a:latin typeface="Georgia" pitchFamily="34" charset="0"/>
                <a:ea typeface="Georgia" pitchFamily="34" charset="-122"/>
                <a:cs typeface="Georgia" pitchFamily="34" charset="-120"/>
              </a:rPr>
              <a:t>Survey — Sequence Labeling &amp; BIO Tagging</a:t>
            </a:r>
            <a:endParaRPr lang="en-US" sz="2500" dirty="0"/>
          </a:p>
        </p:txBody>
      </p:sp>
      <p:sp>
        <p:nvSpPr>
          <p:cNvPr id="5" name="Text 2"/>
          <p:cNvSpPr/>
          <p:nvPr/>
        </p:nvSpPr>
        <p:spPr>
          <a:xfrm>
            <a:off x="731520" y="685800"/>
            <a:ext cx="7315200" cy="274320"/>
          </a:xfrm>
          <a:prstGeom prst="rect">
            <a:avLst/>
          </a:prstGeom>
          <a:noFill/>
          <a:ln/>
        </p:spPr>
        <p:txBody>
          <a:bodyPr wrap="square" lIns="0" tIns="0" rIns="0" bIns="0" rtlCol="0" anchor="ctr"/>
          <a:lstStyle/>
          <a:p>
            <a:pPr marL="0" indent="0">
              <a:buNone/>
            </a:pPr>
            <a:r>
              <a:rPr lang="en-US" sz="1300" dirty="0">
                <a:solidFill>
                  <a:srgbClr val="8A7A8A"/>
                </a:solidFill>
                <a:latin typeface="Calibri" pitchFamily="34" charset="0"/>
                <a:ea typeface="Calibri" pitchFamily="34" charset="-122"/>
                <a:cs typeface="Calibri" pitchFamily="34" charset="-120"/>
              </a:rPr>
              <a:t>Formulating segmentation as a character-level labeling problem</a:t>
            </a:r>
            <a:endParaRPr lang="en-US" sz="1300" dirty="0"/>
          </a:p>
        </p:txBody>
      </p:sp>
      <p:sp>
        <p:nvSpPr>
          <p:cNvPr id="6" name="Text 3"/>
          <p:cNvSpPr/>
          <p:nvPr/>
        </p:nvSpPr>
        <p:spPr>
          <a:xfrm>
            <a:off x="731520" y="1051560"/>
            <a:ext cx="3657600" cy="274320"/>
          </a:xfrm>
          <a:prstGeom prst="rect">
            <a:avLst/>
          </a:prstGeom>
          <a:noFill/>
          <a:ln/>
        </p:spPr>
        <p:txBody>
          <a:bodyPr wrap="square" lIns="0" tIns="0" rIns="0" bIns="0" rtlCol="0" anchor="ctr"/>
          <a:lstStyle/>
          <a:p>
            <a:pPr marL="0" indent="0">
              <a:buNone/>
            </a:pPr>
            <a:r>
              <a:rPr lang="en-US" sz="1500" b="1" dirty="0">
                <a:solidFill>
                  <a:srgbClr val="2E1A2E"/>
                </a:solidFill>
                <a:latin typeface="Calibri" pitchFamily="34" charset="0"/>
                <a:ea typeface="Calibri" pitchFamily="34" charset="-122"/>
                <a:cs typeface="Calibri" pitchFamily="34" charset="-120"/>
              </a:rPr>
              <a:t>BIO Tagging Scheme</a:t>
            </a:r>
            <a:endParaRPr lang="en-US" sz="1500" dirty="0"/>
          </a:p>
        </p:txBody>
      </p:sp>
      <p:sp>
        <p:nvSpPr>
          <p:cNvPr id="7" name="Shape 4"/>
          <p:cNvSpPr/>
          <p:nvPr/>
        </p:nvSpPr>
        <p:spPr>
          <a:xfrm>
            <a:off x="731520" y="1371600"/>
            <a:ext cx="3840480" cy="2011680"/>
          </a:xfrm>
          <a:prstGeom prst="rect">
            <a:avLst/>
          </a:prstGeom>
          <a:solidFill>
            <a:srgbClr val="FFFFFF"/>
          </a:solidFill>
          <a:ln/>
          <a:effectLst>
            <a:outerShdw blurRad="50800" dist="25400" dir="8100000" algn="bl" rotWithShape="0">
              <a:srgbClr val="000000">
                <a:alpha val="8000"/>
              </a:srgbClr>
            </a:outerShdw>
          </a:effectLst>
        </p:spPr>
      </p:sp>
      <p:sp>
        <p:nvSpPr>
          <p:cNvPr id="8" name="Text 5"/>
          <p:cNvSpPr/>
          <p:nvPr/>
        </p:nvSpPr>
        <p:spPr>
          <a:xfrm>
            <a:off x="868680" y="1417320"/>
            <a:ext cx="3566160" cy="182880"/>
          </a:xfrm>
          <a:prstGeom prst="rect">
            <a:avLst/>
          </a:prstGeom>
          <a:noFill/>
          <a:ln/>
        </p:spPr>
        <p:txBody>
          <a:bodyPr wrap="square" lIns="0" tIns="0" rIns="0" bIns="0" rtlCol="0" anchor="ctr"/>
          <a:lstStyle/>
          <a:p>
            <a:pPr marL="0" indent="0">
              <a:buNone/>
            </a:pPr>
            <a:r>
              <a:rPr lang="en-US" sz="1100" dirty="0">
                <a:solidFill>
                  <a:srgbClr val="4A3A4A"/>
                </a:solidFill>
                <a:latin typeface="Calibri" pitchFamily="34" charset="0"/>
                <a:ea typeface="Calibri" pitchFamily="34" charset="-122"/>
                <a:cs typeface="Calibri" pitchFamily="34" charset="-120"/>
              </a:rPr>
              <a:t>Each character receives a label:</a:t>
            </a:r>
            <a:endParaRPr lang="en-US" sz="1100" dirty="0"/>
          </a:p>
        </p:txBody>
      </p:sp>
      <p:sp>
        <p:nvSpPr>
          <p:cNvPr id="9" name="Shape 6"/>
          <p:cNvSpPr/>
          <p:nvPr/>
        </p:nvSpPr>
        <p:spPr>
          <a:xfrm>
            <a:off x="960120" y="1691640"/>
            <a:ext cx="320040" cy="320040"/>
          </a:xfrm>
          <a:prstGeom prst="ellipse">
            <a:avLst/>
          </a:prstGeom>
          <a:solidFill>
            <a:srgbClr val="C75B7A"/>
          </a:solidFill>
          <a:ln/>
        </p:spPr>
      </p:sp>
      <p:sp>
        <p:nvSpPr>
          <p:cNvPr id="10" name="Text 7"/>
          <p:cNvSpPr/>
          <p:nvPr/>
        </p:nvSpPr>
        <p:spPr>
          <a:xfrm>
            <a:off x="960120" y="1691640"/>
            <a:ext cx="32004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B</a:t>
            </a:r>
            <a:endParaRPr lang="en-US" sz="1600" dirty="0"/>
          </a:p>
        </p:txBody>
      </p:sp>
      <p:sp>
        <p:nvSpPr>
          <p:cNvPr id="11" name="Text 8"/>
          <p:cNvSpPr/>
          <p:nvPr/>
        </p:nvSpPr>
        <p:spPr>
          <a:xfrm>
            <a:off x="1417320" y="1728216"/>
            <a:ext cx="3017520" cy="246888"/>
          </a:xfrm>
          <a:prstGeom prst="rect">
            <a:avLst/>
          </a:prstGeom>
          <a:noFill/>
          <a:ln/>
        </p:spPr>
        <p:txBody>
          <a:bodyPr wrap="square" lIns="0" tIns="0" rIns="0" bIns="0" rtlCol="0" anchor="ctr"/>
          <a:lstStyle/>
          <a:p>
            <a:pPr marL="0" indent="0">
              <a:buNone/>
            </a:pPr>
            <a:r>
              <a:rPr lang="en-US" sz="1100" dirty="0">
                <a:solidFill>
                  <a:srgbClr val="4A3A4A"/>
                </a:solidFill>
                <a:latin typeface="Calibri" pitchFamily="34" charset="0"/>
                <a:ea typeface="Calibri" pitchFamily="34" charset="-122"/>
                <a:cs typeface="Calibri" pitchFamily="34" charset="-120"/>
              </a:rPr>
              <a:t>Beginning of a new segment</a:t>
            </a:r>
            <a:endParaRPr lang="en-US" sz="1100" dirty="0"/>
          </a:p>
        </p:txBody>
      </p:sp>
      <p:sp>
        <p:nvSpPr>
          <p:cNvPr id="12" name="Shape 9"/>
          <p:cNvSpPr/>
          <p:nvPr/>
        </p:nvSpPr>
        <p:spPr>
          <a:xfrm>
            <a:off x="960120" y="2057400"/>
            <a:ext cx="320040" cy="320040"/>
          </a:xfrm>
          <a:prstGeom prst="ellipse">
            <a:avLst/>
          </a:prstGeom>
          <a:solidFill>
            <a:srgbClr val="2A8A7A"/>
          </a:solidFill>
          <a:ln/>
        </p:spPr>
      </p:sp>
      <p:sp>
        <p:nvSpPr>
          <p:cNvPr id="13" name="Text 10"/>
          <p:cNvSpPr/>
          <p:nvPr/>
        </p:nvSpPr>
        <p:spPr>
          <a:xfrm>
            <a:off x="960120" y="2057400"/>
            <a:ext cx="32004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I</a:t>
            </a:r>
            <a:endParaRPr lang="en-US" sz="1600" dirty="0"/>
          </a:p>
        </p:txBody>
      </p:sp>
      <p:sp>
        <p:nvSpPr>
          <p:cNvPr id="14" name="Text 11"/>
          <p:cNvSpPr/>
          <p:nvPr/>
        </p:nvSpPr>
        <p:spPr>
          <a:xfrm>
            <a:off x="1417320" y="2093976"/>
            <a:ext cx="3017520" cy="246888"/>
          </a:xfrm>
          <a:prstGeom prst="rect">
            <a:avLst/>
          </a:prstGeom>
          <a:noFill/>
          <a:ln/>
        </p:spPr>
        <p:txBody>
          <a:bodyPr wrap="square" lIns="0" tIns="0" rIns="0" bIns="0" rtlCol="0" anchor="ctr"/>
          <a:lstStyle/>
          <a:p>
            <a:pPr marL="0" indent="0">
              <a:buNone/>
            </a:pPr>
            <a:r>
              <a:rPr lang="en-US" sz="1100" dirty="0">
                <a:solidFill>
                  <a:srgbClr val="4A3A4A"/>
                </a:solidFill>
                <a:latin typeface="Calibri" pitchFamily="34" charset="0"/>
                <a:ea typeface="Calibri" pitchFamily="34" charset="-122"/>
                <a:cs typeface="Calibri" pitchFamily="34" charset="-120"/>
              </a:rPr>
              <a:t>Inside (continuation) of a segment</a:t>
            </a:r>
            <a:endParaRPr lang="en-US" sz="1100" dirty="0"/>
          </a:p>
        </p:txBody>
      </p:sp>
      <p:sp>
        <p:nvSpPr>
          <p:cNvPr id="15" name="Shape 12"/>
          <p:cNvSpPr/>
          <p:nvPr/>
        </p:nvSpPr>
        <p:spPr>
          <a:xfrm>
            <a:off x="960120" y="2423160"/>
            <a:ext cx="320040" cy="320040"/>
          </a:xfrm>
          <a:prstGeom prst="ellipse">
            <a:avLst/>
          </a:prstGeom>
          <a:solidFill>
            <a:srgbClr val="8A7A8A"/>
          </a:solidFill>
          <a:ln/>
        </p:spPr>
      </p:sp>
      <p:sp>
        <p:nvSpPr>
          <p:cNvPr id="16" name="Text 13"/>
          <p:cNvSpPr/>
          <p:nvPr/>
        </p:nvSpPr>
        <p:spPr>
          <a:xfrm>
            <a:off x="960120" y="2423160"/>
            <a:ext cx="32004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O</a:t>
            </a:r>
            <a:endParaRPr lang="en-US" sz="1600" dirty="0"/>
          </a:p>
        </p:txBody>
      </p:sp>
      <p:sp>
        <p:nvSpPr>
          <p:cNvPr id="17" name="Text 14"/>
          <p:cNvSpPr/>
          <p:nvPr/>
        </p:nvSpPr>
        <p:spPr>
          <a:xfrm>
            <a:off x="1417320" y="2459736"/>
            <a:ext cx="3017520" cy="246888"/>
          </a:xfrm>
          <a:prstGeom prst="rect">
            <a:avLst/>
          </a:prstGeom>
          <a:noFill/>
          <a:ln/>
        </p:spPr>
        <p:txBody>
          <a:bodyPr wrap="square" lIns="0" tIns="0" rIns="0" bIns="0" rtlCol="0" anchor="ctr"/>
          <a:lstStyle/>
          <a:p>
            <a:pPr marL="0" indent="0">
              <a:buNone/>
            </a:pPr>
            <a:r>
              <a:rPr lang="en-US" sz="1100" dirty="0">
                <a:solidFill>
                  <a:srgbClr val="4A3A4A"/>
                </a:solidFill>
                <a:latin typeface="Calibri" pitchFamily="34" charset="0"/>
                <a:ea typeface="Calibri" pitchFamily="34" charset="-122"/>
                <a:cs typeface="Calibri" pitchFamily="34" charset="-120"/>
              </a:rPr>
              <a:t>Outside any segment</a:t>
            </a:r>
            <a:endParaRPr lang="en-US" sz="1100" dirty="0"/>
          </a:p>
        </p:txBody>
      </p:sp>
      <p:sp>
        <p:nvSpPr>
          <p:cNvPr id="18" name="Text 15"/>
          <p:cNvSpPr/>
          <p:nvPr/>
        </p:nvSpPr>
        <p:spPr>
          <a:xfrm>
            <a:off x="868680" y="2834640"/>
            <a:ext cx="3566160" cy="182880"/>
          </a:xfrm>
          <a:prstGeom prst="rect">
            <a:avLst/>
          </a:prstGeom>
          <a:noFill/>
          <a:ln/>
        </p:spPr>
        <p:txBody>
          <a:bodyPr wrap="square" lIns="0" tIns="0" rIns="0" bIns="0" rtlCol="0" anchor="ctr"/>
          <a:lstStyle/>
          <a:p>
            <a:pPr marL="0" indent="0">
              <a:buNone/>
            </a:pPr>
            <a:r>
              <a:rPr lang="en-US" sz="1050" b="1" dirty="0">
                <a:solidFill>
                  <a:srgbClr val="2E1A2E"/>
                </a:solidFill>
                <a:latin typeface="Calibri" pitchFamily="34" charset="0"/>
                <a:ea typeface="Calibri" pitchFamily="34" charset="-122"/>
                <a:cs typeface="Calibri" pitchFamily="34" charset="-120"/>
              </a:rPr>
              <a:t>Example:  dámelo → da me lo</a:t>
            </a:r>
            <a:endParaRPr lang="en-US" sz="1050" dirty="0"/>
          </a:p>
        </p:txBody>
      </p:sp>
      <p:sp>
        <p:nvSpPr>
          <p:cNvPr id="19" name="Shape 16"/>
          <p:cNvSpPr/>
          <p:nvPr/>
        </p:nvSpPr>
        <p:spPr>
          <a:xfrm>
            <a:off x="868680" y="3063240"/>
            <a:ext cx="3566160" cy="256032"/>
          </a:xfrm>
          <a:prstGeom prst="rect">
            <a:avLst/>
          </a:prstGeom>
          <a:solidFill>
            <a:srgbClr val="4A1942"/>
          </a:solidFill>
          <a:ln/>
        </p:spPr>
      </p:sp>
      <p:sp>
        <p:nvSpPr>
          <p:cNvPr id="20" name="Text 17"/>
          <p:cNvSpPr/>
          <p:nvPr/>
        </p:nvSpPr>
        <p:spPr>
          <a:xfrm>
            <a:off x="960120" y="3063240"/>
            <a:ext cx="3383280" cy="256032"/>
          </a:xfrm>
          <a:prstGeom prst="rect">
            <a:avLst/>
          </a:prstGeom>
          <a:noFill/>
          <a:ln/>
        </p:spPr>
        <p:txBody>
          <a:bodyPr wrap="square" lIns="0" tIns="0" rIns="0" bIns="0" rtlCol="0" anchor="ctr"/>
          <a:lstStyle/>
          <a:p>
            <a:pPr marL="0" indent="0">
              <a:buNone/>
            </a:pPr>
            <a:r>
              <a:rPr lang="en-US" sz="1200" dirty="0">
                <a:solidFill>
                  <a:srgbClr val="D4A03C"/>
                </a:solidFill>
                <a:latin typeface="Consolas" pitchFamily="34" charset="0"/>
                <a:ea typeface="Consolas" pitchFamily="34" charset="-122"/>
                <a:cs typeface="Consolas" pitchFamily="34" charset="-120"/>
              </a:rPr>
              <a:t>d  á  m  e  l  o   →   B  I  B  I  B  I</a:t>
            </a:r>
            <a:endParaRPr lang="en-US" sz="1200" dirty="0"/>
          </a:p>
        </p:txBody>
      </p:sp>
      <p:sp>
        <p:nvSpPr>
          <p:cNvPr id="21" name="Text 18"/>
          <p:cNvSpPr/>
          <p:nvPr/>
        </p:nvSpPr>
        <p:spPr>
          <a:xfrm>
            <a:off x="4937760" y="1051560"/>
            <a:ext cx="3657600" cy="274320"/>
          </a:xfrm>
          <a:prstGeom prst="rect">
            <a:avLst/>
          </a:prstGeom>
          <a:noFill/>
          <a:ln/>
        </p:spPr>
        <p:txBody>
          <a:bodyPr wrap="square" lIns="0" tIns="0" rIns="0" bIns="0" rtlCol="0" anchor="ctr"/>
          <a:lstStyle/>
          <a:p>
            <a:pPr marL="0" indent="0">
              <a:buNone/>
            </a:pPr>
            <a:r>
              <a:rPr lang="en-US" sz="1500" b="1" dirty="0">
                <a:solidFill>
                  <a:srgbClr val="2E1A2E"/>
                </a:solidFill>
                <a:latin typeface="Calibri" pitchFamily="34" charset="0"/>
                <a:ea typeface="Calibri" pitchFamily="34" charset="-122"/>
                <a:cs typeface="Calibri" pitchFamily="34" charset="-120"/>
              </a:rPr>
              <a:t>Key Literature</a:t>
            </a:r>
            <a:endParaRPr lang="en-US" sz="1500" dirty="0"/>
          </a:p>
        </p:txBody>
      </p:sp>
      <p:sp>
        <p:nvSpPr>
          <p:cNvPr id="22" name="Shape 19"/>
          <p:cNvSpPr/>
          <p:nvPr/>
        </p:nvSpPr>
        <p:spPr>
          <a:xfrm>
            <a:off x="4937760" y="1371600"/>
            <a:ext cx="3566160" cy="713232"/>
          </a:xfrm>
          <a:prstGeom prst="rect">
            <a:avLst/>
          </a:prstGeom>
          <a:solidFill>
            <a:srgbClr val="FFFFFF"/>
          </a:solidFill>
          <a:ln/>
          <a:effectLst>
            <a:outerShdw blurRad="50800" dist="25400" dir="8100000" algn="bl" rotWithShape="0">
              <a:srgbClr val="000000">
                <a:alpha val="8000"/>
              </a:srgbClr>
            </a:outerShdw>
          </a:effectLst>
        </p:spPr>
      </p:sp>
      <p:sp>
        <p:nvSpPr>
          <p:cNvPr id="23" name="Shape 20"/>
          <p:cNvSpPr/>
          <p:nvPr/>
        </p:nvSpPr>
        <p:spPr>
          <a:xfrm>
            <a:off x="4937760" y="1371600"/>
            <a:ext cx="54864" cy="713232"/>
          </a:xfrm>
          <a:prstGeom prst="rect">
            <a:avLst/>
          </a:prstGeom>
          <a:solidFill>
            <a:srgbClr val="C75B7A"/>
          </a:solidFill>
          <a:ln/>
        </p:spPr>
      </p:sp>
      <p:sp>
        <p:nvSpPr>
          <p:cNvPr id="24" name="Text 21"/>
          <p:cNvSpPr/>
          <p:nvPr/>
        </p:nvSpPr>
        <p:spPr>
          <a:xfrm>
            <a:off x="5074920" y="1399032"/>
            <a:ext cx="2377440" cy="182880"/>
          </a:xfrm>
          <a:prstGeom prst="rect">
            <a:avLst/>
          </a:prstGeom>
          <a:noFill/>
          <a:ln/>
        </p:spPr>
        <p:txBody>
          <a:bodyPr wrap="square" lIns="0" tIns="0" rIns="0" bIns="0" rtlCol="0" anchor="ctr"/>
          <a:lstStyle/>
          <a:p>
            <a:pPr marL="0" indent="0">
              <a:buNone/>
            </a:pPr>
            <a:r>
              <a:rPr lang="en-US" sz="1050" b="1" dirty="0">
                <a:solidFill>
                  <a:srgbClr val="2E1A2E"/>
                </a:solidFill>
                <a:latin typeface="Calibri" pitchFamily="34" charset="0"/>
                <a:ea typeface="Calibri" pitchFamily="34" charset="-122"/>
                <a:cs typeface="Calibri" pitchFamily="34" charset="-120"/>
              </a:rPr>
              <a:t>Neural Architectures for NER</a:t>
            </a:r>
            <a:endParaRPr lang="en-US" sz="1050" dirty="0"/>
          </a:p>
        </p:txBody>
      </p:sp>
      <p:sp>
        <p:nvSpPr>
          <p:cNvPr id="25" name="Text 22"/>
          <p:cNvSpPr/>
          <p:nvPr/>
        </p:nvSpPr>
        <p:spPr>
          <a:xfrm>
            <a:off x="7498080" y="1399032"/>
            <a:ext cx="914400" cy="182880"/>
          </a:xfrm>
          <a:prstGeom prst="rect">
            <a:avLst/>
          </a:prstGeom>
          <a:noFill/>
          <a:ln/>
        </p:spPr>
        <p:txBody>
          <a:bodyPr wrap="square" lIns="0" tIns="0" rIns="0" bIns="0" rtlCol="0" anchor="ctr"/>
          <a:lstStyle/>
          <a:p>
            <a:pPr marL="0" indent="0" algn="r">
              <a:buNone/>
            </a:pPr>
            <a:r>
              <a:rPr lang="en-US" sz="850" b="1" dirty="0">
                <a:solidFill>
                  <a:srgbClr val="C75B7A"/>
                </a:solidFill>
                <a:latin typeface="Calibri" pitchFamily="34" charset="0"/>
                <a:ea typeface="Calibri" pitchFamily="34" charset="-122"/>
                <a:cs typeface="Calibri" pitchFamily="34" charset="-120"/>
              </a:rPr>
              <a:t>NAACL 2016</a:t>
            </a:r>
            <a:endParaRPr lang="en-US" sz="850" dirty="0"/>
          </a:p>
        </p:txBody>
      </p:sp>
      <p:sp>
        <p:nvSpPr>
          <p:cNvPr id="26" name="Text 23"/>
          <p:cNvSpPr/>
          <p:nvPr/>
        </p:nvSpPr>
        <p:spPr>
          <a:xfrm>
            <a:off x="5074920" y="1600200"/>
            <a:ext cx="3291840" cy="320040"/>
          </a:xfrm>
          <a:prstGeom prst="rect">
            <a:avLst/>
          </a:prstGeom>
          <a:noFill/>
          <a:ln/>
        </p:spPr>
        <p:txBody>
          <a:bodyPr wrap="square" lIns="0" tIns="0" rIns="0" bIns="0" rtlCol="0" anchor="ctr"/>
          <a:lstStyle/>
          <a:p>
            <a:pPr marL="0" indent="0">
              <a:buNone/>
            </a:pPr>
            <a:r>
              <a:rPr lang="en-US" sz="900" dirty="0">
                <a:solidFill>
                  <a:srgbClr val="4A3A4A"/>
                </a:solidFill>
                <a:latin typeface="Calibri" pitchFamily="34" charset="0"/>
                <a:ea typeface="Calibri" pitchFamily="34" charset="-122"/>
                <a:cs typeface="Calibri" pitchFamily="34" charset="-120"/>
              </a:rPr>
              <a:t>Demonstrated BiLSTM + CRF effectiveness for sequence labeling. Shows contextual models learn boundaries without heavy feature engineering.</a:t>
            </a:r>
            <a:endParaRPr lang="en-US" sz="900" dirty="0"/>
          </a:p>
        </p:txBody>
      </p:sp>
      <p:sp>
        <p:nvSpPr>
          <p:cNvPr id="27" name="Text 24"/>
          <p:cNvSpPr/>
          <p:nvPr/>
        </p:nvSpPr>
        <p:spPr>
          <a:xfrm>
            <a:off x="5074920" y="1920240"/>
            <a:ext cx="3291840" cy="137160"/>
          </a:xfrm>
          <a:prstGeom prst="rect">
            <a:avLst/>
          </a:prstGeom>
          <a:noFill/>
          <a:ln/>
        </p:spPr>
        <p:txBody>
          <a:bodyPr wrap="square" lIns="0" tIns="0" rIns="0" bIns="0" rtlCol="0" anchor="ctr"/>
          <a:lstStyle/>
          <a:p>
            <a:pPr marL="0" indent="0">
              <a:buNone/>
            </a:pPr>
            <a:r>
              <a:rPr lang="en-US" sz="750" i="1" dirty="0">
                <a:solidFill>
                  <a:srgbClr val="8A7A8A"/>
                </a:solidFill>
                <a:latin typeface="Calibri" pitchFamily="34" charset="0"/>
                <a:ea typeface="Calibri" pitchFamily="34" charset="-122"/>
                <a:cs typeface="Calibri" pitchFamily="34" charset="-120"/>
              </a:rPr>
              <a:t>aclanthology.org/N16-1030</a:t>
            </a:r>
            <a:endParaRPr lang="en-US" sz="750" dirty="0"/>
          </a:p>
        </p:txBody>
      </p:sp>
      <p:sp>
        <p:nvSpPr>
          <p:cNvPr id="28" name="Shape 25"/>
          <p:cNvSpPr/>
          <p:nvPr/>
        </p:nvSpPr>
        <p:spPr>
          <a:xfrm>
            <a:off x="4937760" y="2194560"/>
            <a:ext cx="3566160" cy="713232"/>
          </a:xfrm>
          <a:prstGeom prst="rect">
            <a:avLst/>
          </a:prstGeom>
          <a:solidFill>
            <a:srgbClr val="FFFFFF"/>
          </a:solidFill>
          <a:ln/>
          <a:effectLst>
            <a:outerShdw blurRad="50800" dist="25400" dir="8100000" algn="bl" rotWithShape="0">
              <a:srgbClr val="000000">
                <a:alpha val="8000"/>
              </a:srgbClr>
            </a:outerShdw>
          </a:effectLst>
        </p:spPr>
      </p:sp>
      <p:sp>
        <p:nvSpPr>
          <p:cNvPr id="29" name="Shape 26"/>
          <p:cNvSpPr/>
          <p:nvPr/>
        </p:nvSpPr>
        <p:spPr>
          <a:xfrm>
            <a:off x="4937760" y="2194560"/>
            <a:ext cx="54864" cy="713232"/>
          </a:xfrm>
          <a:prstGeom prst="rect">
            <a:avLst/>
          </a:prstGeom>
          <a:solidFill>
            <a:srgbClr val="C75B7A"/>
          </a:solidFill>
          <a:ln/>
        </p:spPr>
      </p:sp>
      <p:sp>
        <p:nvSpPr>
          <p:cNvPr id="30" name="Text 27"/>
          <p:cNvSpPr/>
          <p:nvPr/>
        </p:nvSpPr>
        <p:spPr>
          <a:xfrm>
            <a:off x="5074920" y="2221992"/>
            <a:ext cx="2377440" cy="182880"/>
          </a:xfrm>
          <a:prstGeom prst="rect">
            <a:avLst/>
          </a:prstGeom>
          <a:noFill/>
          <a:ln/>
        </p:spPr>
        <p:txBody>
          <a:bodyPr wrap="square" lIns="0" tIns="0" rIns="0" bIns="0" rtlCol="0" anchor="ctr"/>
          <a:lstStyle/>
          <a:p>
            <a:pPr marL="0" indent="0">
              <a:buNone/>
            </a:pPr>
            <a:r>
              <a:rPr lang="en-US" sz="1050" b="1" dirty="0">
                <a:solidFill>
                  <a:srgbClr val="2E1A2E"/>
                </a:solidFill>
                <a:latin typeface="Calibri" pitchFamily="34" charset="0"/>
                <a:ea typeface="Calibri" pitchFamily="34" charset="-122"/>
                <a:cs typeface="Calibri" pitchFamily="34" charset="-120"/>
              </a:rPr>
              <a:t>BiLSTM-CRF for Sequence Tagging</a:t>
            </a:r>
            <a:endParaRPr lang="en-US" sz="1050" dirty="0"/>
          </a:p>
        </p:txBody>
      </p:sp>
      <p:sp>
        <p:nvSpPr>
          <p:cNvPr id="31" name="Text 28"/>
          <p:cNvSpPr/>
          <p:nvPr/>
        </p:nvSpPr>
        <p:spPr>
          <a:xfrm>
            <a:off x="7498080" y="2221992"/>
            <a:ext cx="914400" cy="182880"/>
          </a:xfrm>
          <a:prstGeom prst="rect">
            <a:avLst/>
          </a:prstGeom>
          <a:noFill/>
          <a:ln/>
        </p:spPr>
        <p:txBody>
          <a:bodyPr wrap="square" lIns="0" tIns="0" rIns="0" bIns="0" rtlCol="0" anchor="ctr"/>
          <a:lstStyle/>
          <a:p>
            <a:pPr marL="0" indent="0" algn="r">
              <a:buNone/>
            </a:pPr>
            <a:r>
              <a:rPr lang="en-US" sz="850" b="1" dirty="0">
                <a:solidFill>
                  <a:srgbClr val="C75B7A"/>
                </a:solidFill>
                <a:latin typeface="Calibri" pitchFamily="34" charset="0"/>
                <a:ea typeface="Calibri" pitchFamily="34" charset="-122"/>
                <a:cs typeface="Calibri" pitchFamily="34" charset="-120"/>
              </a:rPr>
              <a:t>arXiv 2015</a:t>
            </a:r>
            <a:endParaRPr lang="en-US" sz="850" dirty="0"/>
          </a:p>
        </p:txBody>
      </p:sp>
      <p:sp>
        <p:nvSpPr>
          <p:cNvPr id="32" name="Text 29"/>
          <p:cNvSpPr/>
          <p:nvPr/>
        </p:nvSpPr>
        <p:spPr>
          <a:xfrm>
            <a:off x="5074920" y="2423160"/>
            <a:ext cx="3291840" cy="320040"/>
          </a:xfrm>
          <a:prstGeom prst="rect">
            <a:avLst/>
          </a:prstGeom>
          <a:noFill/>
          <a:ln/>
        </p:spPr>
        <p:txBody>
          <a:bodyPr wrap="square" lIns="0" tIns="0" rIns="0" bIns="0" rtlCol="0" anchor="ctr"/>
          <a:lstStyle/>
          <a:p>
            <a:pPr marL="0" indent="0">
              <a:buNone/>
            </a:pPr>
            <a:r>
              <a:rPr lang="en-US" sz="900" dirty="0">
                <a:solidFill>
                  <a:srgbClr val="4A3A4A"/>
                </a:solidFill>
                <a:latin typeface="Calibri" pitchFamily="34" charset="0"/>
                <a:ea typeface="Calibri" pitchFamily="34" charset="-122"/>
                <a:cs typeface="Calibri" pitchFamily="34" charset="-120"/>
              </a:rPr>
              <a:t>Established BiLSTM-CRF as strong baseline for tagging. Combines past and future context with structured prediction for boundary tasks.</a:t>
            </a:r>
            <a:endParaRPr lang="en-US" sz="900" dirty="0"/>
          </a:p>
        </p:txBody>
      </p:sp>
      <p:sp>
        <p:nvSpPr>
          <p:cNvPr id="33" name="Text 30"/>
          <p:cNvSpPr/>
          <p:nvPr/>
        </p:nvSpPr>
        <p:spPr>
          <a:xfrm>
            <a:off x="5074920" y="2743200"/>
            <a:ext cx="3291840" cy="137160"/>
          </a:xfrm>
          <a:prstGeom prst="rect">
            <a:avLst/>
          </a:prstGeom>
          <a:noFill/>
          <a:ln/>
        </p:spPr>
        <p:txBody>
          <a:bodyPr wrap="square" lIns="0" tIns="0" rIns="0" bIns="0" rtlCol="0" anchor="ctr"/>
          <a:lstStyle/>
          <a:p>
            <a:pPr marL="0" indent="0">
              <a:buNone/>
            </a:pPr>
            <a:r>
              <a:rPr lang="en-US" sz="750" i="1" dirty="0">
                <a:solidFill>
                  <a:srgbClr val="8A7A8A"/>
                </a:solidFill>
                <a:latin typeface="Calibri" pitchFamily="34" charset="0"/>
                <a:ea typeface="Calibri" pitchFamily="34" charset="-122"/>
                <a:cs typeface="Calibri" pitchFamily="34" charset="-120"/>
              </a:rPr>
              <a:t>arxiv.org/abs/1508.01991</a:t>
            </a:r>
            <a:endParaRPr lang="en-US" sz="750" dirty="0"/>
          </a:p>
        </p:txBody>
      </p:sp>
      <p:sp>
        <p:nvSpPr>
          <p:cNvPr id="34" name="Shape 31"/>
          <p:cNvSpPr/>
          <p:nvPr/>
        </p:nvSpPr>
        <p:spPr>
          <a:xfrm>
            <a:off x="4937760" y="3017520"/>
            <a:ext cx="3566160" cy="713232"/>
          </a:xfrm>
          <a:prstGeom prst="rect">
            <a:avLst/>
          </a:prstGeom>
          <a:solidFill>
            <a:srgbClr val="FFFFFF"/>
          </a:solidFill>
          <a:ln/>
          <a:effectLst>
            <a:outerShdw blurRad="50800" dist="25400" dir="8100000" algn="bl" rotWithShape="0">
              <a:srgbClr val="000000">
                <a:alpha val="8000"/>
              </a:srgbClr>
            </a:outerShdw>
          </a:effectLst>
        </p:spPr>
      </p:sp>
      <p:sp>
        <p:nvSpPr>
          <p:cNvPr id="35" name="Shape 32"/>
          <p:cNvSpPr/>
          <p:nvPr/>
        </p:nvSpPr>
        <p:spPr>
          <a:xfrm>
            <a:off x="4937760" y="3017520"/>
            <a:ext cx="54864" cy="713232"/>
          </a:xfrm>
          <a:prstGeom prst="rect">
            <a:avLst/>
          </a:prstGeom>
          <a:solidFill>
            <a:srgbClr val="C75B7A"/>
          </a:solidFill>
          <a:ln/>
        </p:spPr>
      </p:sp>
      <p:sp>
        <p:nvSpPr>
          <p:cNvPr id="36" name="Text 33"/>
          <p:cNvSpPr/>
          <p:nvPr/>
        </p:nvSpPr>
        <p:spPr>
          <a:xfrm>
            <a:off x="5074920" y="3044952"/>
            <a:ext cx="2377440" cy="182880"/>
          </a:xfrm>
          <a:prstGeom prst="rect">
            <a:avLst/>
          </a:prstGeom>
          <a:noFill/>
          <a:ln/>
        </p:spPr>
        <p:txBody>
          <a:bodyPr wrap="square" lIns="0" tIns="0" rIns="0" bIns="0" rtlCol="0" anchor="ctr"/>
          <a:lstStyle/>
          <a:p>
            <a:pPr marL="0" indent="0">
              <a:buNone/>
            </a:pPr>
            <a:r>
              <a:rPr lang="en-US" sz="1050" b="1" dirty="0">
                <a:solidFill>
                  <a:srgbClr val="2E1A2E"/>
                </a:solidFill>
                <a:latin typeface="Calibri" pitchFamily="34" charset="0"/>
                <a:ea typeface="Calibri" pitchFamily="34" charset="-122"/>
                <a:cs typeface="Calibri" pitchFamily="34" charset="-120"/>
              </a:rPr>
              <a:t>Character-Aware Neural LMs</a:t>
            </a:r>
            <a:endParaRPr lang="en-US" sz="1050" dirty="0"/>
          </a:p>
        </p:txBody>
      </p:sp>
      <p:sp>
        <p:nvSpPr>
          <p:cNvPr id="37" name="Text 34"/>
          <p:cNvSpPr/>
          <p:nvPr/>
        </p:nvSpPr>
        <p:spPr>
          <a:xfrm>
            <a:off x="7498080" y="3044952"/>
            <a:ext cx="914400" cy="182880"/>
          </a:xfrm>
          <a:prstGeom prst="rect">
            <a:avLst/>
          </a:prstGeom>
          <a:noFill/>
          <a:ln/>
        </p:spPr>
        <p:txBody>
          <a:bodyPr wrap="square" lIns="0" tIns="0" rIns="0" bIns="0" rtlCol="0" anchor="ctr"/>
          <a:lstStyle/>
          <a:p>
            <a:pPr marL="0" indent="0" algn="r">
              <a:buNone/>
            </a:pPr>
            <a:r>
              <a:rPr lang="en-US" sz="850" b="1" dirty="0">
                <a:solidFill>
                  <a:srgbClr val="C75B7A"/>
                </a:solidFill>
                <a:latin typeface="Calibri" pitchFamily="34" charset="0"/>
                <a:ea typeface="Calibri" pitchFamily="34" charset="-122"/>
                <a:cs typeface="Calibri" pitchFamily="34" charset="-120"/>
              </a:rPr>
              <a:t>AAAI 2016</a:t>
            </a:r>
            <a:endParaRPr lang="en-US" sz="850" dirty="0"/>
          </a:p>
        </p:txBody>
      </p:sp>
      <p:sp>
        <p:nvSpPr>
          <p:cNvPr id="38" name="Text 35"/>
          <p:cNvSpPr/>
          <p:nvPr/>
        </p:nvSpPr>
        <p:spPr>
          <a:xfrm>
            <a:off x="5074920" y="3246120"/>
            <a:ext cx="3291840" cy="320040"/>
          </a:xfrm>
          <a:prstGeom prst="rect">
            <a:avLst/>
          </a:prstGeom>
          <a:noFill/>
          <a:ln/>
        </p:spPr>
        <p:txBody>
          <a:bodyPr wrap="square" lIns="0" tIns="0" rIns="0" bIns="0" rtlCol="0" anchor="ctr"/>
          <a:lstStyle/>
          <a:p>
            <a:pPr marL="0" indent="0">
              <a:buNone/>
            </a:pPr>
            <a:r>
              <a:rPr lang="en-US" sz="900" dirty="0">
                <a:solidFill>
                  <a:srgbClr val="4A3A4A"/>
                </a:solidFill>
                <a:latin typeface="Calibri" pitchFamily="34" charset="0"/>
                <a:ea typeface="Calibri" pitchFamily="34" charset="-122"/>
                <a:cs typeface="Calibri" pitchFamily="34" charset="-120"/>
              </a:rPr>
              <a:t>Introduced character-level representations showing subword info improves handling of rare and morphologically complex words.</a:t>
            </a:r>
            <a:endParaRPr lang="en-US" sz="900" dirty="0"/>
          </a:p>
        </p:txBody>
      </p:sp>
      <p:sp>
        <p:nvSpPr>
          <p:cNvPr id="39" name="Text 36"/>
          <p:cNvSpPr/>
          <p:nvPr/>
        </p:nvSpPr>
        <p:spPr>
          <a:xfrm>
            <a:off x="5074920" y="3566160"/>
            <a:ext cx="3291840" cy="137160"/>
          </a:xfrm>
          <a:prstGeom prst="rect">
            <a:avLst/>
          </a:prstGeom>
          <a:noFill/>
          <a:ln/>
        </p:spPr>
        <p:txBody>
          <a:bodyPr wrap="square" lIns="0" tIns="0" rIns="0" bIns="0" rtlCol="0" anchor="ctr"/>
          <a:lstStyle/>
          <a:p>
            <a:pPr marL="0" indent="0">
              <a:buNone/>
            </a:pPr>
            <a:r>
              <a:rPr lang="en-US" sz="750" i="1" dirty="0">
                <a:solidFill>
                  <a:srgbClr val="8A7A8A"/>
                </a:solidFill>
                <a:latin typeface="Calibri" pitchFamily="34" charset="0"/>
                <a:ea typeface="Calibri" pitchFamily="34" charset="-122"/>
                <a:cs typeface="Calibri" pitchFamily="34" charset="-120"/>
              </a:rPr>
              <a:t>arxiv.org/abs/1508.06615</a:t>
            </a:r>
            <a:endParaRPr lang="en-US" sz="750" dirty="0"/>
          </a:p>
        </p:txBody>
      </p:sp>
      <p:sp>
        <p:nvSpPr>
          <p:cNvPr id="40" name="Shape 37"/>
          <p:cNvSpPr/>
          <p:nvPr/>
        </p:nvSpPr>
        <p:spPr>
          <a:xfrm>
            <a:off x="4937760" y="3840480"/>
            <a:ext cx="3566160" cy="713232"/>
          </a:xfrm>
          <a:prstGeom prst="rect">
            <a:avLst/>
          </a:prstGeom>
          <a:solidFill>
            <a:srgbClr val="FFFFFF"/>
          </a:solidFill>
          <a:ln/>
          <a:effectLst>
            <a:outerShdw blurRad="50800" dist="25400" dir="8100000" algn="bl" rotWithShape="0">
              <a:srgbClr val="000000">
                <a:alpha val="8000"/>
              </a:srgbClr>
            </a:outerShdw>
          </a:effectLst>
        </p:spPr>
      </p:sp>
      <p:sp>
        <p:nvSpPr>
          <p:cNvPr id="41" name="Shape 38"/>
          <p:cNvSpPr/>
          <p:nvPr/>
        </p:nvSpPr>
        <p:spPr>
          <a:xfrm>
            <a:off x="4937760" y="3840480"/>
            <a:ext cx="54864" cy="713232"/>
          </a:xfrm>
          <a:prstGeom prst="rect">
            <a:avLst/>
          </a:prstGeom>
          <a:solidFill>
            <a:srgbClr val="C75B7A"/>
          </a:solidFill>
          <a:ln/>
        </p:spPr>
      </p:sp>
      <p:sp>
        <p:nvSpPr>
          <p:cNvPr id="42" name="Text 39"/>
          <p:cNvSpPr/>
          <p:nvPr/>
        </p:nvSpPr>
        <p:spPr>
          <a:xfrm>
            <a:off x="5074920" y="3867912"/>
            <a:ext cx="2377440" cy="182880"/>
          </a:xfrm>
          <a:prstGeom prst="rect">
            <a:avLst/>
          </a:prstGeom>
          <a:noFill/>
          <a:ln/>
        </p:spPr>
        <p:txBody>
          <a:bodyPr wrap="square" lIns="0" tIns="0" rIns="0" bIns="0" rtlCol="0" anchor="ctr"/>
          <a:lstStyle/>
          <a:p>
            <a:pPr marL="0" indent="0">
              <a:buNone/>
            </a:pPr>
            <a:r>
              <a:rPr lang="en-US" sz="1050" b="1" dirty="0">
                <a:solidFill>
                  <a:srgbClr val="2E1A2E"/>
                </a:solidFill>
                <a:latin typeface="Calibri" pitchFamily="34" charset="0"/>
                <a:ea typeface="Calibri" pitchFamily="34" charset="-122"/>
                <a:cs typeface="Calibri" pitchFamily="34" charset="-120"/>
              </a:rPr>
              <a:t>CRFs for Sequence Data</a:t>
            </a:r>
            <a:endParaRPr lang="en-US" sz="1050" dirty="0"/>
          </a:p>
        </p:txBody>
      </p:sp>
      <p:sp>
        <p:nvSpPr>
          <p:cNvPr id="43" name="Text 40"/>
          <p:cNvSpPr/>
          <p:nvPr/>
        </p:nvSpPr>
        <p:spPr>
          <a:xfrm>
            <a:off x="7498080" y="3867912"/>
            <a:ext cx="914400" cy="182880"/>
          </a:xfrm>
          <a:prstGeom prst="rect">
            <a:avLst/>
          </a:prstGeom>
          <a:noFill/>
          <a:ln/>
        </p:spPr>
        <p:txBody>
          <a:bodyPr wrap="square" lIns="0" tIns="0" rIns="0" bIns="0" rtlCol="0" anchor="ctr"/>
          <a:lstStyle/>
          <a:p>
            <a:pPr marL="0" indent="0" algn="r">
              <a:buNone/>
            </a:pPr>
            <a:r>
              <a:rPr lang="en-US" sz="850" b="1" dirty="0">
                <a:solidFill>
                  <a:srgbClr val="C75B7A"/>
                </a:solidFill>
                <a:latin typeface="Calibri" pitchFamily="34" charset="0"/>
                <a:ea typeface="Calibri" pitchFamily="34" charset="-122"/>
                <a:cs typeface="Calibri" pitchFamily="34" charset="-120"/>
              </a:rPr>
              <a:t>UPenn 2001</a:t>
            </a:r>
            <a:endParaRPr lang="en-US" sz="850" dirty="0"/>
          </a:p>
        </p:txBody>
      </p:sp>
      <p:sp>
        <p:nvSpPr>
          <p:cNvPr id="44" name="Text 41"/>
          <p:cNvSpPr/>
          <p:nvPr/>
        </p:nvSpPr>
        <p:spPr>
          <a:xfrm>
            <a:off x="5074920" y="4069080"/>
            <a:ext cx="3291840" cy="320040"/>
          </a:xfrm>
          <a:prstGeom prst="rect">
            <a:avLst/>
          </a:prstGeom>
          <a:noFill/>
          <a:ln/>
        </p:spPr>
        <p:txBody>
          <a:bodyPr wrap="square" lIns="0" tIns="0" rIns="0" bIns="0" rtlCol="0" anchor="ctr"/>
          <a:lstStyle/>
          <a:p>
            <a:pPr marL="0" indent="0">
              <a:buNone/>
            </a:pPr>
            <a:r>
              <a:rPr lang="en-US" sz="900" dirty="0">
                <a:solidFill>
                  <a:srgbClr val="4A3A4A"/>
                </a:solidFill>
                <a:latin typeface="Calibri" pitchFamily="34" charset="0"/>
                <a:ea typeface="Calibri" pitchFamily="34" charset="-122"/>
                <a:cs typeface="Calibri" pitchFamily="34" charset="-120"/>
              </a:rPr>
              <a:t>Foundational CRF paper for sequence labeling. Shows combining overlapping features (POS, n-grams) improves prediction accuracy.</a:t>
            </a:r>
            <a:endParaRPr lang="en-US" sz="900" dirty="0"/>
          </a:p>
        </p:txBody>
      </p:sp>
      <p:sp>
        <p:nvSpPr>
          <p:cNvPr id="45" name="Text 42"/>
          <p:cNvSpPr/>
          <p:nvPr/>
        </p:nvSpPr>
        <p:spPr>
          <a:xfrm>
            <a:off x="5074920" y="4389120"/>
            <a:ext cx="3291840" cy="137160"/>
          </a:xfrm>
          <a:prstGeom prst="rect">
            <a:avLst/>
          </a:prstGeom>
          <a:noFill/>
          <a:ln/>
        </p:spPr>
        <p:txBody>
          <a:bodyPr wrap="square" lIns="0" tIns="0" rIns="0" bIns="0" rtlCol="0" anchor="ctr"/>
          <a:lstStyle/>
          <a:p>
            <a:pPr marL="0" indent="0">
              <a:buNone/>
            </a:pPr>
            <a:r>
              <a:rPr lang="en-US" sz="750" i="1" dirty="0">
                <a:solidFill>
                  <a:srgbClr val="8A7A8A"/>
                </a:solidFill>
                <a:latin typeface="Calibri" pitchFamily="34" charset="0"/>
                <a:ea typeface="Calibri" pitchFamily="34" charset="-122"/>
                <a:cs typeface="Calibri" pitchFamily="34" charset="-120"/>
              </a:rPr>
              <a:t>repository.upenn.edu/cis_papers/159</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A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0392B"/>
          </a:solidFill>
          <a:ln/>
        </p:spPr>
      </p:sp>
      <p:pic>
        <p:nvPicPr>
          <p:cNvPr id="3" name="Image 0" descr="preencoded.png"/>
          <p:cNvPicPr>
            <a:picLocks noChangeAspect="1"/>
          </p:cNvPicPr>
          <p:nvPr/>
        </p:nvPicPr>
        <p:blipFill>
          <a:blip r:embed="rId3"/>
          <a:stretch>
            <a:fillRect/>
          </a:stretch>
        </p:blipFill>
        <p:spPr>
          <a:xfrm>
            <a:off x="731520" y="274320"/>
            <a:ext cx="320040" cy="320040"/>
          </a:xfrm>
          <a:prstGeom prst="rect">
            <a:avLst/>
          </a:prstGeom>
        </p:spPr>
      </p:pic>
      <p:sp>
        <p:nvSpPr>
          <p:cNvPr id="4" name="Text 1"/>
          <p:cNvSpPr/>
          <p:nvPr/>
        </p:nvSpPr>
        <p:spPr>
          <a:xfrm>
            <a:off x="1143000" y="228600"/>
            <a:ext cx="7498080" cy="411480"/>
          </a:xfrm>
          <a:prstGeom prst="rect">
            <a:avLst/>
          </a:prstGeom>
          <a:noFill/>
          <a:ln/>
        </p:spPr>
        <p:txBody>
          <a:bodyPr wrap="square" lIns="0" tIns="0" rIns="0" bIns="0" rtlCol="0" anchor="ctr"/>
          <a:lstStyle/>
          <a:p>
            <a:pPr marL="0" indent="0">
              <a:buNone/>
            </a:pPr>
            <a:r>
              <a:rPr lang="en-US" sz="2500" b="1" dirty="0">
                <a:solidFill>
                  <a:srgbClr val="2E1A2E"/>
                </a:solidFill>
                <a:latin typeface="Georgia" pitchFamily="34" charset="0"/>
                <a:ea typeface="Georgia" pitchFamily="34" charset="-122"/>
                <a:cs typeface="Georgia" pitchFamily="34" charset="-120"/>
              </a:rPr>
              <a:t>Limitations of Existing Approaches</a:t>
            </a:r>
            <a:endParaRPr lang="en-US" sz="2500" dirty="0"/>
          </a:p>
        </p:txBody>
      </p:sp>
      <p:sp>
        <p:nvSpPr>
          <p:cNvPr id="5" name="Text 2"/>
          <p:cNvSpPr/>
          <p:nvPr/>
        </p:nvSpPr>
        <p:spPr>
          <a:xfrm>
            <a:off x="731520" y="685800"/>
            <a:ext cx="7315200" cy="274320"/>
          </a:xfrm>
          <a:prstGeom prst="rect">
            <a:avLst/>
          </a:prstGeom>
          <a:noFill/>
          <a:ln/>
        </p:spPr>
        <p:txBody>
          <a:bodyPr wrap="square" lIns="0" tIns="0" rIns="0" bIns="0" rtlCol="0" anchor="ctr"/>
          <a:lstStyle/>
          <a:p>
            <a:pPr marL="0" indent="0">
              <a:buNone/>
            </a:pPr>
            <a:r>
              <a:rPr lang="en-US" sz="1300" dirty="0">
                <a:solidFill>
                  <a:srgbClr val="8A7A8A"/>
                </a:solidFill>
                <a:latin typeface="Calibri" pitchFamily="34" charset="0"/>
                <a:ea typeface="Calibri" pitchFamily="34" charset="-122"/>
                <a:cs typeface="Calibri" pitchFamily="34" charset="-120"/>
              </a:rPr>
              <a:t>Six key weaknesses that motivated our design choices</a:t>
            </a:r>
            <a:endParaRPr lang="en-US" sz="1300" dirty="0"/>
          </a:p>
        </p:txBody>
      </p:sp>
      <p:sp>
        <p:nvSpPr>
          <p:cNvPr id="6" name="Shape 3"/>
          <p:cNvSpPr/>
          <p:nvPr/>
        </p:nvSpPr>
        <p:spPr>
          <a:xfrm>
            <a:off x="731520" y="1051560"/>
            <a:ext cx="3657600" cy="1051560"/>
          </a:xfrm>
          <a:prstGeom prst="rect">
            <a:avLst/>
          </a:prstGeom>
          <a:solidFill>
            <a:srgbClr val="FFFFFF"/>
          </a:solidFill>
          <a:ln/>
          <a:effectLst>
            <a:outerShdw blurRad="50800" dist="25400" dir="8100000" algn="bl" rotWithShape="0">
              <a:srgbClr val="000000">
                <a:alpha val="8000"/>
              </a:srgbClr>
            </a:outerShdw>
          </a:effectLst>
        </p:spPr>
      </p:sp>
      <p:sp>
        <p:nvSpPr>
          <p:cNvPr id="7" name="Shape 4"/>
          <p:cNvSpPr/>
          <p:nvPr/>
        </p:nvSpPr>
        <p:spPr>
          <a:xfrm>
            <a:off x="731520" y="1051560"/>
            <a:ext cx="64008" cy="1051560"/>
          </a:xfrm>
          <a:prstGeom prst="rect">
            <a:avLst/>
          </a:prstGeom>
          <a:solidFill>
            <a:srgbClr val="C75B7A"/>
          </a:solidFill>
          <a:ln/>
        </p:spPr>
      </p:sp>
      <p:sp>
        <p:nvSpPr>
          <p:cNvPr id="8" name="Text 5"/>
          <p:cNvSpPr/>
          <p:nvPr/>
        </p:nvSpPr>
        <p:spPr>
          <a:xfrm>
            <a:off x="914400" y="1097280"/>
            <a:ext cx="3291840" cy="201168"/>
          </a:xfrm>
          <a:prstGeom prst="rect">
            <a:avLst/>
          </a:prstGeom>
          <a:noFill/>
          <a:ln/>
        </p:spPr>
        <p:txBody>
          <a:bodyPr wrap="square" lIns="0" tIns="0" rIns="0" bIns="0" rtlCol="0" anchor="ctr"/>
          <a:lstStyle/>
          <a:p>
            <a:pPr marL="0" indent="0">
              <a:buNone/>
            </a:pPr>
            <a:r>
              <a:rPr lang="en-US" sz="1200" b="1" dirty="0">
                <a:solidFill>
                  <a:srgbClr val="2E1A2E"/>
                </a:solidFill>
                <a:latin typeface="Calibri" pitchFamily="34" charset="0"/>
                <a:ea typeface="Calibri" pitchFamily="34" charset="-122"/>
                <a:cs typeface="Calibri" pitchFamily="34" charset="-120"/>
              </a:rPr>
              <a:t>Word-Level Modeling</a:t>
            </a:r>
            <a:endParaRPr lang="en-US" sz="1200" dirty="0"/>
          </a:p>
        </p:txBody>
      </p:sp>
      <p:sp>
        <p:nvSpPr>
          <p:cNvPr id="9" name="Text 6"/>
          <p:cNvSpPr/>
          <p:nvPr/>
        </p:nvSpPr>
        <p:spPr>
          <a:xfrm>
            <a:off x="914400" y="1325880"/>
            <a:ext cx="3291840" cy="457200"/>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Traditional approaches treat tokens as atomic units, missing fine-grained morphological structures like clitic attachment where multiple elements are fused into one surface form.</a:t>
            </a:r>
            <a:endParaRPr lang="en-US" sz="950" dirty="0"/>
          </a:p>
        </p:txBody>
      </p:sp>
      <p:sp>
        <p:nvSpPr>
          <p:cNvPr id="10" name="Text 7"/>
          <p:cNvSpPr/>
          <p:nvPr/>
        </p:nvSpPr>
        <p:spPr>
          <a:xfrm>
            <a:off x="914400" y="1828800"/>
            <a:ext cx="3291840" cy="201168"/>
          </a:xfrm>
          <a:prstGeom prst="rect">
            <a:avLst/>
          </a:prstGeom>
          <a:noFill/>
          <a:ln/>
        </p:spPr>
        <p:txBody>
          <a:bodyPr wrap="square" lIns="0" tIns="0" rIns="0" bIns="0" rtlCol="0" anchor="ctr"/>
          <a:lstStyle/>
          <a:p>
            <a:pPr marL="0" indent="0">
              <a:buNone/>
            </a:pPr>
            <a:r>
              <a:rPr lang="en-US" sz="950" b="1" i="1" dirty="0">
                <a:solidFill>
                  <a:srgbClr val="C75B7A"/>
                </a:solidFill>
                <a:latin typeface="Calibri" pitchFamily="34" charset="0"/>
                <a:ea typeface="Calibri" pitchFamily="34" charset="-122"/>
                <a:cs typeface="Calibri" pitchFamily="34" charset="-120"/>
              </a:rPr>
              <a:t>Our fix: Character BIO tagging</a:t>
            </a:r>
            <a:endParaRPr lang="en-US" sz="950" dirty="0"/>
          </a:p>
        </p:txBody>
      </p:sp>
      <p:sp>
        <p:nvSpPr>
          <p:cNvPr id="11" name="Shape 8"/>
          <p:cNvSpPr/>
          <p:nvPr/>
        </p:nvSpPr>
        <p:spPr>
          <a:xfrm>
            <a:off x="4754880" y="1051560"/>
            <a:ext cx="3657600" cy="1051560"/>
          </a:xfrm>
          <a:prstGeom prst="rect">
            <a:avLst/>
          </a:prstGeom>
          <a:solidFill>
            <a:srgbClr val="FFFFFF"/>
          </a:solidFill>
          <a:ln/>
          <a:effectLst>
            <a:outerShdw blurRad="50800" dist="25400" dir="8100000" algn="bl" rotWithShape="0">
              <a:srgbClr val="000000">
                <a:alpha val="8000"/>
              </a:srgbClr>
            </a:outerShdw>
          </a:effectLst>
        </p:spPr>
      </p:sp>
      <p:sp>
        <p:nvSpPr>
          <p:cNvPr id="12" name="Shape 9"/>
          <p:cNvSpPr/>
          <p:nvPr/>
        </p:nvSpPr>
        <p:spPr>
          <a:xfrm>
            <a:off x="4754880" y="1051560"/>
            <a:ext cx="64008" cy="1051560"/>
          </a:xfrm>
          <a:prstGeom prst="rect">
            <a:avLst/>
          </a:prstGeom>
          <a:solidFill>
            <a:srgbClr val="3A6A9A"/>
          </a:solidFill>
          <a:ln/>
        </p:spPr>
      </p:sp>
      <p:sp>
        <p:nvSpPr>
          <p:cNvPr id="13" name="Text 10"/>
          <p:cNvSpPr/>
          <p:nvPr/>
        </p:nvSpPr>
        <p:spPr>
          <a:xfrm>
            <a:off x="4937760" y="1097280"/>
            <a:ext cx="3291840" cy="201168"/>
          </a:xfrm>
          <a:prstGeom prst="rect">
            <a:avLst/>
          </a:prstGeom>
          <a:noFill/>
          <a:ln/>
        </p:spPr>
        <p:txBody>
          <a:bodyPr wrap="square" lIns="0" tIns="0" rIns="0" bIns="0" rtlCol="0" anchor="ctr"/>
          <a:lstStyle/>
          <a:p>
            <a:pPr marL="0" indent="0">
              <a:buNone/>
            </a:pPr>
            <a:r>
              <a:rPr lang="en-US" sz="1200" b="1" dirty="0">
                <a:solidFill>
                  <a:srgbClr val="2E1A2E"/>
                </a:solidFill>
                <a:latin typeface="Calibri" pitchFamily="34" charset="0"/>
                <a:ea typeface="Calibri" pitchFamily="34" charset="-122"/>
                <a:cs typeface="Calibri" pitchFamily="34" charset="-120"/>
              </a:rPr>
              <a:t>Exact String Matching Eval</a:t>
            </a:r>
            <a:endParaRPr lang="en-US" sz="1200" dirty="0"/>
          </a:p>
        </p:txBody>
      </p:sp>
      <p:sp>
        <p:nvSpPr>
          <p:cNvPr id="14" name="Text 11"/>
          <p:cNvSpPr/>
          <p:nvPr/>
        </p:nvSpPr>
        <p:spPr>
          <a:xfrm>
            <a:off x="4937760" y="1325880"/>
            <a:ext cx="3291840" cy="457200"/>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Prior work uses exact match or token-level accuracy. Minor orthographic differences get heavily penalized and correct boundaries may still count as incorrect.</a:t>
            </a:r>
            <a:endParaRPr lang="en-US" sz="950" dirty="0"/>
          </a:p>
        </p:txBody>
      </p:sp>
      <p:sp>
        <p:nvSpPr>
          <p:cNvPr id="15" name="Text 12"/>
          <p:cNvSpPr/>
          <p:nvPr/>
        </p:nvSpPr>
        <p:spPr>
          <a:xfrm>
            <a:off x="4937760" y="1828800"/>
            <a:ext cx="3291840" cy="201168"/>
          </a:xfrm>
          <a:prstGeom prst="rect">
            <a:avLst/>
          </a:prstGeom>
          <a:noFill/>
          <a:ln/>
        </p:spPr>
        <p:txBody>
          <a:bodyPr wrap="square" lIns="0" tIns="0" rIns="0" bIns="0" rtlCol="0" anchor="ctr"/>
          <a:lstStyle/>
          <a:p>
            <a:pPr marL="0" indent="0">
              <a:buNone/>
            </a:pPr>
            <a:r>
              <a:rPr lang="en-US" sz="950" b="1" i="1" dirty="0">
                <a:solidFill>
                  <a:srgbClr val="3A6A9A"/>
                </a:solidFill>
                <a:latin typeface="Calibri" pitchFamily="34" charset="0"/>
                <a:ea typeface="Calibri" pitchFamily="34" charset="-122"/>
                <a:cs typeface="Calibri" pitchFamily="34" charset="-120"/>
              </a:rPr>
              <a:t>Our fix: Boundary F1 metric</a:t>
            </a:r>
            <a:endParaRPr lang="en-US" sz="950" dirty="0"/>
          </a:p>
        </p:txBody>
      </p:sp>
      <p:sp>
        <p:nvSpPr>
          <p:cNvPr id="16" name="Shape 13"/>
          <p:cNvSpPr/>
          <p:nvPr/>
        </p:nvSpPr>
        <p:spPr>
          <a:xfrm>
            <a:off x="731520" y="2286000"/>
            <a:ext cx="3657600" cy="1051560"/>
          </a:xfrm>
          <a:prstGeom prst="rect">
            <a:avLst/>
          </a:prstGeom>
          <a:solidFill>
            <a:srgbClr val="FFFFFF"/>
          </a:solidFill>
          <a:ln/>
          <a:effectLst>
            <a:outerShdw blurRad="50800" dist="25400" dir="8100000" algn="bl" rotWithShape="0">
              <a:srgbClr val="000000">
                <a:alpha val="8000"/>
              </a:srgbClr>
            </a:outerShdw>
          </a:effectLst>
        </p:spPr>
      </p:sp>
      <p:sp>
        <p:nvSpPr>
          <p:cNvPr id="17" name="Shape 14"/>
          <p:cNvSpPr/>
          <p:nvPr/>
        </p:nvSpPr>
        <p:spPr>
          <a:xfrm>
            <a:off x="731520" y="2286000"/>
            <a:ext cx="64008" cy="1051560"/>
          </a:xfrm>
          <a:prstGeom prst="rect">
            <a:avLst/>
          </a:prstGeom>
          <a:solidFill>
            <a:srgbClr val="2A8A7A"/>
          </a:solidFill>
          <a:ln/>
        </p:spPr>
      </p:sp>
      <p:sp>
        <p:nvSpPr>
          <p:cNvPr id="18" name="Text 15"/>
          <p:cNvSpPr/>
          <p:nvPr/>
        </p:nvSpPr>
        <p:spPr>
          <a:xfrm>
            <a:off x="914400" y="2331720"/>
            <a:ext cx="3291840" cy="201168"/>
          </a:xfrm>
          <a:prstGeom prst="rect">
            <a:avLst/>
          </a:prstGeom>
          <a:noFill/>
          <a:ln/>
        </p:spPr>
        <p:txBody>
          <a:bodyPr wrap="square" lIns="0" tIns="0" rIns="0" bIns="0" rtlCol="0" anchor="ctr"/>
          <a:lstStyle/>
          <a:p>
            <a:pPr marL="0" indent="0">
              <a:buNone/>
            </a:pPr>
            <a:r>
              <a:rPr lang="en-US" sz="1200" b="1" dirty="0">
                <a:solidFill>
                  <a:srgbClr val="2E1A2E"/>
                </a:solidFill>
                <a:latin typeface="Calibri" pitchFamily="34" charset="0"/>
                <a:ea typeface="Calibri" pitchFamily="34" charset="-122"/>
                <a:cs typeface="Calibri" pitchFamily="34" charset="-120"/>
              </a:rPr>
              <a:t>Monolingual-Only Evaluation</a:t>
            </a:r>
            <a:endParaRPr lang="en-US" sz="1200" dirty="0"/>
          </a:p>
        </p:txBody>
      </p:sp>
      <p:sp>
        <p:nvSpPr>
          <p:cNvPr id="19" name="Text 16"/>
          <p:cNvSpPr/>
          <p:nvPr/>
        </p:nvSpPr>
        <p:spPr>
          <a:xfrm>
            <a:off x="914400" y="2560320"/>
            <a:ext cx="3291840" cy="457200"/>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Most studies only evaluate within a single language, leading to overfitting to language-specific patterns and limited understanding of model generalization.</a:t>
            </a:r>
            <a:endParaRPr lang="en-US" sz="950" dirty="0"/>
          </a:p>
        </p:txBody>
      </p:sp>
      <p:sp>
        <p:nvSpPr>
          <p:cNvPr id="20" name="Text 17"/>
          <p:cNvSpPr/>
          <p:nvPr/>
        </p:nvSpPr>
        <p:spPr>
          <a:xfrm>
            <a:off x="914400" y="3063240"/>
            <a:ext cx="3291840" cy="201168"/>
          </a:xfrm>
          <a:prstGeom prst="rect">
            <a:avLst/>
          </a:prstGeom>
          <a:noFill/>
          <a:ln/>
        </p:spPr>
        <p:txBody>
          <a:bodyPr wrap="square" lIns="0" tIns="0" rIns="0" bIns="0" rtlCol="0" anchor="ctr"/>
          <a:lstStyle/>
          <a:p>
            <a:pPr marL="0" indent="0">
              <a:buNone/>
            </a:pPr>
            <a:r>
              <a:rPr lang="en-US" sz="950" b="1" i="1" dirty="0">
                <a:solidFill>
                  <a:srgbClr val="2A8A7A"/>
                </a:solidFill>
                <a:latin typeface="Calibri" pitchFamily="34" charset="0"/>
                <a:ea typeface="Calibri" pitchFamily="34" charset="-122"/>
                <a:cs typeface="Calibri" pitchFamily="34" charset="-120"/>
              </a:rPr>
              <a:t>Our fix: Cross-lingual experiment</a:t>
            </a:r>
            <a:endParaRPr lang="en-US" sz="950" dirty="0"/>
          </a:p>
        </p:txBody>
      </p:sp>
      <p:sp>
        <p:nvSpPr>
          <p:cNvPr id="21" name="Shape 18"/>
          <p:cNvSpPr/>
          <p:nvPr/>
        </p:nvSpPr>
        <p:spPr>
          <a:xfrm>
            <a:off x="4754880" y="2286000"/>
            <a:ext cx="3657600" cy="1051560"/>
          </a:xfrm>
          <a:prstGeom prst="rect">
            <a:avLst/>
          </a:prstGeom>
          <a:solidFill>
            <a:srgbClr val="FFFFFF"/>
          </a:solidFill>
          <a:ln/>
          <a:effectLst>
            <a:outerShdw blurRad="50800" dist="25400" dir="8100000" algn="bl" rotWithShape="0">
              <a:srgbClr val="000000">
                <a:alpha val="8000"/>
              </a:srgbClr>
            </a:outerShdw>
          </a:effectLst>
        </p:spPr>
      </p:sp>
      <p:sp>
        <p:nvSpPr>
          <p:cNvPr id="22" name="Shape 19"/>
          <p:cNvSpPr/>
          <p:nvPr/>
        </p:nvSpPr>
        <p:spPr>
          <a:xfrm>
            <a:off x="4754880" y="2286000"/>
            <a:ext cx="64008" cy="1051560"/>
          </a:xfrm>
          <a:prstGeom prst="rect">
            <a:avLst/>
          </a:prstGeom>
          <a:solidFill>
            <a:srgbClr val="D4A03C"/>
          </a:solidFill>
          <a:ln/>
        </p:spPr>
      </p:sp>
      <p:sp>
        <p:nvSpPr>
          <p:cNvPr id="23" name="Text 20"/>
          <p:cNvSpPr/>
          <p:nvPr/>
        </p:nvSpPr>
        <p:spPr>
          <a:xfrm>
            <a:off x="4937760" y="2331720"/>
            <a:ext cx="3291840" cy="201168"/>
          </a:xfrm>
          <a:prstGeom prst="rect">
            <a:avLst/>
          </a:prstGeom>
          <a:noFill/>
          <a:ln/>
        </p:spPr>
        <p:txBody>
          <a:bodyPr wrap="square" lIns="0" tIns="0" rIns="0" bIns="0" rtlCol="0" anchor="ctr"/>
          <a:lstStyle/>
          <a:p>
            <a:pPr marL="0" indent="0">
              <a:buNone/>
            </a:pPr>
            <a:r>
              <a:rPr lang="en-US" sz="1200" b="1" dirty="0">
                <a:solidFill>
                  <a:srgbClr val="2E1A2E"/>
                </a:solidFill>
                <a:latin typeface="Calibri" pitchFamily="34" charset="0"/>
                <a:ea typeface="Calibri" pitchFamily="34" charset="-122"/>
                <a:cs typeface="Calibri" pitchFamily="34" charset="-120"/>
              </a:rPr>
              <a:t>Black-Box Complexity</a:t>
            </a:r>
            <a:endParaRPr lang="en-US" sz="1200" dirty="0"/>
          </a:p>
        </p:txBody>
      </p:sp>
      <p:sp>
        <p:nvSpPr>
          <p:cNvPr id="24" name="Text 21"/>
          <p:cNvSpPr/>
          <p:nvPr/>
        </p:nvSpPr>
        <p:spPr>
          <a:xfrm>
            <a:off x="4937760" y="2560320"/>
            <a:ext cx="3291840" cy="457200"/>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State-of-the-art BiLSTMs and Transformers achieve strong results but are computationally expensive, hard to interpret, and provide no insight into feature contributions.</a:t>
            </a:r>
            <a:endParaRPr lang="en-US" sz="950" dirty="0"/>
          </a:p>
        </p:txBody>
      </p:sp>
      <p:sp>
        <p:nvSpPr>
          <p:cNvPr id="25" name="Text 22"/>
          <p:cNvSpPr/>
          <p:nvPr/>
        </p:nvSpPr>
        <p:spPr>
          <a:xfrm>
            <a:off x="4937760" y="3063240"/>
            <a:ext cx="3291840" cy="201168"/>
          </a:xfrm>
          <a:prstGeom prst="rect">
            <a:avLst/>
          </a:prstGeom>
          <a:noFill/>
          <a:ln/>
        </p:spPr>
        <p:txBody>
          <a:bodyPr wrap="square" lIns="0" tIns="0" rIns="0" bIns="0" rtlCol="0" anchor="ctr"/>
          <a:lstStyle/>
          <a:p>
            <a:pPr marL="0" indent="0">
              <a:buNone/>
            </a:pPr>
            <a:r>
              <a:rPr lang="en-US" sz="950" b="1" i="1" dirty="0">
                <a:solidFill>
                  <a:srgbClr val="D4A03C"/>
                </a:solidFill>
                <a:latin typeface="Calibri" pitchFamily="34" charset="0"/>
                <a:ea typeface="Calibri" pitchFamily="34" charset="-122"/>
                <a:cs typeface="Calibri" pitchFamily="34" charset="-120"/>
              </a:rPr>
              <a:t>Our fix: Interpretable features</a:t>
            </a:r>
            <a:endParaRPr lang="en-US" sz="950" dirty="0"/>
          </a:p>
        </p:txBody>
      </p:sp>
      <p:sp>
        <p:nvSpPr>
          <p:cNvPr id="26" name="Shape 23"/>
          <p:cNvSpPr/>
          <p:nvPr/>
        </p:nvSpPr>
        <p:spPr>
          <a:xfrm>
            <a:off x="731520" y="3520440"/>
            <a:ext cx="3657600" cy="1051560"/>
          </a:xfrm>
          <a:prstGeom prst="rect">
            <a:avLst/>
          </a:prstGeom>
          <a:solidFill>
            <a:srgbClr val="FFFFFF"/>
          </a:solidFill>
          <a:ln/>
          <a:effectLst>
            <a:outerShdw blurRad="50800" dist="25400" dir="8100000" algn="bl" rotWithShape="0">
              <a:srgbClr val="000000">
                <a:alpha val="8000"/>
              </a:srgbClr>
            </a:outerShdw>
          </a:effectLst>
        </p:spPr>
      </p:sp>
      <p:sp>
        <p:nvSpPr>
          <p:cNvPr id="27" name="Shape 24"/>
          <p:cNvSpPr/>
          <p:nvPr/>
        </p:nvSpPr>
        <p:spPr>
          <a:xfrm>
            <a:off x="731520" y="3520440"/>
            <a:ext cx="64008" cy="1051560"/>
          </a:xfrm>
          <a:prstGeom prst="rect">
            <a:avLst/>
          </a:prstGeom>
          <a:solidFill>
            <a:srgbClr val="27AE60"/>
          </a:solidFill>
          <a:ln/>
        </p:spPr>
      </p:sp>
      <p:sp>
        <p:nvSpPr>
          <p:cNvPr id="28" name="Text 25"/>
          <p:cNvSpPr/>
          <p:nvPr/>
        </p:nvSpPr>
        <p:spPr>
          <a:xfrm>
            <a:off x="914400" y="3566160"/>
            <a:ext cx="3291840" cy="201168"/>
          </a:xfrm>
          <a:prstGeom prst="rect">
            <a:avLst/>
          </a:prstGeom>
          <a:noFill/>
          <a:ln/>
        </p:spPr>
        <p:txBody>
          <a:bodyPr wrap="square" lIns="0" tIns="0" rIns="0" bIns="0" rtlCol="0" anchor="ctr"/>
          <a:lstStyle/>
          <a:p>
            <a:pPr marL="0" indent="0">
              <a:buNone/>
            </a:pPr>
            <a:r>
              <a:rPr lang="en-US" sz="1200" b="1" dirty="0">
                <a:solidFill>
                  <a:srgbClr val="2E1A2E"/>
                </a:solidFill>
                <a:latin typeface="Calibri" pitchFamily="34" charset="0"/>
                <a:ea typeface="Calibri" pitchFamily="34" charset="-122"/>
                <a:cs typeface="Calibri" pitchFamily="34" charset="-120"/>
              </a:rPr>
              <a:t>No Feature Analysis</a:t>
            </a:r>
            <a:endParaRPr lang="en-US" sz="1200" dirty="0"/>
          </a:p>
        </p:txBody>
      </p:sp>
      <p:sp>
        <p:nvSpPr>
          <p:cNvPr id="29" name="Text 26"/>
          <p:cNvSpPr/>
          <p:nvPr/>
        </p:nvSpPr>
        <p:spPr>
          <a:xfrm>
            <a:off x="914400" y="3794760"/>
            <a:ext cx="3291840" cy="457200"/>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Prior works focus on overall accuracy without analyzing which features actually matter. No understanding of whether simpler models could perform similarly.</a:t>
            </a:r>
            <a:endParaRPr lang="en-US" sz="950" dirty="0"/>
          </a:p>
        </p:txBody>
      </p:sp>
      <p:sp>
        <p:nvSpPr>
          <p:cNvPr id="30" name="Text 27"/>
          <p:cNvSpPr/>
          <p:nvPr/>
        </p:nvSpPr>
        <p:spPr>
          <a:xfrm>
            <a:off x="914400" y="4297680"/>
            <a:ext cx="3291840" cy="201168"/>
          </a:xfrm>
          <a:prstGeom prst="rect">
            <a:avLst/>
          </a:prstGeom>
          <a:noFill/>
          <a:ln/>
        </p:spPr>
        <p:txBody>
          <a:bodyPr wrap="square" lIns="0" tIns="0" rIns="0" bIns="0" rtlCol="0" anchor="ctr"/>
          <a:lstStyle/>
          <a:p>
            <a:pPr marL="0" indent="0">
              <a:buNone/>
            </a:pPr>
            <a:r>
              <a:rPr lang="en-US" sz="950" b="1" i="1" dirty="0">
                <a:solidFill>
                  <a:srgbClr val="27AE60"/>
                </a:solidFill>
                <a:latin typeface="Calibri" pitchFamily="34" charset="0"/>
                <a:ea typeface="Calibri" pitchFamily="34" charset="-122"/>
                <a:cs typeface="Calibri" pitchFamily="34" charset="-120"/>
              </a:rPr>
              <a:t>Our fix: Ablation study</a:t>
            </a:r>
            <a:endParaRPr lang="en-US" sz="950" dirty="0"/>
          </a:p>
        </p:txBody>
      </p:sp>
      <p:sp>
        <p:nvSpPr>
          <p:cNvPr id="31" name="Shape 28"/>
          <p:cNvSpPr/>
          <p:nvPr/>
        </p:nvSpPr>
        <p:spPr>
          <a:xfrm>
            <a:off x="4754880" y="3520440"/>
            <a:ext cx="3657600" cy="1051560"/>
          </a:xfrm>
          <a:prstGeom prst="rect">
            <a:avLst/>
          </a:prstGeom>
          <a:solidFill>
            <a:srgbClr val="FFFFFF"/>
          </a:solidFill>
          <a:ln/>
          <a:effectLst>
            <a:outerShdw blurRad="50800" dist="25400" dir="8100000" algn="bl" rotWithShape="0">
              <a:srgbClr val="000000">
                <a:alpha val="8000"/>
              </a:srgbClr>
            </a:outerShdw>
          </a:effectLst>
        </p:spPr>
      </p:sp>
      <p:sp>
        <p:nvSpPr>
          <p:cNvPr id="32" name="Shape 29"/>
          <p:cNvSpPr/>
          <p:nvPr/>
        </p:nvSpPr>
        <p:spPr>
          <a:xfrm>
            <a:off x="4754880" y="3520440"/>
            <a:ext cx="64008" cy="1051560"/>
          </a:xfrm>
          <a:prstGeom prst="rect">
            <a:avLst/>
          </a:prstGeom>
          <a:solidFill>
            <a:srgbClr val="6B3A6B"/>
          </a:solidFill>
          <a:ln/>
        </p:spPr>
      </p:sp>
      <p:sp>
        <p:nvSpPr>
          <p:cNvPr id="33" name="Text 30"/>
          <p:cNvSpPr/>
          <p:nvPr/>
        </p:nvSpPr>
        <p:spPr>
          <a:xfrm>
            <a:off x="4937760" y="3566160"/>
            <a:ext cx="3291840" cy="201168"/>
          </a:xfrm>
          <a:prstGeom prst="rect">
            <a:avLst/>
          </a:prstGeom>
          <a:noFill/>
          <a:ln/>
        </p:spPr>
        <p:txBody>
          <a:bodyPr wrap="square" lIns="0" tIns="0" rIns="0" bIns="0" rtlCol="0" anchor="ctr"/>
          <a:lstStyle/>
          <a:p>
            <a:pPr marL="0" indent="0">
              <a:buNone/>
            </a:pPr>
            <a:r>
              <a:rPr lang="en-US" sz="1200" b="1" dirty="0">
                <a:solidFill>
                  <a:srgbClr val="2E1A2E"/>
                </a:solidFill>
                <a:latin typeface="Calibri" pitchFamily="34" charset="0"/>
                <a:ea typeface="Calibri" pitchFamily="34" charset="-122"/>
                <a:cs typeface="Calibri" pitchFamily="34" charset="-120"/>
              </a:rPr>
              <a:t>No Fine-Grained Error Analysis</a:t>
            </a:r>
            <a:endParaRPr lang="en-US" sz="1200" dirty="0"/>
          </a:p>
        </p:txBody>
      </p:sp>
      <p:sp>
        <p:nvSpPr>
          <p:cNvPr id="34" name="Text 31"/>
          <p:cNvSpPr/>
          <p:nvPr/>
        </p:nvSpPr>
        <p:spPr>
          <a:xfrm>
            <a:off x="4937760" y="3794760"/>
            <a:ext cx="3291840" cy="457200"/>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Aggregate metrics reported without detailed analysis of boundary errors, over/under-segmentation, or behavior on specific multi-word tokens.</a:t>
            </a:r>
            <a:endParaRPr lang="en-US" sz="950" dirty="0"/>
          </a:p>
        </p:txBody>
      </p:sp>
      <p:sp>
        <p:nvSpPr>
          <p:cNvPr id="35" name="Text 32"/>
          <p:cNvSpPr/>
          <p:nvPr/>
        </p:nvSpPr>
        <p:spPr>
          <a:xfrm>
            <a:off x="4937760" y="4297680"/>
            <a:ext cx="3291840" cy="201168"/>
          </a:xfrm>
          <a:prstGeom prst="rect">
            <a:avLst/>
          </a:prstGeom>
          <a:noFill/>
          <a:ln/>
        </p:spPr>
        <p:txBody>
          <a:bodyPr wrap="square" lIns="0" tIns="0" rIns="0" bIns="0" rtlCol="0" anchor="ctr"/>
          <a:lstStyle/>
          <a:p>
            <a:pPr marL="0" indent="0">
              <a:buNone/>
            </a:pPr>
            <a:r>
              <a:rPr lang="en-US" sz="950" b="1" i="1" dirty="0">
                <a:solidFill>
                  <a:srgbClr val="6B3A6B"/>
                </a:solidFill>
                <a:latin typeface="Calibri" pitchFamily="34" charset="0"/>
                <a:ea typeface="Calibri" pitchFamily="34" charset="-122"/>
                <a:cs typeface="Calibri" pitchFamily="34" charset="-120"/>
              </a:rPr>
              <a:t>Our fix: Detailed error analysis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A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75B7A"/>
          </a:solidFill>
          <a:ln/>
        </p:spPr>
      </p:sp>
      <p:pic>
        <p:nvPicPr>
          <p:cNvPr id="3" name="Image 0" descr="preencoded.png"/>
          <p:cNvPicPr>
            <a:picLocks noChangeAspect="1"/>
          </p:cNvPicPr>
          <p:nvPr/>
        </p:nvPicPr>
        <p:blipFill>
          <a:blip r:embed="rId3"/>
          <a:stretch>
            <a:fillRect/>
          </a:stretch>
        </p:blipFill>
        <p:spPr>
          <a:xfrm>
            <a:off x="731520" y="274320"/>
            <a:ext cx="320040" cy="320040"/>
          </a:xfrm>
          <a:prstGeom prst="rect">
            <a:avLst/>
          </a:prstGeom>
        </p:spPr>
      </p:pic>
      <p:sp>
        <p:nvSpPr>
          <p:cNvPr id="4" name="Text 1"/>
          <p:cNvSpPr/>
          <p:nvPr/>
        </p:nvSpPr>
        <p:spPr>
          <a:xfrm>
            <a:off x="1143000" y="228600"/>
            <a:ext cx="7315200" cy="411480"/>
          </a:xfrm>
          <a:prstGeom prst="rect">
            <a:avLst/>
          </a:prstGeom>
          <a:noFill/>
          <a:ln/>
        </p:spPr>
        <p:txBody>
          <a:bodyPr wrap="square" lIns="0" tIns="0" rIns="0" bIns="0" rtlCol="0" anchor="ctr"/>
          <a:lstStyle/>
          <a:p>
            <a:pPr marL="0" indent="0">
              <a:buNone/>
            </a:pPr>
            <a:r>
              <a:rPr lang="en-US" sz="2500" b="1" dirty="0">
                <a:solidFill>
                  <a:srgbClr val="2E1A2E"/>
                </a:solidFill>
                <a:latin typeface="Georgia" pitchFamily="34" charset="0"/>
                <a:ea typeface="Georgia" pitchFamily="34" charset="-122"/>
                <a:cs typeface="Georgia" pitchFamily="34" charset="-120"/>
              </a:rPr>
              <a:t>Pipeline Architecture</a:t>
            </a:r>
            <a:endParaRPr lang="en-US" sz="2500" dirty="0"/>
          </a:p>
        </p:txBody>
      </p:sp>
      <p:sp>
        <p:nvSpPr>
          <p:cNvPr id="5" name="Text 2"/>
          <p:cNvSpPr/>
          <p:nvPr/>
        </p:nvSpPr>
        <p:spPr>
          <a:xfrm>
            <a:off x="731520" y="685800"/>
            <a:ext cx="7680960" cy="274320"/>
          </a:xfrm>
          <a:prstGeom prst="rect">
            <a:avLst/>
          </a:prstGeom>
          <a:noFill/>
          <a:ln/>
        </p:spPr>
        <p:txBody>
          <a:bodyPr wrap="square" lIns="0" tIns="0" rIns="0" bIns="0" rtlCol="0" anchor="ctr"/>
          <a:lstStyle/>
          <a:p>
            <a:pPr marL="0" indent="0">
              <a:buNone/>
            </a:pPr>
            <a:r>
              <a:rPr lang="en-US" sz="1200" dirty="0">
                <a:solidFill>
                  <a:srgbClr val="8A7A8A"/>
                </a:solidFill>
                <a:latin typeface="Calibri" pitchFamily="34" charset="0"/>
                <a:ea typeface="Calibri" pitchFamily="34" charset="-122"/>
                <a:cs typeface="Calibri" pitchFamily="34" charset="-120"/>
              </a:rPr>
              <a:t>End-to-end: UD data → character tokenization → feature extraction → BIO prediction → boundary evaluation</a:t>
            </a:r>
            <a:endParaRPr lang="en-US" sz="1200" dirty="0"/>
          </a:p>
        </p:txBody>
      </p:sp>
      <p:sp>
        <p:nvSpPr>
          <p:cNvPr id="6" name="Shape 3"/>
          <p:cNvSpPr/>
          <p:nvPr/>
        </p:nvSpPr>
        <p:spPr>
          <a:xfrm>
            <a:off x="320040" y="1097280"/>
            <a:ext cx="1572768" cy="1417320"/>
          </a:xfrm>
          <a:prstGeom prst="rect">
            <a:avLst/>
          </a:prstGeom>
          <a:solidFill>
            <a:srgbClr val="6B3A6B"/>
          </a:solidFill>
          <a:ln/>
        </p:spPr>
      </p:sp>
      <p:sp>
        <p:nvSpPr>
          <p:cNvPr id="7" name="Text 4"/>
          <p:cNvSpPr/>
          <p:nvPr/>
        </p:nvSpPr>
        <p:spPr>
          <a:xfrm>
            <a:off x="320040" y="1143000"/>
            <a:ext cx="1572768"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UD Corpus</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(MWT Data)</a:t>
            </a:r>
            <a:endParaRPr lang="en-US" sz="1200" dirty="0"/>
          </a:p>
        </p:txBody>
      </p:sp>
      <p:sp>
        <p:nvSpPr>
          <p:cNvPr id="8" name="Text 5"/>
          <p:cNvSpPr/>
          <p:nvPr/>
        </p:nvSpPr>
        <p:spPr>
          <a:xfrm>
            <a:off x="374904" y="1691640"/>
            <a:ext cx="1463040" cy="777240"/>
          </a:xfrm>
          <a:prstGeom prst="rect">
            <a:avLst/>
          </a:prstGeom>
          <a:noFill/>
          <a:ln/>
        </p:spPr>
        <p:txBody>
          <a:bodyPr wrap="square" lIns="0" tIns="0" rIns="0" bIns="0" rtlCol="0" anchor="t"/>
          <a:lstStyle/>
          <a:p>
            <a:pPr marL="0" indent="0" algn="ctr">
              <a:buNone/>
            </a:pPr>
            <a:r>
              <a:rPr lang="en-US" sz="900" dirty="0">
                <a:solidFill>
                  <a:srgbClr val="E0D0E0"/>
                </a:solidFill>
                <a:latin typeface="Calibri" pitchFamily="34" charset="0"/>
                <a:ea typeface="Calibri" pitchFamily="34" charset="-122"/>
                <a:cs typeface="Calibri" pitchFamily="34" charset="-120"/>
              </a:rPr>
              <a:t>Spanish/Italian</a:t>
            </a:r>
            <a:endParaRPr lang="en-US" sz="900" dirty="0"/>
          </a:p>
          <a:p>
            <a:pPr marL="0" indent="0" algn="ctr">
              <a:buNone/>
            </a:pPr>
            <a:r>
              <a:rPr lang="en-US" sz="900" dirty="0">
                <a:solidFill>
                  <a:srgbClr val="E0D0E0"/>
                </a:solidFill>
                <a:latin typeface="Calibri" pitchFamily="34" charset="0"/>
                <a:ea typeface="Calibri" pitchFamily="34" charset="-122"/>
                <a:cs typeface="Calibri" pitchFamily="34" charset="-120"/>
              </a:rPr>
              <a:t>treebanks with</a:t>
            </a:r>
            <a:endParaRPr lang="en-US" sz="900" dirty="0"/>
          </a:p>
          <a:p>
            <a:pPr marL="0" indent="0" algn="ctr">
              <a:buNone/>
            </a:pPr>
            <a:r>
              <a:rPr lang="en-US" sz="900" dirty="0">
                <a:solidFill>
                  <a:srgbClr val="E0D0E0"/>
                </a:solidFill>
                <a:latin typeface="Calibri" pitchFamily="34" charset="0"/>
                <a:ea typeface="Calibri" pitchFamily="34" charset="-122"/>
                <a:cs typeface="Calibri" pitchFamily="34" charset="-120"/>
              </a:rPr>
              <a:t>clitic annotations</a:t>
            </a:r>
            <a:endParaRPr lang="en-US" sz="900" dirty="0"/>
          </a:p>
        </p:txBody>
      </p:sp>
      <p:pic>
        <p:nvPicPr>
          <p:cNvPr id="9" name="Image 1" descr="preencoded.png"/>
          <p:cNvPicPr>
            <a:picLocks noChangeAspect="1"/>
          </p:cNvPicPr>
          <p:nvPr/>
        </p:nvPicPr>
        <p:blipFill>
          <a:blip r:embed="rId4"/>
          <a:stretch>
            <a:fillRect/>
          </a:stretch>
        </p:blipFill>
        <p:spPr>
          <a:xfrm>
            <a:off x="1911096" y="1627632"/>
            <a:ext cx="164592" cy="164592"/>
          </a:xfrm>
          <a:prstGeom prst="rect">
            <a:avLst/>
          </a:prstGeom>
        </p:spPr>
      </p:pic>
      <p:sp>
        <p:nvSpPr>
          <p:cNvPr id="10" name="Shape 6"/>
          <p:cNvSpPr/>
          <p:nvPr/>
        </p:nvSpPr>
        <p:spPr>
          <a:xfrm>
            <a:off x="2103120" y="1097280"/>
            <a:ext cx="1572768" cy="1417320"/>
          </a:xfrm>
          <a:prstGeom prst="rect">
            <a:avLst/>
          </a:prstGeom>
          <a:solidFill>
            <a:srgbClr val="C75B7A"/>
          </a:solidFill>
          <a:ln/>
        </p:spPr>
      </p:sp>
      <p:sp>
        <p:nvSpPr>
          <p:cNvPr id="11" name="Text 7"/>
          <p:cNvSpPr/>
          <p:nvPr/>
        </p:nvSpPr>
        <p:spPr>
          <a:xfrm>
            <a:off x="2103120" y="1143000"/>
            <a:ext cx="1572768"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Character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Tokenization</a:t>
            </a:r>
            <a:endParaRPr lang="en-US" sz="1200" dirty="0"/>
          </a:p>
        </p:txBody>
      </p:sp>
      <p:sp>
        <p:nvSpPr>
          <p:cNvPr id="12" name="Text 8"/>
          <p:cNvSpPr/>
          <p:nvPr/>
        </p:nvSpPr>
        <p:spPr>
          <a:xfrm>
            <a:off x="2157984" y="1691640"/>
            <a:ext cx="1463040" cy="777240"/>
          </a:xfrm>
          <a:prstGeom prst="rect">
            <a:avLst/>
          </a:prstGeom>
          <a:noFill/>
          <a:ln/>
        </p:spPr>
        <p:txBody>
          <a:bodyPr wrap="square" lIns="0" tIns="0" rIns="0" bIns="0" rtlCol="0" anchor="t"/>
          <a:lstStyle/>
          <a:p>
            <a:pPr marL="0" indent="0" algn="ctr">
              <a:buNone/>
            </a:pPr>
            <a:r>
              <a:rPr lang="en-US" sz="900" dirty="0">
                <a:solidFill>
                  <a:srgbClr val="E0D0E0"/>
                </a:solidFill>
                <a:latin typeface="Calibri" pitchFamily="34" charset="0"/>
                <a:ea typeface="Calibri" pitchFamily="34" charset="-122"/>
                <a:cs typeface="Calibri" pitchFamily="34" charset="-120"/>
              </a:rPr>
              <a:t>Split each token</a:t>
            </a:r>
            <a:endParaRPr lang="en-US" sz="900" dirty="0"/>
          </a:p>
          <a:p>
            <a:pPr marL="0" indent="0" algn="ctr">
              <a:buNone/>
            </a:pPr>
            <a:r>
              <a:rPr lang="en-US" sz="900" dirty="0">
                <a:solidFill>
                  <a:srgbClr val="E0D0E0"/>
                </a:solidFill>
                <a:latin typeface="Calibri" pitchFamily="34" charset="0"/>
                <a:ea typeface="Calibri" pitchFamily="34" charset="-122"/>
                <a:cs typeface="Calibri" pitchFamily="34" charset="-120"/>
              </a:rPr>
              <a:t>into individual</a:t>
            </a:r>
            <a:endParaRPr lang="en-US" sz="900" dirty="0"/>
          </a:p>
          <a:p>
            <a:pPr marL="0" indent="0" algn="ctr">
              <a:buNone/>
            </a:pPr>
            <a:r>
              <a:rPr lang="en-US" sz="900" dirty="0">
                <a:solidFill>
                  <a:srgbClr val="E0D0E0"/>
                </a:solidFill>
                <a:latin typeface="Calibri" pitchFamily="34" charset="0"/>
                <a:ea typeface="Calibri" pitchFamily="34" charset="-122"/>
                <a:cs typeface="Calibri" pitchFamily="34" charset="-120"/>
              </a:rPr>
              <a:t>characters</a:t>
            </a:r>
            <a:endParaRPr lang="en-US" sz="900" dirty="0"/>
          </a:p>
        </p:txBody>
      </p:sp>
      <p:pic>
        <p:nvPicPr>
          <p:cNvPr id="13" name="Image 2" descr="preencoded.png"/>
          <p:cNvPicPr>
            <a:picLocks noChangeAspect="1"/>
          </p:cNvPicPr>
          <p:nvPr/>
        </p:nvPicPr>
        <p:blipFill>
          <a:blip r:embed="rId4"/>
          <a:stretch>
            <a:fillRect/>
          </a:stretch>
        </p:blipFill>
        <p:spPr>
          <a:xfrm>
            <a:off x="3694176" y="1627632"/>
            <a:ext cx="164592" cy="164592"/>
          </a:xfrm>
          <a:prstGeom prst="rect">
            <a:avLst/>
          </a:prstGeom>
        </p:spPr>
      </p:pic>
      <p:sp>
        <p:nvSpPr>
          <p:cNvPr id="14" name="Shape 9"/>
          <p:cNvSpPr/>
          <p:nvPr/>
        </p:nvSpPr>
        <p:spPr>
          <a:xfrm>
            <a:off x="3886200" y="1097280"/>
            <a:ext cx="1572768" cy="1417320"/>
          </a:xfrm>
          <a:prstGeom prst="rect">
            <a:avLst/>
          </a:prstGeom>
          <a:solidFill>
            <a:srgbClr val="2A8A7A"/>
          </a:solidFill>
          <a:ln/>
        </p:spPr>
      </p:sp>
      <p:sp>
        <p:nvSpPr>
          <p:cNvPr id="15" name="Text 10"/>
          <p:cNvSpPr/>
          <p:nvPr/>
        </p:nvSpPr>
        <p:spPr>
          <a:xfrm>
            <a:off x="3886200" y="1143000"/>
            <a:ext cx="1572768"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Extraction</a:t>
            </a:r>
            <a:endParaRPr lang="en-US" sz="1200" dirty="0"/>
          </a:p>
        </p:txBody>
      </p:sp>
      <p:sp>
        <p:nvSpPr>
          <p:cNvPr id="16" name="Text 11"/>
          <p:cNvSpPr/>
          <p:nvPr/>
        </p:nvSpPr>
        <p:spPr>
          <a:xfrm>
            <a:off x="3941064" y="1691640"/>
            <a:ext cx="1463040" cy="777240"/>
          </a:xfrm>
          <a:prstGeom prst="rect">
            <a:avLst/>
          </a:prstGeom>
          <a:noFill/>
          <a:ln/>
        </p:spPr>
        <p:txBody>
          <a:bodyPr wrap="square" lIns="0" tIns="0" rIns="0" bIns="0" rtlCol="0" anchor="t"/>
          <a:lstStyle/>
          <a:p>
            <a:pPr marL="0" indent="0" algn="ctr">
              <a:buNone/>
            </a:pPr>
            <a:r>
              <a:rPr lang="en-US" sz="900" dirty="0">
                <a:solidFill>
                  <a:srgbClr val="E0D0E0"/>
                </a:solidFill>
                <a:latin typeface="Calibri" pitchFamily="34" charset="0"/>
                <a:ea typeface="Calibri" pitchFamily="34" charset="-122"/>
                <a:cs typeface="Calibri" pitchFamily="34" charset="-120"/>
              </a:rPr>
              <a:t>POS tags +</a:t>
            </a:r>
            <a:endParaRPr lang="en-US" sz="900" dirty="0"/>
          </a:p>
          <a:p>
            <a:pPr marL="0" indent="0" algn="ctr">
              <a:buNone/>
            </a:pPr>
            <a:r>
              <a:rPr lang="en-US" sz="900" dirty="0">
                <a:solidFill>
                  <a:srgbClr val="E0D0E0"/>
                </a:solidFill>
                <a:latin typeface="Calibri" pitchFamily="34" charset="0"/>
                <a:ea typeface="Calibri" pitchFamily="34" charset="-122"/>
                <a:cs typeface="Calibri" pitchFamily="34" charset="-120"/>
              </a:rPr>
              <a:t>character n-grams</a:t>
            </a:r>
            <a:endParaRPr lang="en-US" sz="900" dirty="0"/>
          </a:p>
          <a:p>
            <a:pPr marL="0" indent="0" algn="ctr">
              <a:buNone/>
            </a:pPr>
            <a:r>
              <a:rPr lang="en-US" sz="900" dirty="0">
                <a:solidFill>
                  <a:srgbClr val="E0D0E0"/>
                </a:solidFill>
                <a:latin typeface="Calibri" pitchFamily="34" charset="0"/>
                <a:ea typeface="Calibri" pitchFamily="34" charset="-122"/>
                <a:cs typeface="Calibri" pitchFamily="34" charset="-120"/>
              </a:rPr>
              <a:t>per character</a:t>
            </a:r>
            <a:endParaRPr lang="en-US" sz="900" dirty="0"/>
          </a:p>
        </p:txBody>
      </p:sp>
      <p:pic>
        <p:nvPicPr>
          <p:cNvPr id="17" name="Image 3" descr="preencoded.png"/>
          <p:cNvPicPr>
            <a:picLocks noChangeAspect="1"/>
          </p:cNvPicPr>
          <p:nvPr/>
        </p:nvPicPr>
        <p:blipFill>
          <a:blip r:embed="rId4"/>
          <a:stretch>
            <a:fillRect/>
          </a:stretch>
        </p:blipFill>
        <p:spPr>
          <a:xfrm>
            <a:off x="5477256" y="1627632"/>
            <a:ext cx="164592" cy="164592"/>
          </a:xfrm>
          <a:prstGeom prst="rect">
            <a:avLst/>
          </a:prstGeom>
        </p:spPr>
      </p:pic>
      <p:sp>
        <p:nvSpPr>
          <p:cNvPr id="18" name="Shape 12"/>
          <p:cNvSpPr/>
          <p:nvPr/>
        </p:nvSpPr>
        <p:spPr>
          <a:xfrm>
            <a:off x="5669280" y="1097280"/>
            <a:ext cx="1572768" cy="1417320"/>
          </a:xfrm>
          <a:prstGeom prst="rect">
            <a:avLst/>
          </a:prstGeom>
          <a:solidFill>
            <a:srgbClr val="3A6A9A"/>
          </a:solidFill>
          <a:ln/>
        </p:spPr>
      </p:sp>
      <p:sp>
        <p:nvSpPr>
          <p:cNvPr id="19" name="Text 13"/>
          <p:cNvSpPr/>
          <p:nvPr/>
        </p:nvSpPr>
        <p:spPr>
          <a:xfrm>
            <a:off x="5669280" y="1143000"/>
            <a:ext cx="1572768"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BIO</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Prediction</a:t>
            </a:r>
            <a:endParaRPr lang="en-US" sz="1200" dirty="0"/>
          </a:p>
        </p:txBody>
      </p:sp>
      <p:sp>
        <p:nvSpPr>
          <p:cNvPr id="20" name="Text 14"/>
          <p:cNvSpPr/>
          <p:nvPr/>
        </p:nvSpPr>
        <p:spPr>
          <a:xfrm>
            <a:off x="5724144" y="1691640"/>
            <a:ext cx="1463040" cy="777240"/>
          </a:xfrm>
          <a:prstGeom prst="rect">
            <a:avLst/>
          </a:prstGeom>
          <a:noFill/>
          <a:ln/>
        </p:spPr>
        <p:txBody>
          <a:bodyPr wrap="square" lIns="0" tIns="0" rIns="0" bIns="0" rtlCol="0" anchor="t"/>
          <a:lstStyle/>
          <a:p>
            <a:pPr marL="0" indent="0" algn="ctr">
              <a:buNone/>
            </a:pPr>
            <a:r>
              <a:rPr lang="en-US" sz="900" dirty="0">
                <a:solidFill>
                  <a:srgbClr val="E0D0E0"/>
                </a:solidFill>
                <a:latin typeface="Calibri" pitchFamily="34" charset="0"/>
                <a:ea typeface="Calibri" pitchFamily="34" charset="-122"/>
                <a:cs typeface="Calibri" pitchFamily="34" charset="-120"/>
              </a:rPr>
              <a:t>Sequence labeler</a:t>
            </a:r>
            <a:endParaRPr lang="en-US" sz="900" dirty="0"/>
          </a:p>
          <a:p>
            <a:pPr marL="0" indent="0" algn="ctr">
              <a:buNone/>
            </a:pPr>
            <a:r>
              <a:rPr lang="en-US" sz="900" dirty="0">
                <a:solidFill>
                  <a:srgbClr val="E0D0E0"/>
                </a:solidFill>
                <a:latin typeface="Calibri" pitchFamily="34" charset="0"/>
                <a:ea typeface="Calibri" pitchFamily="34" charset="-122"/>
                <a:cs typeface="Calibri" pitchFamily="34" charset="-120"/>
              </a:rPr>
              <a:t>assigns B/I/O</a:t>
            </a:r>
            <a:endParaRPr lang="en-US" sz="900" dirty="0"/>
          </a:p>
          <a:p>
            <a:pPr marL="0" indent="0" algn="ctr">
              <a:buNone/>
            </a:pPr>
            <a:r>
              <a:rPr lang="en-US" sz="900" dirty="0">
                <a:solidFill>
                  <a:srgbClr val="E0D0E0"/>
                </a:solidFill>
                <a:latin typeface="Calibri" pitchFamily="34" charset="0"/>
                <a:ea typeface="Calibri" pitchFamily="34" charset="-122"/>
                <a:cs typeface="Calibri" pitchFamily="34" charset="-120"/>
              </a:rPr>
              <a:t>to each char</a:t>
            </a:r>
            <a:endParaRPr lang="en-US" sz="900" dirty="0"/>
          </a:p>
        </p:txBody>
      </p:sp>
      <p:pic>
        <p:nvPicPr>
          <p:cNvPr id="21" name="Image 4" descr="preencoded.png"/>
          <p:cNvPicPr>
            <a:picLocks noChangeAspect="1"/>
          </p:cNvPicPr>
          <p:nvPr/>
        </p:nvPicPr>
        <p:blipFill>
          <a:blip r:embed="rId4"/>
          <a:stretch>
            <a:fillRect/>
          </a:stretch>
        </p:blipFill>
        <p:spPr>
          <a:xfrm>
            <a:off x="7260336" y="1627632"/>
            <a:ext cx="164592" cy="164592"/>
          </a:xfrm>
          <a:prstGeom prst="rect">
            <a:avLst/>
          </a:prstGeom>
        </p:spPr>
      </p:pic>
      <p:sp>
        <p:nvSpPr>
          <p:cNvPr id="22" name="Shape 15"/>
          <p:cNvSpPr/>
          <p:nvPr/>
        </p:nvSpPr>
        <p:spPr>
          <a:xfrm>
            <a:off x="7452360" y="1097280"/>
            <a:ext cx="1572768" cy="1417320"/>
          </a:xfrm>
          <a:prstGeom prst="rect">
            <a:avLst/>
          </a:prstGeom>
          <a:solidFill>
            <a:srgbClr val="D4A03C"/>
          </a:solidFill>
          <a:ln/>
        </p:spPr>
      </p:sp>
      <p:sp>
        <p:nvSpPr>
          <p:cNvPr id="23" name="Text 16"/>
          <p:cNvSpPr/>
          <p:nvPr/>
        </p:nvSpPr>
        <p:spPr>
          <a:xfrm>
            <a:off x="7452360" y="1143000"/>
            <a:ext cx="1572768"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Boundary</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Evaluation</a:t>
            </a:r>
            <a:endParaRPr lang="en-US" sz="1200" dirty="0"/>
          </a:p>
        </p:txBody>
      </p:sp>
      <p:sp>
        <p:nvSpPr>
          <p:cNvPr id="24" name="Text 17"/>
          <p:cNvSpPr/>
          <p:nvPr/>
        </p:nvSpPr>
        <p:spPr>
          <a:xfrm>
            <a:off x="7507224" y="1691640"/>
            <a:ext cx="1463040" cy="777240"/>
          </a:xfrm>
          <a:prstGeom prst="rect">
            <a:avLst/>
          </a:prstGeom>
          <a:noFill/>
          <a:ln/>
        </p:spPr>
        <p:txBody>
          <a:bodyPr wrap="square" lIns="0" tIns="0" rIns="0" bIns="0" rtlCol="0" anchor="t"/>
          <a:lstStyle/>
          <a:p>
            <a:pPr marL="0" indent="0" algn="ctr">
              <a:buNone/>
            </a:pPr>
            <a:r>
              <a:rPr lang="en-US" sz="900" dirty="0">
                <a:solidFill>
                  <a:srgbClr val="E0D0E0"/>
                </a:solidFill>
                <a:latin typeface="Calibri" pitchFamily="34" charset="0"/>
                <a:ea typeface="Calibri" pitchFamily="34" charset="-122"/>
                <a:cs typeface="Calibri" pitchFamily="34" charset="-120"/>
              </a:rPr>
              <a:t>Boundary F1</a:t>
            </a:r>
            <a:endParaRPr lang="en-US" sz="900" dirty="0"/>
          </a:p>
          <a:p>
            <a:pPr marL="0" indent="0" algn="ctr">
              <a:buNone/>
            </a:pPr>
            <a:r>
              <a:rPr lang="en-US" sz="900" dirty="0">
                <a:solidFill>
                  <a:srgbClr val="E0D0E0"/>
                </a:solidFill>
                <a:latin typeface="Calibri" pitchFamily="34" charset="0"/>
                <a:ea typeface="Calibri" pitchFamily="34" charset="-122"/>
                <a:cs typeface="Calibri" pitchFamily="34" charset="-120"/>
              </a:rPr>
              <a:t>+ accuracy</a:t>
            </a:r>
            <a:endParaRPr lang="en-US" sz="900" dirty="0"/>
          </a:p>
          <a:p>
            <a:pPr marL="0" indent="0" algn="ctr">
              <a:buNone/>
            </a:pPr>
            <a:r>
              <a:rPr lang="en-US" sz="900" dirty="0">
                <a:solidFill>
                  <a:srgbClr val="E0D0E0"/>
                </a:solidFill>
                <a:latin typeface="Calibri" pitchFamily="34" charset="0"/>
                <a:ea typeface="Calibri" pitchFamily="34" charset="-122"/>
                <a:cs typeface="Calibri" pitchFamily="34" charset="-120"/>
              </a:rPr>
              <a:t>+ MWT count</a:t>
            </a:r>
            <a:endParaRPr lang="en-US" sz="900" dirty="0"/>
          </a:p>
        </p:txBody>
      </p:sp>
      <p:sp>
        <p:nvSpPr>
          <p:cNvPr id="25" name="Text 18"/>
          <p:cNvSpPr/>
          <p:nvPr/>
        </p:nvSpPr>
        <p:spPr>
          <a:xfrm>
            <a:off x="731520" y="2743200"/>
            <a:ext cx="7315200" cy="274320"/>
          </a:xfrm>
          <a:prstGeom prst="rect">
            <a:avLst/>
          </a:prstGeom>
          <a:noFill/>
          <a:ln/>
        </p:spPr>
        <p:txBody>
          <a:bodyPr wrap="square" lIns="0" tIns="0" rIns="0" bIns="0" rtlCol="0" anchor="ctr"/>
          <a:lstStyle/>
          <a:p>
            <a:pPr marL="0" indent="0">
              <a:buNone/>
            </a:pPr>
            <a:r>
              <a:rPr lang="en-US" sz="1400" b="1" dirty="0">
                <a:solidFill>
                  <a:srgbClr val="2E1A2E"/>
                </a:solidFill>
                <a:latin typeface="Calibri" pitchFamily="34" charset="0"/>
                <a:ea typeface="Calibri" pitchFamily="34" charset="-122"/>
                <a:cs typeface="Calibri" pitchFamily="34" charset="-120"/>
              </a:rPr>
              <a:t>Detailed BIO Labeling Example</a:t>
            </a:r>
            <a:endParaRPr lang="en-US" sz="1400" dirty="0"/>
          </a:p>
        </p:txBody>
      </p:sp>
      <p:sp>
        <p:nvSpPr>
          <p:cNvPr id="26" name="Shape 19"/>
          <p:cNvSpPr/>
          <p:nvPr/>
        </p:nvSpPr>
        <p:spPr>
          <a:xfrm>
            <a:off x="731520" y="3063240"/>
            <a:ext cx="7680960" cy="1371600"/>
          </a:xfrm>
          <a:prstGeom prst="rect">
            <a:avLst/>
          </a:prstGeom>
          <a:solidFill>
            <a:srgbClr val="FFFFFF"/>
          </a:solidFill>
          <a:ln/>
          <a:effectLst>
            <a:outerShdw blurRad="50800" dist="25400" dir="8100000" algn="bl" rotWithShape="0">
              <a:srgbClr val="000000">
                <a:alpha val="8000"/>
              </a:srgbClr>
            </a:outerShdw>
          </a:effectLst>
        </p:spPr>
      </p:sp>
      <p:sp>
        <p:nvSpPr>
          <p:cNvPr id="27" name="Shape 20"/>
          <p:cNvSpPr/>
          <p:nvPr/>
        </p:nvSpPr>
        <p:spPr>
          <a:xfrm>
            <a:off x="1371600" y="3200400"/>
            <a:ext cx="502920" cy="411480"/>
          </a:xfrm>
          <a:prstGeom prst="rect">
            <a:avLst/>
          </a:prstGeom>
          <a:solidFill>
            <a:srgbClr val="4A1942"/>
          </a:solidFill>
          <a:ln/>
        </p:spPr>
      </p:sp>
      <p:sp>
        <p:nvSpPr>
          <p:cNvPr id="28" name="Text 21"/>
          <p:cNvSpPr/>
          <p:nvPr/>
        </p:nvSpPr>
        <p:spPr>
          <a:xfrm>
            <a:off x="1371600" y="3200400"/>
            <a:ext cx="50292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d</a:t>
            </a:r>
            <a:endParaRPr lang="en-US" sz="2000" dirty="0"/>
          </a:p>
        </p:txBody>
      </p:sp>
      <p:sp>
        <p:nvSpPr>
          <p:cNvPr id="29" name="Text 22"/>
          <p:cNvSpPr/>
          <p:nvPr/>
        </p:nvSpPr>
        <p:spPr>
          <a:xfrm>
            <a:off x="1371600" y="3639312"/>
            <a:ext cx="502920" cy="228600"/>
          </a:xfrm>
          <a:prstGeom prst="rect">
            <a:avLst/>
          </a:prstGeom>
          <a:noFill/>
          <a:ln/>
        </p:spPr>
        <p:txBody>
          <a:bodyPr wrap="square" lIns="0" tIns="0" rIns="0" bIns="0" rtlCol="0" anchor="ctr"/>
          <a:lstStyle/>
          <a:p>
            <a:pPr marL="0" indent="0" algn="ctr">
              <a:buNone/>
            </a:pPr>
            <a:r>
              <a:rPr lang="en-US" sz="1400" dirty="0">
                <a:solidFill>
                  <a:srgbClr val="8A7A8A"/>
                </a:solidFill>
                <a:latin typeface="Calibri" pitchFamily="34" charset="0"/>
                <a:ea typeface="Calibri" pitchFamily="34" charset="-122"/>
                <a:cs typeface="Calibri" pitchFamily="34" charset="-120"/>
              </a:rPr>
              <a:t>↓</a:t>
            </a:r>
            <a:endParaRPr lang="en-US" sz="1400" dirty="0"/>
          </a:p>
        </p:txBody>
      </p:sp>
      <p:sp>
        <p:nvSpPr>
          <p:cNvPr id="30" name="Shape 23"/>
          <p:cNvSpPr/>
          <p:nvPr/>
        </p:nvSpPr>
        <p:spPr>
          <a:xfrm>
            <a:off x="1435608" y="3886200"/>
            <a:ext cx="365760" cy="365760"/>
          </a:xfrm>
          <a:prstGeom prst="ellipse">
            <a:avLst/>
          </a:prstGeom>
          <a:solidFill>
            <a:srgbClr val="C75B7A"/>
          </a:solidFill>
          <a:ln/>
        </p:spPr>
      </p:sp>
      <p:sp>
        <p:nvSpPr>
          <p:cNvPr id="31" name="Text 24"/>
          <p:cNvSpPr/>
          <p:nvPr/>
        </p:nvSpPr>
        <p:spPr>
          <a:xfrm>
            <a:off x="1435608" y="388620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B</a:t>
            </a:r>
            <a:endParaRPr lang="en-US" sz="1600" dirty="0"/>
          </a:p>
        </p:txBody>
      </p:sp>
      <p:sp>
        <p:nvSpPr>
          <p:cNvPr id="32" name="Shape 25"/>
          <p:cNvSpPr/>
          <p:nvPr/>
        </p:nvSpPr>
        <p:spPr>
          <a:xfrm>
            <a:off x="2377440" y="3200400"/>
            <a:ext cx="502920" cy="411480"/>
          </a:xfrm>
          <a:prstGeom prst="rect">
            <a:avLst/>
          </a:prstGeom>
          <a:solidFill>
            <a:srgbClr val="4A1942"/>
          </a:solidFill>
          <a:ln/>
        </p:spPr>
      </p:sp>
      <p:sp>
        <p:nvSpPr>
          <p:cNvPr id="33" name="Text 26"/>
          <p:cNvSpPr/>
          <p:nvPr/>
        </p:nvSpPr>
        <p:spPr>
          <a:xfrm>
            <a:off x="2377440" y="3200400"/>
            <a:ext cx="50292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á</a:t>
            </a:r>
            <a:endParaRPr lang="en-US" sz="2000" dirty="0"/>
          </a:p>
        </p:txBody>
      </p:sp>
      <p:sp>
        <p:nvSpPr>
          <p:cNvPr id="34" name="Text 27"/>
          <p:cNvSpPr/>
          <p:nvPr/>
        </p:nvSpPr>
        <p:spPr>
          <a:xfrm>
            <a:off x="2377440" y="3639312"/>
            <a:ext cx="502920" cy="228600"/>
          </a:xfrm>
          <a:prstGeom prst="rect">
            <a:avLst/>
          </a:prstGeom>
          <a:noFill/>
          <a:ln/>
        </p:spPr>
        <p:txBody>
          <a:bodyPr wrap="square" lIns="0" tIns="0" rIns="0" bIns="0" rtlCol="0" anchor="ctr"/>
          <a:lstStyle/>
          <a:p>
            <a:pPr marL="0" indent="0" algn="ctr">
              <a:buNone/>
            </a:pPr>
            <a:r>
              <a:rPr lang="en-US" sz="1400" dirty="0">
                <a:solidFill>
                  <a:srgbClr val="8A7A8A"/>
                </a:solidFill>
                <a:latin typeface="Calibri" pitchFamily="34" charset="0"/>
                <a:ea typeface="Calibri" pitchFamily="34" charset="-122"/>
                <a:cs typeface="Calibri" pitchFamily="34" charset="-120"/>
              </a:rPr>
              <a:t>↓</a:t>
            </a:r>
            <a:endParaRPr lang="en-US" sz="1400" dirty="0"/>
          </a:p>
        </p:txBody>
      </p:sp>
      <p:sp>
        <p:nvSpPr>
          <p:cNvPr id="35" name="Shape 28"/>
          <p:cNvSpPr/>
          <p:nvPr/>
        </p:nvSpPr>
        <p:spPr>
          <a:xfrm>
            <a:off x="2441448" y="3886200"/>
            <a:ext cx="365760" cy="365760"/>
          </a:xfrm>
          <a:prstGeom prst="ellipse">
            <a:avLst/>
          </a:prstGeom>
          <a:solidFill>
            <a:srgbClr val="2A8A7A"/>
          </a:solidFill>
          <a:ln/>
        </p:spPr>
      </p:sp>
      <p:sp>
        <p:nvSpPr>
          <p:cNvPr id="36" name="Text 29"/>
          <p:cNvSpPr/>
          <p:nvPr/>
        </p:nvSpPr>
        <p:spPr>
          <a:xfrm>
            <a:off x="2441448" y="388620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I</a:t>
            </a:r>
            <a:endParaRPr lang="en-US" sz="1600" dirty="0"/>
          </a:p>
        </p:txBody>
      </p:sp>
      <p:sp>
        <p:nvSpPr>
          <p:cNvPr id="37" name="Shape 30"/>
          <p:cNvSpPr/>
          <p:nvPr/>
        </p:nvSpPr>
        <p:spPr>
          <a:xfrm>
            <a:off x="3383280" y="3200400"/>
            <a:ext cx="502920" cy="411480"/>
          </a:xfrm>
          <a:prstGeom prst="rect">
            <a:avLst/>
          </a:prstGeom>
          <a:solidFill>
            <a:srgbClr val="4A1942"/>
          </a:solidFill>
          <a:ln/>
        </p:spPr>
      </p:sp>
      <p:sp>
        <p:nvSpPr>
          <p:cNvPr id="38" name="Text 31"/>
          <p:cNvSpPr/>
          <p:nvPr/>
        </p:nvSpPr>
        <p:spPr>
          <a:xfrm>
            <a:off x="3383280" y="3200400"/>
            <a:ext cx="50292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m</a:t>
            </a:r>
            <a:endParaRPr lang="en-US" sz="2000" dirty="0"/>
          </a:p>
        </p:txBody>
      </p:sp>
      <p:sp>
        <p:nvSpPr>
          <p:cNvPr id="39" name="Text 32"/>
          <p:cNvSpPr/>
          <p:nvPr/>
        </p:nvSpPr>
        <p:spPr>
          <a:xfrm>
            <a:off x="3383280" y="3639312"/>
            <a:ext cx="502920" cy="228600"/>
          </a:xfrm>
          <a:prstGeom prst="rect">
            <a:avLst/>
          </a:prstGeom>
          <a:noFill/>
          <a:ln/>
        </p:spPr>
        <p:txBody>
          <a:bodyPr wrap="square" lIns="0" tIns="0" rIns="0" bIns="0" rtlCol="0" anchor="ctr"/>
          <a:lstStyle/>
          <a:p>
            <a:pPr marL="0" indent="0" algn="ctr">
              <a:buNone/>
            </a:pPr>
            <a:r>
              <a:rPr lang="en-US" sz="1400" dirty="0">
                <a:solidFill>
                  <a:srgbClr val="8A7A8A"/>
                </a:solidFill>
                <a:latin typeface="Calibri" pitchFamily="34" charset="0"/>
                <a:ea typeface="Calibri" pitchFamily="34" charset="-122"/>
                <a:cs typeface="Calibri" pitchFamily="34" charset="-120"/>
              </a:rPr>
              <a:t>↓</a:t>
            </a:r>
            <a:endParaRPr lang="en-US" sz="1400" dirty="0"/>
          </a:p>
        </p:txBody>
      </p:sp>
      <p:sp>
        <p:nvSpPr>
          <p:cNvPr id="40" name="Shape 33"/>
          <p:cNvSpPr/>
          <p:nvPr/>
        </p:nvSpPr>
        <p:spPr>
          <a:xfrm>
            <a:off x="3447288" y="3886200"/>
            <a:ext cx="365760" cy="365760"/>
          </a:xfrm>
          <a:prstGeom prst="ellipse">
            <a:avLst/>
          </a:prstGeom>
          <a:solidFill>
            <a:srgbClr val="C75B7A"/>
          </a:solidFill>
          <a:ln/>
        </p:spPr>
      </p:sp>
      <p:sp>
        <p:nvSpPr>
          <p:cNvPr id="41" name="Text 34"/>
          <p:cNvSpPr/>
          <p:nvPr/>
        </p:nvSpPr>
        <p:spPr>
          <a:xfrm>
            <a:off x="3447288" y="388620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B</a:t>
            </a:r>
            <a:endParaRPr lang="en-US" sz="1600" dirty="0"/>
          </a:p>
        </p:txBody>
      </p:sp>
      <p:sp>
        <p:nvSpPr>
          <p:cNvPr id="42" name="Shape 35"/>
          <p:cNvSpPr/>
          <p:nvPr/>
        </p:nvSpPr>
        <p:spPr>
          <a:xfrm>
            <a:off x="4389120" y="3200400"/>
            <a:ext cx="502920" cy="411480"/>
          </a:xfrm>
          <a:prstGeom prst="rect">
            <a:avLst/>
          </a:prstGeom>
          <a:solidFill>
            <a:srgbClr val="4A1942"/>
          </a:solidFill>
          <a:ln/>
        </p:spPr>
      </p:sp>
      <p:sp>
        <p:nvSpPr>
          <p:cNvPr id="43" name="Text 36"/>
          <p:cNvSpPr/>
          <p:nvPr/>
        </p:nvSpPr>
        <p:spPr>
          <a:xfrm>
            <a:off x="4389120" y="3200400"/>
            <a:ext cx="50292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e</a:t>
            </a:r>
            <a:endParaRPr lang="en-US" sz="2000" dirty="0"/>
          </a:p>
        </p:txBody>
      </p:sp>
      <p:sp>
        <p:nvSpPr>
          <p:cNvPr id="44" name="Text 37"/>
          <p:cNvSpPr/>
          <p:nvPr/>
        </p:nvSpPr>
        <p:spPr>
          <a:xfrm>
            <a:off x="4389120" y="3639312"/>
            <a:ext cx="502920" cy="228600"/>
          </a:xfrm>
          <a:prstGeom prst="rect">
            <a:avLst/>
          </a:prstGeom>
          <a:noFill/>
          <a:ln/>
        </p:spPr>
        <p:txBody>
          <a:bodyPr wrap="square" lIns="0" tIns="0" rIns="0" bIns="0" rtlCol="0" anchor="ctr"/>
          <a:lstStyle/>
          <a:p>
            <a:pPr marL="0" indent="0" algn="ctr">
              <a:buNone/>
            </a:pPr>
            <a:r>
              <a:rPr lang="en-US" sz="1400" dirty="0">
                <a:solidFill>
                  <a:srgbClr val="8A7A8A"/>
                </a:solidFill>
                <a:latin typeface="Calibri" pitchFamily="34" charset="0"/>
                <a:ea typeface="Calibri" pitchFamily="34" charset="-122"/>
                <a:cs typeface="Calibri" pitchFamily="34" charset="-120"/>
              </a:rPr>
              <a:t>↓</a:t>
            </a:r>
            <a:endParaRPr lang="en-US" sz="1400" dirty="0"/>
          </a:p>
        </p:txBody>
      </p:sp>
      <p:sp>
        <p:nvSpPr>
          <p:cNvPr id="45" name="Shape 38"/>
          <p:cNvSpPr/>
          <p:nvPr/>
        </p:nvSpPr>
        <p:spPr>
          <a:xfrm>
            <a:off x="4453128" y="3886200"/>
            <a:ext cx="365760" cy="365760"/>
          </a:xfrm>
          <a:prstGeom prst="ellipse">
            <a:avLst/>
          </a:prstGeom>
          <a:solidFill>
            <a:srgbClr val="2A8A7A"/>
          </a:solidFill>
          <a:ln/>
        </p:spPr>
      </p:sp>
      <p:sp>
        <p:nvSpPr>
          <p:cNvPr id="46" name="Text 39"/>
          <p:cNvSpPr/>
          <p:nvPr/>
        </p:nvSpPr>
        <p:spPr>
          <a:xfrm>
            <a:off x="4453128" y="388620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I</a:t>
            </a:r>
            <a:endParaRPr lang="en-US" sz="1600" dirty="0"/>
          </a:p>
        </p:txBody>
      </p:sp>
      <p:sp>
        <p:nvSpPr>
          <p:cNvPr id="47" name="Shape 40"/>
          <p:cNvSpPr/>
          <p:nvPr/>
        </p:nvSpPr>
        <p:spPr>
          <a:xfrm>
            <a:off x="5394960" y="3200400"/>
            <a:ext cx="502920" cy="411480"/>
          </a:xfrm>
          <a:prstGeom prst="rect">
            <a:avLst/>
          </a:prstGeom>
          <a:solidFill>
            <a:srgbClr val="4A1942"/>
          </a:solidFill>
          <a:ln/>
        </p:spPr>
      </p:sp>
      <p:sp>
        <p:nvSpPr>
          <p:cNvPr id="48" name="Text 41"/>
          <p:cNvSpPr/>
          <p:nvPr/>
        </p:nvSpPr>
        <p:spPr>
          <a:xfrm>
            <a:off x="5394960" y="3200400"/>
            <a:ext cx="50292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l</a:t>
            </a:r>
            <a:endParaRPr lang="en-US" sz="2000" dirty="0"/>
          </a:p>
        </p:txBody>
      </p:sp>
      <p:sp>
        <p:nvSpPr>
          <p:cNvPr id="49" name="Text 42"/>
          <p:cNvSpPr/>
          <p:nvPr/>
        </p:nvSpPr>
        <p:spPr>
          <a:xfrm>
            <a:off x="5394960" y="3639312"/>
            <a:ext cx="502920" cy="228600"/>
          </a:xfrm>
          <a:prstGeom prst="rect">
            <a:avLst/>
          </a:prstGeom>
          <a:noFill/>
          <a:ln/>
        </p:spPr>
        <p:txBody>
          <a:bodyPr wrap="square" lIns="0" tIns="0" rIns="0" bIns="0" rtlCol="0" anchor="ctr"/>
          <a:lstStyle/>
          <a:p>
            <a:pPr marL="0" indent="0" algn="ctr">
              <a:buNone/>
            </a:pPr>
            <a:r>
              <a:rPr lang="en-US" sz="1400" dirty="0">
                <a:solidFill>
                  <a:srgbClr val="8A7A8A"/>
                </a:solidFill>
                <a:latin typeface="Calibri" pitchFamily="34" charset="0"/>
                <a:ea typeface="Calibri" pitchFamily="34" charset="-122"/>
                <a:cs typeface="Calibri" pitchFamily="34" charset="-120"/>
              </a:rPr>
              <a:t>↓</a:t>
            </a:r>
            <a:endParaRPr lang="en-US" sz="1400" dirty="0"/>
          </a:p>
        </p:txBody>
      </p:sp>
      <p:sp>
        <p:nvSpPr>
          <p:cNvPr id="50" name="Shape 43"/>
          <p:cNvSpPr/>
          <p:nvPr/>
        </p:nvSpPr>
        <p:spPr>
          <a:xfrm>
            <a:off x="5458968" y="3886200"/>
            <a:ext cx="365760" cy="365760"/>
          </a:xfrm>
          <a:prstGeom prst="ellipse">
            <a:avLst/>
          </a:prstGeom>
          <a:solidFill>
            <a:srgbClr val="C75B7A"/>
          </a:solidFill>
          <a:ln/>
        </p:spPr>
      </p:sp>
      <p:sp>
        <p:nvSpPr>
          <p:cNvPr id="51" name="Text 44"/>
          <p:cNvSpPr/>
          <p:nvPr/>
        </p:nvSpPr>
        <p:spPr>
          <a:xfrm>
            <a:off x="5458968" y="388620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B</a:t>
            </a:r>
            <a:endParaRPr lang="en-US" sz="1600" dirty="0"/>
          </a:p>
        </p:txBody>
      </p:sp>
      <p:sp>
        <p:nvSpPr>
          <p:cNvPr id="52" name="Shape 45"/>
          <p:cNvSpPr/>
          <p:nvPr/>
        </p:nvSpPr>
        <p:spPr>
          <a:xfrm>
            <a:off x="6400800" y="3200400"/>
            <a:ext cx="502920" cy="411480"/>
          </a:xfrm>
          <a:prstGeom prst="rect">
            <a:avLst/>
          </a:prstGeom>
          <a:solidFill>
            <a:srgbClr val="4A1942"/>
          </a:solidFill>
          <a:ln/>
        </p:spPr>
      </p:sp>
      <p:sp>
        <p:nvSpPr>
          <p:cNvPr id="53" name="Text 46"/>
          <p:cNvSpPr/>
          <p:nvPr/>
        </p:nvSpPr>
        <p:spPr>
          <a:xfrm>
            <a:off x="6400800" y="3200400"/>
            <a:ext cx="50292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o</a:t>
            </a:r>
            <a:endParaRPr lang="en-US" sz="2000" dirty="0"/>
          </a:p>
        </p:txBody>
      </p:sp>
      <p:sp>
        <p:nvSpPr>
          <p:cNvPr id="54" name="Text 47"/>
          <p:cNvSpPr/>
          <p:nvPr/>
        </p:nvSpPr>
        <p:spPr>
          <a:xfrm>
            <a:off x="6400800" y="3639312"/>
            <a:ext cx="502920" cy="228600"/>
          </a:xfrm>
          <a:prstGeom prst="rect">
            <a:avLst/>
          </a:prstGeom>
          <a:noFill/>
          <a:ln/>
        </p:spPr>
        <p:txBody>
          <a:bodyPr wrap="square" lIns="0" tIns="0" rIns="0" bIns="0" rtlCol="0" anchor="ctr"/>
          <a:lstStyle/>
          <a:p>
            <a:pPr marL="0" indent="0" algn="ctr">
              <a:buNone/>
            </a:pPr>
            <a:r>
              <a:rPr lang="en-US" sz="1400" dirty="0">
                <a:solidFill>
                  <a:srgbClr val="8A7A8A"/>
                </a:solidFill>
                <a:latin typeface="Calibri" pitchFamily="34" charset="0"/>
                <a:ea typeface="Calibri" pitchFamily="34" charset="-122"/>
                <a:cs typeface="Calibri" pitchFamily="34" charset="-120"/>
              </a:rPr>
              <a:t>↓</a:t>
            </a:r>
            <a:endParaRPr lang="en-US" sz="1400" dirty="0"/>
          </a:p>
        </p:txBody>
      </p:sp>
      <p:sp>
        <p:nvSpPr>
          <p:cNvPr id="55" name="Shape 48"/>
          <p:cNvSpPr/>
          <p:nvPr/>
        </p:nvSpPr>
        <p:spPr>
          <a:xfrm>
            <a:off x="6464808" y="3886200"/>
            <a:ext cx="365760" cy="365760"/>
          </a:xfrm>
          <a:prstGeom prst="ellipse">
            <a:avLst/>
          </a:prstGeom>
          <a:solidFill>
            <a:srgbClr val="2A8A7A"/>
          </a:solidFill>
          <a:ln/>
        </p:spPr>
      </p:sp>
      <p:sp>
        <p:nvSpPr>
          <p:cNvPr id="56" name="Text 49"/>
          <p:cNvSpPr/>
          <p:nvPr/>
        </p:nvSpPr>
        <p:spPr>
          <a:xfrm>
            <a:off x="6464808" y="388620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I</a:t>
            </a:r>
            <a:endParaRPr lang="en-US" sz="1600" dirty="0"/>
          </a:p>
        </p:txBody>
      </p:sp>
      <p:sp>
        <p:nvSpPr>
          <p:cNvPr id="57" name="Text 50"/>
          <p:cNvSpPr/>
          <p:nvPr/>
        </p:nvSpPr>
        <p:spPr>
          <a:xfrm>
            <a:off x="1371600" y="4297680"/>
            <a:ext cx="5029200" cy="228600"/>
          </a:xfrm>
          <a:prstGeom prst="rect">
            <a:avLst/>
          </a:prstGeom>
          <a:noFill/>
          <a:ln/>
        </p:spPr>
        <p:txBody>
          <a:bodyPr wrap="square" lIns="0" tIns="0" rIns="0" bIns="0" rtlCol="0" anchor="ctr"/>
          <a:lstStyle/>
          <a:p>
            <a:pPr marL="0" indent="0">
              <a:buNone/>
            </a:pPr>
            <a:r>
              <a:rPr lang="en-US" sz="1100" b="1" dirty="0">
                <a:solidFill>
                  <a:srgbClr val="2E1A2E"/>
                </a:solidFill>
                <a:latin typeface="Calibri" pitchFamily="34" charset="0"/>
                <a:ea typeface="Calibri" pitchFamily="34" charset="-122"/>
                <a:cs typeface="Calibri" pitchFamily="34" charset="-120"/>
              </a:rPr>
              <a:t>Result:  "da" + "me" + "lo"  (3 segments identified)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A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D4A03C"/>
          </a:solidFill>
          <a:ln/>
        </p:spPr>
      </p:sp>
      <p:pic>
        <p:nvPicPr>
          <p:cNvPr id="3" name="Image 0" descr="preencoded.png"/>
          <p:cNvPicPr>
            <a:picLocks noChangeAspect="1"/>
          </p:cNvPicPr>
          <p:nvPr/>
        </p:nvPicPr>
        <p:blipFill>
          <a:blip r:embed="rId3"/>
          <a:stretch>
            <a:fillRect/>
          </a:stretch>
        </p:blipFill>
        <p:spPr>
          <a:xfrm>
            <a:off x="731520" y="274320"/>
            <a:ext cx="320040" cy="320040"/>
          </a:xfrm>
          <a:prstGeom prst="rect">
            <a:avLst/>
          </a:prstGeom>
        </p:spPr>
      </p:pic>
      <p:sp>
        <p:nvSpPr>
          <p:cNvPr id="4" name="Text 1"/>
          <p:cNvSpPr/>
          <p:nvPr/>
        </p:nvSpPr>
        <p:spPr>
          <a:xfrm>
            <a:off x="1143000" y="228600"/>
            <a:ext cx="7315200" cy="411480"/>
          </a:xfrm>
          <a:prstGeom prst="rect">
            <a:avLst/>
          </a:prstGeom>
          <a:noFill/>
          <a:ln/>
        </p:spPr>
        <p:txBody>
          <a:bodyPr wrap="square" lIns="0" tIns="0" rIns="0" bIns="0" rtlCol="0" anchor="ctr"/>
          <a:lstStyle/>
          <a:p>
            <a:pPr marL="0" indent="0">
              <a:buNone/>
            </a:pPr>
            <a:r>
              <a:rPr lang="en-US" sz="2600" b="1" dirty="0">
                <a:solidFill>
                  <a:srgbClr val="2E1A2E"/>
                </a:solidFill>
                <a:latin typeface="Georgia" pitchFamily="34" charset="0"/>
                <a:ea typeface="Georgia" pitchFamily="34" charset="-122"/>
                <a:cs typeface="Georgia" pitchFamily="34" charset="-120"/>
              </a:rPr>
              <a:t>4 Key Innovations</a:t>
            </a:r>
            <a:endParaRPr lang="en-US" sz="2600" dirty="0"/>
          </a:p>
        </p:txBody>
      </p:sp>
      <p:sp>
        <p:nvSpPr>
          <p:cNvPr id="5" name="Text 2"/>
          <p:cNvSpPr/>
          <p:nvPr/>
        </p:nvSpPr>
        <p:spPr>
          <a:xfrm>
            <a:off x="731520" y="685800"/>
            <a:ext cx="7680960" cy="274320"/>
          </a:xfrm>
          <a:prstGeom prst="rect">
            <a:avLst/>
          </a:prstGeom>
          <a:noFill/>
          <a:ln/>
        </p:spPr>
        <p:txBody>
          <a:bodyPr wrap="square" lIns="0" tIns="0" rIns="0" bIns="0" rtlCol="0" anchor="ctr"/>
          <a:lstStyle/>
          <a:p>
            <a:pPr marL="0" indent="0">
              <a:buNone/>
            </a:pPr>
            <a:r>
              <a:rPr lang="en-US" sz="1300" dirty="0">
                <a:solidFill>
                  <a:srgbClr val="8A7A8A"/>
                </a:solidFill>
                <a:latin typeface="Calibri" pitchFamily="34" charset="0"/>
                <a:ea typeface="Calibri" pitchFamily="34" charset="-122"/>
                <a:cs typeface="Calibri" pitchFamily="34" charset="-120"/>
              </a:rPr>
              <a:t>Each innovation directly addresses a limitation from existing approaches</a:t>
            </a:r>
            <a:endParaRPr lang="en-US" sz="1300" dirty="0"/>
          </a:p>
        </p:txBody>
      </p:sp>
      <p:sp>
        <p:nvSpPr>
          <p:cNvPr id="6" name="Shape 3"/>
          <p:cNvSpPr/>
          <p:nvPr/>
        </p:nvSpPr>
        <p:spPr>
          <a:xfrm>
            <a:off x="731520" y="1051560"/>
            <a:ext cx="3657600" cy="1691640"/>
          </a:xfrm>
          <a:prstGeom prst="rect">
            <a:avLst/>
          </a:prstGeom>
          <a:solidFill>
            <a:srgbClr val="FFFFFF"/>
          </a:solidFill>
          <a:ln/>
          <a:effectLst>
            <a:outerShdw blurRad="50800" dist="25400" dir="8100000" algn="bl" rotWithShape="0">
              <a:srgbClr val="000000">
                <a:alpha val="8000"/>
              </a:srgbClr>
            </a:outerShdw>
          </a:effectLst>
        </p:spPr>
      </p:sp>
      <p:sp>
        <p:nvSpPr>
          <p:cNvPr id="7" name="Shape 4"/>
          <p:cNvSpPr/>
          <p:nvPr/>
        </p:nvSpPr>
        <p:spPr>
          <a:xfrm>
            <a:off x="731520" y="1051560"/>
            <a:ext cx="64008" cy="1691640"/>
          </a:xfrm>
          <a:prstGeom prst="rect">
            <a:avLst/>
          </a:prstGeom>
          <a:solidFill>
            <a:srgbClr val="C75B7A"/>
          </a:solidFill>
          <a:ln/>
        </p:spPr>
      </p:sp>
      <p:sp>
        <p:nvSpPr>
          <p:cNvPr id="8" name="Shape 5"/>
          <p:cNvSpPr/>
          <p:nvPr/>
        </p:nvSpPr>
        <p:spPr>
          <a:xfrm>
            <a:off x="914400" y="1161288"/>
            <a:ext cx="384048" cy="384048"/>
          </a:xfrm>
          <a:prstGeom prst="ellipse">
            <a:avLst/>
          </a:prstGeom>
          <a:solidFill>
            <a:srgbClr val="C75B7A"/>
          </a:solidFill>
          <a:ln/>
        </p:spPr>
      </p:sp>
      <p:sp>
        <p:nvSpPr>
          <p:cNvPr id="9" name="Text 6"/>
          <p:cNvSpPr/>
          <p:nvPr/>
        </p:nvSpPr>
        <p:spPr>
          <a:xfrm>
            <a:off x="914400" y="1161288"/>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0" name="Text 7"/>
          <p:cNvSpPr/>
          <p:nvPr/>
        </p:nvSpPr>
        <p:spPr>
          <a:xfrm>
            <a:off x="1417320" y="1161288"/>
            <a:ext cx="2788920" cy="411480"/>
          </a:xfrm>
          <a:prstGeom prst="rect">
            <a:avLst/>
          </a:prstGeom>
          <a:noFill/>
          <a:ln/>
        </p:spPr>
        <p:txBody>
          <a:bodyPr wrap="square" lIns="0" tIns="0" rIns="0" bIns="0" rtlCol="0" anchor="ctr"/>
          <a:lstStyle/>
          <a:p>
            <a:pPr marL="0" indent="0">
              <a:buNone/>
            </a:pPr>
            <a:r>
              <a:rPr lang="en-US" sz="1250" b="1" dirty="0">
                <a:solidFill>
                  <a:srgbClr val="2E1A2E"/>
                </a:solidFill>
                <a:latin typeface="Calibri" pitchFamily="34" charset="0"/>
                <a:ea typeface="Calibri" pitchFamily="34" charset="-122"/>
                <a:cs typeface="Calibri" pitchFamily="34" charset="-120"/>
              </a:rPr>
              <a:t>Character-Level BIO Tagging Framework</a:t>
            </a:r>
            <a:endParaRPr lang="en-US" sz="1250" dirty="0"/>
          </a:p>
        </p:txBody>
      </p:sp>
      <p:sp>
        <p:nvSpPr>
          <p:cNvPr id="11" name="Text 8"/>
          <p:cNvSpPr/>
          <p:nvPr/>
        </p:nvSpPr>
        <p:spPr>
          <a:xfrm>
            <a:off x="3657600" y="1600200"/>
            <a:ext cx="594360" cy="182880"/>
          </a:xfrm>
          <a:prstGeom prst="rect">
            <a:avLst/>
          </a:prstGeom>
          <a:noFill/>
          <a:ln/>
        </p:spPr>
        <p:txBody>
          <a:bodyPr wrap="square" lIns="0" tIns="0" rIns="0" bIns="0" rtlCol="0" anchor="ctr"/>
          <a:lstStyle/>
          <a:p>
            <a:pPr marL="0" indent="0" algn="r">
              <a:buNone/>
            </a:pPr>
            <a:r>
              <a:rPr lang="en-US" sz="800" b="1" dirty="0">
                <a:solidFill>
                  <a:srgbClr val="C75B7A"/>
                </a:solidFill>
                <a:latin typeface="Calibri" pitchFamily="34" charset="0"/>
                <a:ea typeface="Calibri" pitchFamily="34" charset="-122"/>
                <a:cs typeface="Calibri" pitchFamily="34" charset="-120"/>
              </a:rPr>
              <a:t>CORE</a:t>
            </a:r>
            <a:endParaRPr lang="en-US" sz="800" dirty="0"/>
          </a:p>
        </p:txBody>
      </p:sp>
      <p:sp>
        <p:nvSpPr>
          <p:cNvPr id="12" name="Text 9"/>
          <p:cNvSpPr/>
          <p:nvPr/>
        </p:nvSpPr>
        <p:spPr>
          <a:xfrm>
            <a:off x="914400" y="1828800"/>
            <a:ext cx="3291840" cy="822960"/>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Reformulates clitic segmentation as character-level sequence labeling using BIO tags. Each character receives a B, I, or O label. This captures subword morphological structure, handles unseen word forms, and learns segmentation boundaries directly — avoiding the limitations of word-level models that treat tokens as atomic units.</a:t>
            </a:r>
            <a:endParaRPr lang="en-US" sz="950" dirty="0"/>
          </a:p>
        </p:txBody>
      </p:sp>
      <p:sp>
        <p:nvSpPr>
          <p:cNvPr id="13" name="Shape 10"/>
          <p:cNvSpPr/>
          <p:nvPr/>
        </p:nvSpPr>
        <p:spPr>
          <a:xfrm>
            <a:off x="4754880" y="1051560"/>
            <a:ext cx="3657600" cy="1691640"/>
          </a:xfrm>
          <a:prstGeom prst="rect">
            <a:avLst/>
          </a:prstGeom>
          <a:solidFill>
            <a:srgbClr val="FFFFFF"/>
          </a:solidFill>
          <a:ln/>
          <a:effectLst>
            <a:outerShdw blurRad="50800" dist="25400" dir="8100000" algn="bl" rotWithShape="0">
              <a:srgbClr val="000000">
                <a:alpha val="8000"/>
              </a:srgbClr>
            </a:outerShdw>
          </a:effectLst>
        </p:spPr>
      </p:sp>
      <p:sp>
        <p:nvSpPr>
          <p:cNvPr id="14" name="Shape 11"/>
          <p:cNvSpPr/>
          <p:nvPr/>
        </p:nvSpPr>
        <p:spPr>
          <a:xfrm>
            <a:off x="4754880" y="1051560"/>
            <a:ext cx="64008" cy="1691640"/>
          </a:xfrm>
          <a:prstGeom prst="rect">
            <a:avLst/>
          </a:prstGeom>
          <a:solidFill>
            <a:srgbClr val="3A6A9A"/>
          </a:solidFill>
          <a:ln/>
        </p:spPr>
      </p:sp>
      <p:sp>
        <p:nvSpPr>
          <p:cNvPr id="15" name="Shape 12"/>
          <p:cNvSpPr/>
          <p:nvPr/>
        </p:nvSpPr>
        <p:spPr>
          <a:xfrm>
            <a:off x="4937760" y="1161288"/>
            <a:ext cx="384048" cy="384048"/>
          </a:xfrm>
          <a:prstGeom prst="ellipse">
            <a:avLst/>
          </a:prstGeom>
          <a:solidFill>
            <a:srgbClr val="3A6A9A"/>
          </a:solidFill>
          <a:ln/>
        </p:spPr>
      </p:sp>
      <p:sp>
        <p:nvSpPr>
          <p:cNvPr id="16" name="Text 13"/>
          <p:cNvSpPr/>
          <p:nvPr/>
        </p:nvSpPr>
        <p:spPr>
          <a:xfrm>
            <a:off x="4937760" y="1161288"/>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7" name="Text 14"/>
          <p:cNvSpPr/>
          <p:nvPr/>
        </p:nvSpPr>
        <p:spPr>
          <a:xfrm>
            <a:off x="5440680" y="1161288"/>
            <a:ext cx="2788920" cy="411480"/>
          </a:xfrm>
          <a:prstGeom prst="rect">
            <a:avLst/>
          </a:prstGeom>
          <a:noFill/>
          <a:ln/>
        </p:spPr>
        <p:txBody>
          <a:bodyPr wrap="square" lIns="0" tIns="0" rIns="0" bIns="0" rtlCol="0" anchor="ctr"/>
          <a:lstStyle/>
          <a:p>
            <a:pPr marL="0" indent="0">
              <a:buNone/>
            </a:pPr>
            <a:r>
              <a:rPr lang="en-US" sz="1250" b="1" dirty="0">
                <a:solidFill>
                  <a:srgbClr val="2E1A2E"/>
                </a:solidFill>
                <a:latin typeface="Calibri" pitchFamily="34" charset="0"/>
                <a:ea typeface="Calibri" pitchFamily="34" charset="-122"/>
                <a:cs typeface="Calibri" pitchFamily="34" charset="-120"/>
              </a:rPr>
              <a:t>Boundary-Based F1 Evaluation</a:t>
            </a:r>
            <a:endParaRPr lang="en-US" sz="1250" dirty="0"/>
          </a:p>
        </p:txBody>
      </p:sp>
      <p:sp>
        <p:nvSpPr>
          <p:cNvPr id="18" name="Text 15"/>
          <p:cNvSpPr/>
          <p:nvPr/>
        </p:nvSpPr>
        <p:spPr>
          <a:xfrm>
            <a:off x="7680960" y="1600200"/>
            <a:ext cx="594360" cy="182880"/>
          </a:xfrm>
          <a:prstGeom prst="rect">
            <a:avLst/>
          </a:prstGeom>
          <a:noFill/>
          <a:ln/>
        </p:spPr>
        <p:txBody>
          <a:bodyPr wrap="square" lIns="0" tIns="0" rIns="0" bIns="0" rtlCol="0" anchor="ctr"/>
          <a:lstStyle/>
          <a:p>
            <a:pPr marL="0" indent="0" algn="r">
              <a:buNone/>
            </a:pPr>
            <a:r>
              <a:rPr lang="en-US" sz="800" b="1" dirty="0">
                <a:solidFill>
                  <a:srgbClr val="3A6A9A"/>
                </a:solidFill>
                <a:latin typeface="Calibri" pitchFamily="34" charset="0"/>
                <a:ea typeface="Calibri" pitchFamily="34" charset="-122"/>
                <a:cs typeface="Calibri" pitchFamily="34" charset="-120"/>
              </a:rPr>
              <a:t>METRIC</a:t>
            </a:r>
            <a:endParaRPr lang="en-US" sz="800" dirty="0"/>
          </a:p>
        </p:txBody>
      </p:sp>
      <p:sp>
        <p:nvSpPr>
          <p:cNvPr id="19" name="Text 16"/>
          <p:cNvSpPr/>
          <p:nvPr/>
        </p:nvSpPr>
        <p:spPr>
          <a:xfrm>
            <a:off x="4937760" y="1828800"/>
            <a:ext cx="3291840" cy="822960"/>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Replaces exact string matching with a boundary-based F1 score that evaluates whether predicted segmentation boundaries match gold boundaries. This is more robust to orthographic variation and aligns with the actual segmentation objective. A correct boundary prediction is credited even if surface form differs slightly.</a:t>
            </a:r>
            <a:endParaRPr lang="en-US" sz="950" dirty="0"/>
          </a:p>
        </p:txBody>
      </p:sp>
      <p:sp>
        <p:nvSpPr>
          <p:cNvPr id="20" name="Shape 17"/>
          <p:cNvSpPr/>
          <p:nvPr/>
        </p:nvSpPr>
        <p:spPr>
          <a:xfrm>
            <a:off x="731520" y="2926080"/>
            <a:ext cx="3657600" cy="1691640"/>
          </a:xfrm>
          <a:prstGeom prst="rect">
            <a:avLst/>
          </a:prstGeom>
          <a:solidFill>
            <a:srgbClr val="FFFFFF"/>
          </a:solidFill>
          <a:ln/>
          <a:effectLst>
            <a:outerShdw blurRad="50800" dist="25400" dir="8100000" algn="bl" rotWithShape="0">
              <a:srgbClr val="000000">
                <a:alpha val="8000"/>
              </a:srgbClr>
            </a:outerShdw>
          </a:effectLst>
        </p:spPr>
      </p:sp>
      <p:sp>
        <p:nvSpPr>
          <p:cNvPr id="21" name="Shape 18"/>
          <p:cNvSpPr/>
          <p:nvPr/>
        </p:nvSpPr>
        <p:spPr>
          <a:xfrm>
            <a:off x="731520" y="2926080"/>
            <a:ext cx="64008" cy="1691640"/>
          </a:xfrm>
          <a:prstGeom prst="rect">
            <a:avLst/>
          </a:prstGeom>
          <a:solidFill>
            <a:srgbClr val="2A8A7A"/>
          </a:solidFill>
          <a:ln/>
        </p:spPr>
      </p:sp>
      <p:sp>
        <p:nvSpPr>
          <p:cNvPr id="22" name="Shape 19"/>
          <p:cNvSpPr/>
          <p:nvPr/>
        </p:nvSpPr>
        <p:spPr>
          <a:xfrm>
            <a:off x="914400" y="3035808"/>
            <a:ext cx="384048" cy="384048"/>
          </a:xfrm>
          <a:prstGeom prst="ellipse">
            <a:avLst/>
          </a:prstGeom>
          <a:solidFill>
            <a:srgbClr val="2A8A7A"/>
          </a:solidFill>
          <a:ln/>
        </p:spPr>
      </p:sp>
      <p:sp>
        <p:nvSpPr>
          <p:cNvPr id="23" name="Text 20"/>
          <p:cNvSpPr/>
          <p:nvPr/>
        </p:nvSpPr>
        <p:spPr>
          <a:xfrm>
            <a:off x="914400" y="3035808"/>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4" name="Text 21"/>
          <p:cNvSpPr/>
          <p:nvPr/>
        </p:nvSpPr>
        <p:spPr>
          <a:xfrm>
            <a:off x="1417320" y="3035808"/>
            <a:ext cx="2788920" cy="411480"/>
          </a:xfrm>
          <a:prstGeom prst="rect">
            <a:avLst/>
          </a:prstGeom>
          <a:noFill/>
          <a:ln/>
        </p:spPr>
        <p:txBody>
          <a:bodyPr wrap="square" lIns="0" tIns="0" rIns="0" bIns="0" rtlCol="0" anchor="ctr"/>
          <a:lstStyle/>
          <a:p>
            <a:pPr marL="0" indent="0">
              <a:buNone/>
            </a:pPr>
            <a:r>
              <a:rPr lang="en-US" sz="1250" b="1" dirty="0">
                <a:solidFill>
                  <a:srgbClr val="2E1A2E"/>
                </a:solidFill>
                <a:latin typeface="Calibri" pitchFamily="34" charset="0"/>
                <a:ea typeface="Calibri" pitchFamily="34" charset="-122"/>
                <a:cs typeface="Calibri" pitchFamily="34" charset="-120"/>
              </a:rPr>
              <a:t>Feature-Augmented Modeling (POS + N-grams)</a:t>
            </a:r>
            <a:endParaRPr lang="en-US" sz="1250" dirty="0"/>
          </a:p>
        </p:txBody>
      </p:sp>
      <p:sp>
        <p:nvSpPr>
          <p:cNvPr id="25" name="Text 22"/>
          <p:cNvSpPr/>
          <p:nvPr/>
        </p:nvSpPr>
        <p:spPr>
          <a:xfrm>
            <a:off x="3657600" y="3474720"/>
            <a:ext cx="594360" cy="182880"/>
          </a:xfrm>
          <a:prstGeom prst="rect">
            <a:avLst/>
          </a:prstGeom>
          <a:noFill/>
          <a:ln/>
        </p:spPr>
        <p:txBody>
          <a:bodyPr wrap="square" lIns="0" tIns="0" rIns="0" bIns="0" rtlCol="0" anchor="ctr"/>
          <a:lstStyle/>
          <a:p>
            <a:pPr marL="0" indent="0" algn="r">
              <a:buNone/>
            </a:pPr>
            <a:r>
              <a:rPr lang="en-US" sz="800" b="1" dirty="0">
                <a:solidFill>
                  <a:srgbClr val="2A8A7A"/>
                </a:solidFill>
                <a:latin typeface="Calibri" pitchFamily="34" charset="0"/>
                <a:ea typeface="Calibri" pitchFamily="34" charset="-122"/>
                <a:cs typeface="Calibri" pitchFamily="34" charset="-120"/>
              </a:rPr>
              <a:t>FEATURES</a:t>
            </a:r>
            <a:endParaRPr lang="en-US" sz="800" dirty="0"/>
          </a:p>
        </p:txBody>
      </p:sp>
      <p:sp>
        <p:nvSpPr>
          <p:cNvPr id="26" name="Text 23"/>
          <p:cNvSpPr/>
          <p:nvPr/>
        </p:nvSpPr>
        <p:spPr>
          <a:xfrm>
            <a:off x="914400" y="3703320"/>
            <a:ext cx="3291840" cy="822960"/>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Combines POS tag features for syntactic context with character n-gram features for local morphological patterns. This lightweight approach maintains interpretability — the ablation study shows exactly which features contribute how much, unlike black-box neural architectures.</a:t>
            </a:r>
            <a:endParaRPr lang="en-US" sz="950" dirty="0"/>
          </a:p>
        </p:txBody>
      </p:sp>
      <p:sp>
        <p:nvSpPr>
          <p:cNvPr id="27" name="Shape 24"/>
          <p:cNvSpPr/>
          <p:nvPr/>
        </p:nvSpPr>
        <p:spPr>
          <a:xfrm>
            <a:off x="4754880" y="2926080"/>
            <a:ext cx="3657600" cy="1691640"/>
          </a:xfrm>
          <a:prstGeom prst="rect">
            <a:avLst/>
          </a:prstGeom>
          <a:solidFill>
            <a:srgbClr val="FFFFFF"/>
          </a:solidFill>
          <a:ln/>
          <a:effectLst>
            <a:outerShdw blurRad="50800" dist="25400" dir="8100000" algn="bl" rotWithShape="0">
              <a:srgbClr val="000000">
                <a:alpha val="8000"/>
              </a:srgbClr>
            </a:outerShdw>
          </a:effectLst>
        </p:spPr>
      </p:sp>
      <p:sp>
        <p:nvSpPr>
          <p:cNvPr id="28" name="Shape 25"/>
          <p:cNvSpPr/>
          <p:nvPr/>
        </p:nvSpPr>
        <p:spPr>
          <a:xfrm>
            <a:off x="4754880" y="2926080"/>
            <a:ext cx="64008" cy="1691640"/>
          </a:xfrm>
          <a:prstGeom prst="rect">
            <a:avLst/>
          </a:prstGeom>
          <a:solidFill>
            <a:srgbClr val="D4A03C"/>
          </a:solidFill>
          <a:ln/>
        </p:spPr>
      </p:sp>
      <p:sp>
        <p:nvSpPr>
          <p:cNvPr id="29" name="Shape 26"/>
          <p:cNvSpPr/>
          <p:nvPr/>
        </p:nvSpPr>
        <p:spPr>
          <a:xfrm>
            <a:off x="4937760" y="3035808"/>
            <a:ext cx="384048" cy="384048"/>
          </a:xfrm>
          <a:prstGeom prst="ellipse">
            <a:avLst/>
          </a:prstGeom>
          <a:solidFill>
            <a:srgbClr val="D4A03C"/>
          </a:solidFill>
          <a:ln/>
        </p:spPr>
      </p:sp>
      <p:sp>
        <p:nvSpPr>
          <p:cNvPr id="30" name="Text 27"/>
          <p:cNvSpPr/>
          <p:nvPr/>
        </p:nvSpPr>
        <p:spPr>
          <a:xfrm>
            <a:off x="4937760" y="3035808"/>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31" name="Text 28"/>
          <p:cNvSpPr/>
          <p:nvPr/>
        </p:nvSpPr>
        <p:spPr>
          <a:xfrm>
            <a:off x="5440680" y="3035808"/>
            <a:ext cx="2788920" cy="411480"/>
          </a:xfrm>
          <a:prstGeom prst="rect">
            <a:avLst/>
          </a:prstGeom>
          <a:noFill/>
          <a:ln/>
        </p:spPr>
        <p:txBody>
          <a:bodyPr wrap="square" lIns="0" tIns="0" rIns="0" bIns="0" rtlCol="0" anchor="ctr"/>
          <a:lstStyle/>
          <a:p>
            <a:pPr marL="0" indent="0">
              <a:buNone/>
            </a:pPr>
            <a:r>
              <a:rPr lang="en-US" sz="1250" b="1" dirty="0">
                <a:solidFill>
                  <a:srgbClr val="2E1A2E"/>
                </a:solidFill>
                <a:latin typeface="Calibri" pitchFamily="34" charset="0"/>
                <a:ea typeface="Calibri" pitchFamily="34" charset="-122"/>
                <a:cs typeface="Calibri" pitchFamily="34" charset="-120"/>
              </a:rPr>
              <a:t>Cross-Lingual Evaluation Framework</a:t>
            </a:r>
            <a:endParaRPr lang="en-US" sz="1250" dirty="0"/>
          </a:p>
        </p:txBody>
      </p:sp>
      <p:sp>
        <p:nvSpPr>
          <p:cNvPr id="32" name="Text 29"/>
          <p:cNvSpPr/>
          <p:nvPr/>
        </p:nvSpPr>
        <p:spPr>
          <a:xfrm>
            <a:off x="7680960" y="3474720"/>
            <a:ext cx="594360" cy="182880"/>
          </a:xfrm>
          <a:prstGeom prst="rect">
            <a:avLst/>
          </a:prstGeom>
          <a:noFill/>
          <a:ln/>
        </p:spPr>
        <p:txBody>
          <a:bodyPr wrap="square" lIns="0" tIns="0" rIns="0" bIns="0" rtlCol="0" anchor="ctr"/>
          <a:lstStyle/>
          <a:p>
            <a:pPr marL="0" indent="0" algn="r">
              <a:buNone/>
            </a:pPr>
            <a:r>
              <a:rPr lang="en-US" sz="800" b="1" dirty="0">
                <a:solidFill>
                  <a:srgbClr val="D4A03C"/>
                </a:solidFill>
                <a:latin typeface="Calibri" pitchFamily="34" charset="0"/>
                <a:ea typeface="Calibri" pitchFamily="34" charset="-122"/>
                <a:cs typeface="Calibri" pitchFamily="34" charset="-120"/>
              </a:rPr>
              <a:t>PRIMARY</a:t>
            </a:r>
            <a:endParaRPr lang="en-US" sz="800" dirty="0"/>
          </a:p>
        </p:txBody>
      </p:sp>
      <p:sp>
        <p:nvSpPr>
          <p:cNvPr id="33" name="Text 30"/>
          <p:cNvSpPr/>
          <p:nvPr/>
        </p:nvSpPr>
        <p:spPr>
          <a:xfrm>
            <a:off x="4937760" y="3703320"/>
            <a:ext cx="3291840" cy="822960"/>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The primary contribution: a model trained on Spanish is evaluated on Italian to assess cross-lingual generalization. Results reveal F1 drops from 0.9644 to 0.7024, showing clitic segmentation is partially language-specific while character features enable partial transfer. This insight is absent from monolingual-only studies.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A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75B7A"/>
          </a:solidFill>
          <a:ln/>
        </p:spPr>
      </p:sp>
      <p:pic>
        <p:nvPicPr>
          <p:cNvPr id="3" name="Image 0" descr="preencoded.png"/>
          <p:cNvPicPr>
            <a:picLocks noChangeAspect="1"/>
          </p:cNvPicPr>
          <p:nvPr/>
        </p:nvPicPr>
        <p:blipFill>
          <a:blip r:embed="rId3"/>
          <a:stretch>
            <a:fillRect/>
          </a:stretch>
        </p:blipFill>
        <p:spPr>
          <a:xfrm>
            <a:off x="731520" y="274320"/>
            <a:ext cx="320040" cy="320040"/>
          </a:xfrm>
          <a:prstGeom prst="rect">
            <a:avLst/>
          </a:prstGeom>
        </p:spPr>
      </p:pic>
      <p:sp>
        <p:nvSpPr>
          <p:cNvPr id="4" name="Text 1"/>
          <p:cNvSpPr/>
          <p:nvPr/>
        </p:nvSpPr>
        <p:spPr>
          <a:xfrm>
            <a:off x="1143000" y="228600"/>
            <a:ext cx="7498080" cy="411480"/>
          </a:xfrm>
          <a:prstGeom prst="rect">
            <a:avLst/>
          </a:prstGeom>
          <a:noFill/>
          <a:ln/>
        </p:spPr>
        <p:txBody>
          <a:bodyPr wrap="square" lIns="0" tIns="0" rIns="0" bIns="0" rtlCol="0" anchor="ctr"/>
          <a:lstStyle/>
          <a:p>
            <a:pPr marL="0" indent="0">
              <a:buNone/>
            </a:pPr>
            <a:r>
              <a:rPr lang="en-US" sz="2500" b="1" dirty="0">
                <a:solidFill>
                  <a:srgbClr val="2E1A2E"/>
                </a:solidFill>
                <a:latin typeface="Georgia" pitchFamily="34" charset="0"/>
                <a:ea typeface="Georgia" pitchFamily="34" charset="-122"/>
                <a:cs typeface="Georgia" pitchFamily="34" charset="-120"/>
              </a:rPr>
              <a:t>Results — Monolingual Performance (Spanish)</a:t>
            </a:r>
            <a:endParaRPr lang="en-US" sz="2500" dirty="0"/>
          </a:p>
        </p:txBody>
      </p:sp>
      <p:sp>
        <p:nvSpPr>
          <p:cNvPr id="5" name="Shape 2"/>
          <p:cNvSpPr/>
          <p:nvPr/>
        </p:nvSpPr>
        <p:spPr>
          <a:xfrm>
            <a:off x="731520" y="822960"/>
            <a:ext cx="1828800" cy="1097280"/>
          </a:xfrm>
          <a:prstGeom prst="rect">
            <a:avLst/>
          </a:prstGeom>
          <a:solidFill>
            <a:srgbClr val="FFFFFF"/>
          </a:solidFill>
          <a:ln/>
          <a:effectLst>
            <a:outerShdw blurRad="50800" dist="25400" dir="8100000" algn="bl" rotWithShape="0">
              <a:srgbClr val="000000">
                <a:alpha val="8000"/>
              </a:srgbClr>
            </a:outerShdw>
          </a:effectLst>
        </p:spPr>
      </p:sp>
      <p:sp>
        <p:nvSpPr>
          <p:cNvPr id="6" name="Text 3"/>
          <p:cNvSpPr/>
          <p:nvPr/>
        </p:nvSpPr>
        <p:spPr>
          <a:xfrm>
            <a:off x="731520" y="868680"/>
            <a:ext cx="1828800" cy="502920"/>
          </a:xfrm>
          <a:prstGeom prst="rect">
            <a:avLst/>
          </a:prstGeom>
          <a:noFill/>
          <a:ln/>
        </p:spPr>
        <p:txBody>
          <a:bodyPr wrap="square" lIns="0" tIns="0" rIns="0" bIns="0" rtlCol="0" anchor="ctr"/>
          <a:lstStyle/>
          <a:p>
            <a:pPr marL="0" indent="0" algn="ctr">
              <a:buNone/>
            </a:pPr>
            <a:r>
              <a:rPr lang="en-US" sz="2400" b="1" dirty="0">
                <a:solidFill>
                  <a:srgbClr val="C75B7A"/>
                </a:solidFill>
                <a:latin typeface="Georgia" pitchFamily="34" charset="0"/>
                <a:ea typeface="Georgia" pitchFamily="34" charset="-122"/>
                <a:cs typeface="Georgia" pitchFamily="34" charset="-120"/>
              </a:rPr>
              <a:t>0.9644</a:t>
            </a:r>
            <a:endParaRPr lang="en-US" sz="2400" dirty="0"/>
          </a:p>
        </p:txBody>
      </p:sp>
      <p:sp>
        <p:nvSpPr>
          <p:cNvPr id="7" name="Text 4"/>
          <p:cNvSpPr/>
          <p:nvPr/>
        </p:nvSpPr>
        <p:spPr>
          <a:xfrm>
            <a:off x="731520" y="1417320"/>
            <a:ext cx="1828800" cy="411480"/>
          </a:xfrm>
          <a:prstGeom prst="rect">
            <a:avLst/>
          </a:prstGeom>
          <a:noFill/>
          <a:ln/>
        </p:spPr>
        <p:txBody>
          <a:bodyPr wrap="square" lIns="0" tIns="0" rIns="0" bIns="0" rtlCol="0" anchor="t"/>
          <a:lstStyle/>
          <a:p>
            <a:pPr marL="0" indent="0" algn="ctr">
              <a:buNone/>
            </a:pPr>
            <a:r>
              <a:rPr lang="en-US" sz="1000" b="1" dirty="0">
                <a:solidFill>
                  <a:srgbClr val="4A3A4A"/>
                </a:solidFill>
                <a:latin typeface="Calibri" pitchFamily="34" charset="0"/>
                <a:ea typeface="Calibri" pitchFamily="34" charset="-122"/>
                <a:cs typeface="Calibri" pitchFamily="34" charset="-120"/>
              </a:rPr>
              <a:t>Boundary F1</a:t>
            </a:r>
            <a:endParaRPr lang="en-US" sz="1000" dirty="0"/>
          </a:p>
          <a:p>
            <a:pPr marL="0" indent="0" algn="ctr">
              <a:buNone/>
            </a:pPr>
            <a:r>
              <a:rPr lang="en-US" sz="1000" b="1" dirty="0">
                <a:solidFill>
                  <a:srgbClr val="4A3A4A"/>
                </a:solidFill>
                <a:latin typeface="Calibri" pitchFamily="34" charset="0"/>
                <a:ea typeface="Calibri" pitchFamily="34" charset="-122"/>
                <a:cs typeface="Calibri" pitchFamily="34" charset="-120"/>
              </a:rPr>
              <a:t>(Test Set)</a:t>
            </a:r>
            <a:endParaRPr lang="en-US" sz="1000" dirty="0"/>
          </a:p>
        </p:txBody>
      </p:sp>
      <p:sp>
        <p:nvSpPr>
          <p:cNvPr id="8" name="Shape 5"/>
          <p:cNvSpPr/>
          <p:nvPr/>
        </p:nvSpPr>
        <p:spPr>
          <a:xfrm>
            <a:off x="2788920" y="822960"/>
            <a:ext cx="1828800" cy="1097280"/>
          </a:xfrm>
          <a:prstGeom prst="rect">
            <a:avLst/>
          </a:prstGeom>
          <a:solidFill>
            <a:srgbClr val="FFFFFF"/>
          </a:solidFill>
          <a:ln/>
          <a:effectLst>
            <a:outerShdw blurRad="50800" dist="25400" dir="8100000" algn="bl" rotWithShape="0">
              <a:srgbClr val="000000">
                <a:alpha val="8000"/>
              </a:srgbClr>
            </a:outerShdw>
          </a:effectLst>
        </p:spPr>
      </p:sp>
      <p:sp>
        <p:nvSpPr>
          <p:cNvPr id="9" name="Text 6"/>
          <p:cNvSpPr/>
          <p:nvPr/>
        </p:nvSpPr>
        <p:spPr>
          <a:xfrm>
            <a:off x="2788920" y="868680"/>
            <a:ext cx="1828800" cy="502920"/>
          </a:xfrm>
          <a:prstGeom prst="rect">
            <a:avLst/>
          </a:prstGeom>
          <a:noFill/>
          <a:ln/>
        </p:spPr>
        <p:txBody>
          <a:bodyPr wrap="square" lIns="0" tIns="0" rIns="0" bIns="0" rtlCol="0" anchor="ctr"/>
          <a:lstStyle/>
          <a:p>
            <a:pPr marL="0" indent="0" algn="ctr">
              <a:buNone/>
            </a:pPr>
            <a:r>
              <a:rPr lang="en-US" sz="2400" b="1" dirty="0">
                <a:solidFill>
                  <a:srgbClr val="2A8A7A"/>
                </a:solidFill>
                <a:latin typeface="Georgia" pitchFamily="34" charset="0"/>
                <a:ea typeface="Georgia" pitchFamily="34" charset="-122"/>
                <a:cs typeface="Georgia" pitchFamily="34" charset="-120"/>
              </a:rPr>
              <a:t>0.9949</a:t>
            </a:r>
            <a:endParaRPr lang="en-US" sz="2400" dirty="0"/>
          </a:p>
        </p:txBody>
      </p:sp>
      <p:sp>
        <p:nvSpPr>
          <p:cNvPr id="10" name="Text 7"/>
          <p:cNvSpPr/>
          <p:nvPr/>
        </p:nvSpPr>
        <p:spPr>
          <a:xfrm>
            <a:off x="2788920" y="1417320"/>
            <a:ext cx="1828800" cy="411480"/>
          </a:xfrm>
          <a:prstGeom prst="rect">
            <a:avLst/>
          </a:prstGeom>
          <a:noFill/>
          <a:ln/>
        </p:spPr>
        <p:txBody>
          <a:bodyPr wrap="square" lIns="0" tIns="0" rIns="0" bIns="0" rtlCol="0" anchor="t"/>
          <a:lstStyle/>
          <a:p>
            <a:pPr marL="0" indent="0" algn="ctr">
              <a:buNone/>
            </a:pPr>
            <a:r>
              <a:rPr lang="en-US" sz="1000" b="1" dirty="0">
                <a:solidFill>
                  <a:srgbClr val="4A3A4A"/>
                </a:solidFill>
                <a:latin typeface="Calibri" pitchFamily="34" charset="0"/>
                <a:ea typeface="Calibri" pitchFamily="34" charset="-122"/>
                <a:cs typeface="Calibri" pitchFamily="34" charset="-120"/>
              </a:rPr>
              <a:t>Boundary F1</a:t>
            </a:r>
            <a:endParaRPr lang="en-US" sz="1000" dirty="0"/>
          </a:p>
          <a:p>
            <a:pPr marL="0" indent="0" algn="ctr">
              <a:buNone/>
            </a:pPr>
            <a:r>
              <a:rPr lang="en-US" sz="1000" b="1" dirty="0">
                <a:solidFill>
                  <a:srgbClr val="4A3A4A"/>
                </a:solidFill>
                <a:latin typeface="Calibri" pitchFamily="34" charset="0"/>
                <a:ea typeface="Calibri" pitchFamily="34" charset="-122"/>
                <a:cs typeface="Calibri" pitchFamily="34" charset="-120"/>
              </a:rPr>
              <a:t>(Dev Set)</a:t>
            </a:r>
            <a:endParaRPr lang="en-US" sz="1000" dirty="0"/>
          </a:p>
        </p:txBody>
      </p:sp>
      <p:sp>
        <p:nvSpPr>
          <p:cNvPr id="11" name="Shape 8"/>
          <p:cNvSpPr/>
          <p:nvPr/>
        </p:nvSpPr>
        <p:spPr>
          <a:xfrm>
            <a:off x="4846320" y="822960"/>
            <a:ext cx="1828800" cy="1097280"/>
          </a:xfrm>
          <a:prstGeom prst="rect">
            <a:avLst/>
          </a:prstGeom>
          <a:solidFill>
            <a:srgbClr val="FFFFFF"/>
          </a:solidFill>
          <a:ln/>
          <a:effectLst>
            <a:outerShdw blurRad="50800" dist="25400" dir="8100000" algn="bl" rotWithShape="0">
              <a:srgbClr val="000000">
                <a:alpha val="8000"/>
              </a:srgbClr>
            </a:outerShdw>
          </a:effectLst>
        </p:spPr>
      </p:sp>
      <p:sp>
        <p:nvSpPr>
          <p:cNvPr id="12" name="Text 9"/>
          <p:cNvSpPr/>
          <p:nvPr/>
        </p:nvSpPr>
        <p:spPr>
          <a:xfrm>
            <a:off x="4846320" y="868680"/>
            <a:ext cx="1828800" cy="502920"/>
          </a:xfrm>
          <a:prstGeom prst="rect">
            <a:avLst/>
          </a:prstGeom>
          <a:noFill/>
          <a:ln/>
        </p:spPr>
        <p:txBody>
          <a:bodyPr wrap="square" lIns="0" tIns="0" rIns="0" bIns="0" rtlCol="0" anchor="ctr"/>
          <a:lstStyle/>
          <a:p>
            <a:pPr marL="0" indent="0" algn="ctr">
              <a:buNone/>
            </a:pPr>
            <a:r>
              <a:rPr lang="en-US" sz="2400" b="1" dirty="0">
                <a:solidFill>
                  <a:srgbClr val="3A6A9A"/>
                </a:solidFill>
                <a:latin typeface="Georgia" pitchFamily="34" charset="0"/>
                <a:ea typeface="Georgia" pitchFamily="34" charset="-122"/>
                <a:cs typeface="Georgia" pitchFamily="34" charset="-120"/>
              </a:rPr>
              <a:t>117/131</a:t>
            </a:r>
            <a:endParaRPr lang="en-US" sz="2400" dirty="0"/>
          </a:p>
        </p:txBody>
      </p:sp>
      <p:sp>
        <p:nvSpPr>
          <p:cNvPr id="13" name="Text 10"/>
          <p:cNvSpPr/>
          <p:nvPr/>
        </p:nvSpPr>
        <p:spPr>
          <a:xfrm>
            <a:off x="4846320" y="1417320"/>
            <a:ext cx="1828800" cy="411480"/>
          </a:xfrm>
          <a:prstGeom prst="rect">
            <a:avLst/>
          </a:prstGeom>
          <a:noFill/>
          <a:ln/>
        </p:spPr>
        <p:txBody>
          <a:bodyPr wrap="square" lIns="0" tIns="0" rIns="0" bIns="0" rtlCol="0" anchor="t"/>
          <a:lstStyle/>
          <a:p>
            <a:pPr marL="0" indent="0" algn="ctr">
              <a:buNone/>
            </a:pPr>
            <a:r>
              <a:rPr lang="en-US" sz="1000" b="1" dirty="0">
                <a:solidFill>
                  <a:srgbClr val="4A3A4A"/>
                </a:solidFill>
                <a:latin typeface="Calibri" pitchFamily="34" charset="0"/>
                <a:ea typeface="Calibri" pitchFamily="34" charset="-122"/>
                <a:cs typeface="Calibri" pitchFamily="34" charset="-120"/>
              </a:rPr>
              <a:t>MWTs Correctly</a:t>
            </a:r>
            <a:endParaRPr lang="en-US" sz="1000" dirty="0"/>
          </a:p>
          <a:p>
            <a:pPr marL="0" indent="0" algn="ctr">
              <a:buNone/>
            </a:pPr>
            <a:r>
              <a:rPr lang="en-US" sz="1000" b="1" dirty="0">
                <a:solidFill>
                  <a:srgbClr val="4A3A4A"/>
                </a:solidFill>
                <a:latin typeface="Calibri" pitchFamily="34" charset="0"/>
                <a:ea typeface="Calibri" pitchFamily="34" charset="-122"/>
                <a:cs typeface="Calibri" pitchFamily="34" charset="-120"/>
              </a:rPr>
              <a:t>Segmented</a:t>
            </a:r>
            <a:endParaRPr lang="en-US" sz="1000" dirty="0"/>
          </a:p>
        </p:txBody>
      </p:sp>
      <p:sp>
        <p:nvSpPr>
          <p:cNvPr id="14" name="Shape 11"/>
          <p:cNvSpPr/>
          <p:nvPr/>
        </p:nvSpPr>
        <p:spPr>
          <a:xfrm>
            <a:off x="6903720" y="822960"/>
            <a:ext cx="1828800" cy="1097280"/>
          </a:xfrm>
          <a:prstGeom prst="rect">
            <a:avLst/>
          </a:prstGeom>
          <a:solidFill>
            <a:srgbClr val="FFFFFF"/>
          </a:solidFill>
          <a:ln/>
          <a:effectLst>
            <a:outerShdw blurRad="50800" dist="25400" dir="8100000" algn="bl" rotWithShape="0">
              <a:srgbClr val="000000">
                <a:alpha val="8000"/>
              </a:srgbClr>
            </a:outerShdw>
          </a:effectLst>
        </p:spPr>
      </p:sp>
      <p:sp>
        <p:nvSpPr>
          <p:cNvPr id="15" name="Text 12"/>
          <p:cNvSpPr/>
          <p:nvPr/>
        </p:nvSpPr>
        <p:spPr>
          <a:xfrm>
            <a:off x="6903720" y="868680"/>
            <a:ext cx="1828800" cy="502920"/>
          </a:xfrm>
          <a:prstGeom prst="rect">
            <a:avLst/>
          </a:prstGeom>
          <a:noFill/>
          <a:ln/>
        </p:spPr>
        <p:txBody>
          <a:bodyPr wrap="square" lIns="0" tIns="0" rIns="0" bIns="0" rtlCol="0" anchor="ctr"/>
          <a:lstStyle/>
          <a:p>
            <a:pPr marL="0" indent="0" algn="ctr">
              <a:buNone/>
            </a:pPr>
            <a:r>
              <a:rPr lang="en-US" sz="2400" b="1" dirty="0">
                <a:solidFill>
                  <a:srgbClr val="8A7A8A"/>
                </a:solidFill>
                <a:latin typeface="Georgia" pitchFamily="34" charset="0"/>
                <a:ea typeface="Georgia" pitchFamily="34" charset="-122"/>
                <a:cs typeface="Georgia" pitchFamily="34" charset="-120"/>
              </a:rPr>
              <a:t>1.0000</a:t>
            </a:r>
            <a:endParaRPr lang="en-US" sz="2400" dirty="0"/>
          </a:p>
        </p:txBody>
      </p:sp>
      <p:sp>
        <p:nvSpPr>
          <p:cNvPr id="16" name="Text 13"/>
          <p:cNvSpPr/>
          <p:nvPr/>
        </p:nvSpPr>
        <p:spPr>
          <a:xfrm>
            <a:off x="6903720" y="1417320"/>
            <a:ext cx="1828800" cy="411480"/>
          </a:xfrm>
          <a:prstGeom prst="rect">
            <a:avLst/>
          </a:prstGeom>
          <a:noFill/>
          <a:ln/>
        </p:spPr>
        <p:txBody>
          <a:bodyPr wrap="square" lIns="0" tIns="0" rIns="0" bIns="0" rtlCol="0" anchor="t"/>
          <a:lstStyle/>
          <a:p>
            <a:pPr marL="0" indent="0" algn="ctr">
              <a:buNone/>
            </a:pPr>
            <a:r>
              <a:rPr lang="en-US" sz="1000" b="1" dirty="0">
                <a:solidFill>
                  <a:srgbClr val="4A3A4A"/>
                </a:solidFill>
                <a:latin typeface="Calibri" pitchFamily="34" charset="0"/>
                <a:ea typeface="Calibri" pitchFamily="34" charset="-122"/>
                <a:cs typeface="Calibri" pitchFamily="34" charset="-120"/>
              </a:rPr>
              <a:t>Character-Level</a:t>
            </a:r>
            <a:endParaRPr lang="en-US" sz="1000" dirty="0"/>
          </a:p>
          <a:p>
            <a:pPr marL="0" indent="0" algn="ctr">
              <a:buNone/>
            </a:pPr>
            <a:r>
              <a:rPr lang="en-US" sz="1000" b="1" dirty="0">
                <a:solidFill>
                  <a:srgbClr val="4A3A4A"/>
                </a:solidFill>
                <a:latin typeface="Calibri" pitchFamily="34" charset="0"/>
                <a:ea typeface="Calibri" pitchFamily="34" charset="-122"/>
                <a:cs typeface="Calibri" pitchFamily="34" charset="-120"/>
              </a:rPr>
              <a:t>Accuracy</a:t>
            </a:r>
            <a:endParaRPr lang="en-US" sz="1000" dirty="0"/>
          </a:p>
        </p:txBody>
      </p:sp>
      <p:sp>
        <p:nvSpPr>
          <p:cNvPr id="17" name="Text 14"/>
          <p:cNvSpPr/>
          <p:nvPr/>
        </p:nvSpPr>
        <p:spPr>
          <a:xfrm>
            <a:off x="731520" y="2148840"/>
            <a:ext cx="7315200" cy="274320"/>
          </a:xfrm>
          <a:prstGeom prst="rect">
            <a:avLst/>
          </a:prstGeom>
          <a:noFill/>
          <a:ln/>
        </p:spPr>
        <p:txBody>
          <a:bodyPr wrap="square" lIns="0" tIns="0" rIns="0" bIns="0" rtlCol="0" anchor="ctr"/>
          <a:lstStyle/>
          <a:p>
            <a:pPr marL="0" indent="0">
              <a:buNone/>
            </a:pPr>
            <a:r>
              <a:rPr lang="en-US" sz="1500" b="1" dirty="0">
                <a:solidFill>
                  <a:srgbClr val="2E1A2E"/>
                </a:solidFill>
                <a:latin typeface="Calibri" pitchFamily="34" charset="0"/>
                <a:ea typeface="Calibri" pitchFamily="34" charset="-122"/>
                <a:cs typeface="Calibri" pitchFamily="34" charset="-120"/>
              </a:rPr>
              <a:t>Performance Analysis</a:t>
            </a:r>
            <a:endParaRPr lang="en-US" sz="1500" dirty="0"/>
          </a:p>
        </p:txBody>
      </p:sp>
      <p:sp>
        <p:nvSpPr>
          <p:cNvPr id="18" name="Shape 15"/>
          <p:cNvSpPr/>
          <p:nvPr/>
        </p:nvSpPr>
        <p:spPr>
          <a:xfrm>
            <a:off x="731520" y="2468880"/>
            <a:ext cx="7680960" cy="1371600"/>
          </a:xfrm>
          <a:prstGeom prst="rect">
            <a:avLst/>
          </a:prstGeom>
          <a:solidFill>
            <a:srgbClr val="FFFFFF"/>
          </a:solidFill>
          <a:ln/>
          <a:effectLst>
            <a:outerShdw blurRad="50800" dist="25400" dir="8100000" algn="bl" rotWithShape="0">
              <a:srgbClr val="000000">
                <a:alpha val="8000"/>
              </a:srgbClr>
            </a:outerShdw>
          </a:effectLst>
        </p:spPr>
      </p:sp>
      <p:sp>
        <p:nvSpPr>
          <p:cNvPr id="19" name="Text 16"/>
          <p:cNvSpPr/>
          <p:nvPr/>
        </p:nvSpPr>
        <p:spPr>
          <a:xfrm>
            <a:off x="868680" y="2542032"/>
            <a:ext cx="7406640" cy="1234440"/>
          </a:xfrm>
          <a:prstGeom prst="rect">
            <a:avLst/>
          </a:prstGeom>
          <a:noFill/>
          <a:ln/>
        </p:spPr>
        <p:txBody>
          <a:bodyPr wrap="square" lIns="0" tIns="0" rIns="0" bIns="0" rtlCol="0" anchor="ctr"/>
          <a:lstStyle/>
          <a:p>
            <a:r>
              <a:rPr lang="en-US" sz="1050" dirty="0">
                <a:solidFill>
                  <a:srgbClr val="4A3A4A"/>
                </a:solidFill>
                <a:latin typeface="Calibri" pitchFamily="34" charset="0"/>
                <a:ea typeface="Calibri" pitchFamily="34" charset="-122"/>
                <a:cs typeface="Calibri" pitchFamily="34" charset="-120"/>
              </a:rPr>
              <a:t>• High F1 (0.9644) → model successfully learns morphological patterns and correctly predicts clitic boundaries in most cases  </a:t>
            </a:r>
          </a:p>
          <a:p>
            <a:endParaRPr lang="en-US" sz="1050" dirty="0">
              <a:solidFill>
                <a:srgbClr val="4A3A4A"/>
              </a:solidFill>
              <a:latin typeface="Calibri" pitchFamily="34" charset="0"/>
              <a:ea typeface="Calibri" pitchFamily="34" charset="-122"/>
              <a:cs typeface="Calibri" pitchFamily="34" charset="-120"/>
            </a:endParaRPr>
          </a:p>
          <a:p>
            <a:r>
              <a:rPr lang="en-US" sz="1050" dirty="0">
                <a:solidFill>
                  <a:srgbClr val="4A3A4A"/>
                </a:solidFill>
                <a:latin typeface="Calibri" pitchFamily="34" charset="0"/>
                <a:ea typeface="Calibri" pitchFamily="34" charset="-122"/>
                <a:cs typeface="Calibri" pitchFamily="34" charset="-120"/>
              </a:rPr>
              <a:t>• Dev &gt; Test (0.9949 → 0.9644) → slight drop indicates good generalization; model is not overfitting and performs well on unseen data  </a:t>
            </a:r>
          </a:p>
          <a:p>
            <a:endParaRPr lang="en-US" sz="1050" dirty="0">
              <a:solidFill>
                <a:srgbClr val="4A3A4A"/>
              </a:solidFill>
              <a:latin typeface="Calibri" pitchFamily="34" charset="0"/>
              <a:ea typeface="Calibri" pitchFamily="34" charset="-122"/>
              <a:cs typeface="Calibri" pitchFamily="34" charset="-120"/>
            </a:endParaRPr>
          </a:p>
          <a:p>
            <a:r>
              <a:rPr lang="en-US" sz="1050" dirty="0">
                <a:solidFill>
                  <a:srgbClr val="4A3A4A"/>
                </a:solidFill>
                <a:latin typeface="Calibri" pitchFamily="34" charset="0"/>
                <a:ea typeface="Calibri" pitchFamily="34" charset="-122"/>
                <a:cs typeface="Calibri" pitchFamily="34" charset="-120"/>
              </a:rPr>
              <a:t>• Character accuracy = 1.0 is misleading → predicting individual character labels is easier; correct segmentation requires correct boundary placement → hence Boundary F1 is the true evaluation metric </a:t>
            </a:r>
            <a:endParaRPr lang="en-US" sz="1050" dirty="0"/>
          </a:p>
        </p:txBody>
      </p:sp>
      <p:graphicFrame>
        <p:nvGraphicFramePr>
          <p:cNvPr id="20" name="Chart 0"/>
          <p:cNvGraphicFramePr/>
          <p:nvPr/>
        </p:nvGraphicFramePr>
        <p:xfrm>
          <a:off x="731520" y="3977640"/>
          <a:ext cx="3657600" cy="1051560"/>
        </p:xfrm>
        <a:graphic>
          <a:graphicData uri="http://schemas.openxmlformats.org/drawingml/2006/chart">
            <c:chart xmlns:c="http://schemas.openxmlformats.org/drawingml/2006/chart" xmlns:r="http://schemas.openxmlformats.org/officeDocument/2006/relationships" r:id="rId4"/>
          </a:graphicData>
        </a:graphic>
      </p:graphicFrame>
      <p:sp>
        <p:nvSpPr>
          <p:cNvPr id="21" name="Shape 17"/>
          <p:cNvSpPr/>
          <p:nvPr/>
        </p:nvSpPr>
        <p:spPr>
          <a:xfrm>
            <a:off x="4754880" y="3977640"/>
            <a:ext cx="3657600" cy="1051560"/>
          </a:xfrm>
          <a:prstGeom prst="rect">
            <a:avLst/>
          </a:prstGeom>
          <a:solidFill>
            <a:srgbClr val="4A1942"/>
          </a:solidFill>
          <a:ln/>
        </p:spPr>
      </p:sp>
      <p:sp>
        <p:nvSpPr>
          <p:cNvPr id="22" name="Text 18"/>
          <p:cNvSpPr/>
          <p:nvPr/>
        </p:nvSpPr>
        <p:spPr>
          <a:xfrm>
            <a:off x="4892040" y="4023360"/>
            <a:ext cx="3383280" cy="9601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Key: The model correctly segments 117 out of 131 multi-word tokens (89.3%). The 14 missed tokens likely involve irregular clitic patterns or rare morphological forms not well-represented in training data.</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A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3A6A9A"/>
          </a:solidFill>
          <a:ln/>
        </p:spPr>
      </p:sp>
      <p:pic>
        <p:nvPicPr>
          <p:cNvPr id="3" name="Image 0" descr="preencoded.png"/>
          <p:cNvPicPr>
            <a:picLocks noChangeAspect="1"/>
          </p:cNvPicPr>
          <p:nvPr/>
        </p:nvPicPr>
        <p:blipFill>
          <a:blip r:embed="rId3"/>
          <a:stretch>
            <a:fillRect/>
          </a:stretch>
        </p:blipFill>
        <p:spPr>
          <a:xfrm>
            <a:off x="731520" y="274320"/>
            <a:ext cx="320040" cy="320040"/>
          </a:xfrm>
          <a:prstGeom prst="rect">
            <a:avLst/>
          </a:prstGeom>
        </p:spPr>
      </p:pic>
      <p:sp>
        <p:nvSpPr>
          <p:cNvPr id="4" name="Text 1"/>
          <p:cNvSpPr/>
          <p:nvPr/>
        </p:nvSpPr>
        <p:spPr>
          <a:xfrm>
            <a:off x="1143000" y="228600"/>
            <a:ext cx="7498080" cy="411480"/>
          </a:xfrm>
          <a:prstGeom prst="rect">
            <a:avLst/>
          </a:prstGeom>
          <a:noFill/>
          <a:ln/>
        </p:spPr>
        <p:txBody>
          <a:bodyPr wrap="square" lIns="0" tIns="0" rIns="0" bIns="0" rtlCol="0" anchor="ctr"/>
          <a:lstStyle/>
          <a:p>
            <a:pPr marL="0" indent="0">
              <a:buNone/>
            </a:pPr>
            <a:r>
              <a:rPr lang="en-US" sz="2400" b="1" dirty="0">
                <a:solidFill>
                  <a:srgbClr val="2E1A2E"/>
                </a:solidFill>
                <a:latin typeface="Georgia" pitchFamily="34" charset="0"/>
                <a:ea typeface="Georgia" pitchFamily="34" charset="-122"/>
                <a:cs typeface="Georgia" pitchFamily="34" charset="-120"/>
              </a:rPr>
              <a:t>Results — Cross-Lingual Transfer (Spanish → Italian)</a:t>
            </a:r>
            <a:endParaRPr lang="en-US" sz="2400" dirty="0"/>
          </a:p>
        </p:txBody>
      </p:sp>
      <p:graphicFrame>
        <p:nvGraphicFramePr>
          <p:cNvPr id="5" name="Chart 0"/>
          <p:cNvGraphicFramePr/>
          <p:nvPr/>
        </p:nvGraphicFramePr>
        <p:xfrm>
          <a:off x="731520" y="777240"/>
          <a:ext cx="411480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2"/>
          <p:cNvSpPr/>
          <p:nvPr/>
        </p:nvSpPr>
        <p:spPr>
          <a:xfrm>
            <a:off x="5120640" y="777240"/>
            <a:ext cx="3474720" cy="274320"/>
          </a:xfrm>
          <a:prstGeom prst="rect">
            <a:avLst/>
          </a:prstGeom>
          <a:noFill/>
          <a:ln/>
        </p:spPr>
        <p:txBody>
          <a:bodyPr wrap="square" lIns="0" tIns="0" rIns="0" bIns="0" rtlCol="0" anchor="ctr"/>
          <a:lstStyle/>
          <a:p>
            <a:pPr marL="0" indent="0">
              <a:buNone/>
            </a:pPr>
            <a:r>
              <a:rPr lang="en-US" sz="1500" b="1" dirty="0">
                <a:solidFill>
                  <a:srgbClr val="2E1A2E"/>
                </a:solidFill>
                <a:latin typeface="Calibri" pitchFamily="34" charset="0"/>
                <a:ea typeface="Calibri" pitchFamily="34" charset="-122"/>
                <a:cs typeface="Calibri" pitchFamily="34" charset="-120"/>
              </a:rPr>
              <a:t>Why the Drop?</a:t>
            </a:r>
            <a:endParaRPr lang="en-US" sz="1500" dirty="0"/>
          </a:p>
        </p:txBody>
      </p:sp>
      <p:sp>
        <p:nvSpPr>
          <p:cNvPr id="7" name="Shape 3"/>
          <p:cNvSpPr/>
          <p:nvPr/>
        </p:nvSpPr>
        <p:spPr>
          <a:xfrm>
            <a:off x="5120640" y="1143000"/>
            <a:ext cx="3383280" cy="475488"/>
          </a:xfrm>
          <a:prstGeom prst="rect">
            <a:avLst/>
          </a:prstGeom>
          <a:solidFill>
            <a:srgbClr val="FFFFFF"/>
          </a:solidFill>
          <a:ln/>
          <a:effectLst>
            <a:outerShdw blurRad="50800" dist="25400" dir="8100000" algn="bl" rotWithShape="0">
              <a:srgbClr val="000000">
                <a:alpha val="8000"/>
              </a:srgbClr>
            </a:outerShdw>
          </a:effectLst>
        </p:spPr>
      </p:sp>
      <p:sp>
        <p:nvSpPr>
          <p:cNvPr id="8" name="Shape 4"/>
          <p:cNvSpPr/>
          <p:nvPr/>
        </p:nvSpPr>
        <p:spPr>
          <a:xfrm>
            <a:off x="5120640" y="1143000"/>
            <a:ext cx="54864" cy="475488"/>
          </a:xfrm>
          <a:prstGeom prst="rect">
            <a:avLst/>
          </a:prstGeom>
          <a:solidFill>
            <a:srgbClr val="C0392B"/>
          </a:solidFill>
          <a:ln/>
        </p:spPr>
      </p:sp>
      <p:sp>
        <p:nvSpPr>
          <p:cNvPr id="9" name="Text 5"/>
          <p:cNvSpPr/>
          <p:nvPr/>
        </p:nvSpPr>
        <p:spPr>
          <a:xfrm>
            <a:off x="5257800" y="1170432"/>
            <a:ext cx="3108960" cy="182880"/>
          </a:xfrm>
          <a:prstGeom prst="rect">
            <a:avLst/>
          </a:prstGeom>
          <a:noFill/>
          <a:ln/>
        </p:spPr>
        <p:txBody>
          <a:bodyPr wrap="square" lIns="0" tIns="0" rIns="0" bIns="0" rtlCol="0" anchor="ctr"/>
          <a:lstStyle/>
          <a:p>
            <a:pPr marL="0" indent="0">
              <a:buNone/>
            </a:pPr>
            <a:r>
              <a:rPr lang="en-US" sz="1050" b="1" dirty="0">
                <a:solidFill>
                  <a:srgbClr val="2E1A2E"/>
                </a:solidFill>
                <a:latin typeface="Calibri" pitchFamily="34" charset="0"/>
                <a:ea typeface="Calibri" pitchFamily="34" charset="-122"/>
                <a:cs typeface="Calibri" pitchFamily="34" charset="-120"/>
              </a:rPr>
              <a:t>Different Clitic Rules</a:t>
            </a:r>
            <a:endParaRPr lang="en-US" sz="1050" dirty="0"/>
          </a:p>
        </p:txBody>
      </p:sp>
      <p:sp>
        <p:nvSpPr>
          <p:cNvPr id="10" name="Text 6"/>
          <p:cNvSpPr/>
          <p:nvPr/>
        </p:nvSpPr>
        <p:spPr>
          <a:xfrm>
            <a:off x="5257800" y="1362456"/>
            <a:ext cx="3108960" cy="219456"/>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Spanish and Italian have different clitic attachment and morphological realization rules</a:t>
            </a:r>
            <a:endParaRPr lang="en-US" sz="950" dirty="0"/>
          </a:p>
        </p:txBody>
      </p:sp>
      <p:sp>
        <p:nvSpPr>
          <p:cNvPr id="11" name="Shape 7"/>
          <p:cNvSpPr/>
          <p:nvPr/>
        </p:nvSpPr>
        <p:spPr>
          <a:xfrm>
            <a:off x="5120640" y="1737360"/>
            <a:ext cx="3383280" cy="475488"/>
          </a:xfrm>
          <a:prstGeom prst="rect">
            <a:avLst/>
          </a:prstGeom>
          <a:solidFill>
            <a:srgbClr val="FFFFFF"/>
          </a:solidFill>
          <a:ln/>
          <a:effectLst>
            <a:outerShdw blurRad="50800" dist="25400" dir="8100000" algn="bl" rotWithShape="0">
              <a:srgbClr val="000000">
                <a:alpha val="8000"/>
              </a:srgbClr>
            </a:outerShdw>
          </a:effectLst>
        </p:spPr>
      </p:sp>
      <p:sp>
        <p:nvSpPr>
          <p:cNvPr id="12" name="Shape 8"/>
          <p:cNvSpPr/>
          <p:nvPr/>
        </p:nvSpPr>
        <p:spPr>
          <a:xfrm>
            <a:off x="5120640" y="1737360"/>
            <a:ext cx="54864" cy="475488"/>
          </a:xfrm>
          <a:prstGeom prst="rect">
            <a:avLst/>
          </a:prstGeom>
          <a:solidFill>
            <a:srgbClr val="C75B7A"/>
          </a:solidFill>
          <a:ln/>
        </p:spPr>
      </p:sp>
      <p:sp>
        <p:nvSpPr>
          <p:cNvPr id="13" name="Text 9"/>
          <p:cNvSpPr/>
          <p:nvPr/>
        </p:nvSpPr>
        <p:spPr>
          <a:xfrm>
            <a:off x="5257800" y="1764792"/>
            <a:ext cx="3108960" cy="182880"/>
          </a:xfrm>
          <a:prstGeom prst="rect">
            <a:avLst/>
          </a:prstGeom>
          <a:noFill/>
          <a:ln/>
        </p:spPr>
        <p:txBody>
          <a:bodyPr wrap="square" lIns="0" tIns="0" rIns="0" bIns="0" rtlCol="0" anchor="ctr"/>
          <a:lstStyle/>
          <a:p>
            <a:pPr marL="0" indent="0">
              <a:buNone/>
            </a:pPr>
            <a:r>
              <a:rPr lang="en-US" sz="1050" b="1" dirty="0">
                <a:solidFill>
                  <a:srgbClr val="2E1A2E"/>
                </a:solidFill>
                <a:latin typeface="Calibri" pitchFamily="34" charset="0"/>
                <a:ea typeface="Calibri" pitchFamily="34" charset="-122"/>
                <a:cs typeface="Calibri" pitchFamily="34" charset="-120"/>
              </a:rPr>
              <a:t>Orthographic Differences</a:t>
            </a:r>
            <a:endParaRPr lang="en-US" sz="1050" dirty="0"/>
          </a:p>
        </p:txBody>
      </p:sp>
      <p:sp>
        <p:nvSpPr>
          <p:cNvPr id="14" name="Text 10"/>
          <p:cNvSpPr/>
          <p:nvPr/>
        </p:nvSpPr>
        <p:spPr>
          <a:xfrm>
            <a:off x="5257800" y="1956816"/>
            <a:ext cx="3108960" cy="219456"/>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Italian clitics have different surface forms and patterns than Spanish equivalents</a:t>
            </a:r>
            <a:endParaRPr lang="en-US" sz="950" dirty="0"/>
          </a:p>
        </p:txBody>
      </p:sp>
      <p:sp>
        <p:nvSpPr>
          <p:cNvPr id="15" name="Shape 11"/>
          <p:cNvSpPr/>
          <p:nvPr/>
        </p:nvSpPr>
        <p:spPr>
          <a:xfrm>
            <a:off x="5120640" y="2331720"/>
            <a:ext cx="3383280" cy="475488"/>
          </a:xfrm>
          <a:prstGeom prst="rect">
            <a:avLst/>
          </a:prstGeom>
          <a:solidFill>
            <a:srgbClr val="FFFFFF"/>
          </a:solidFill>
          <a:ln/>
          <a:effectLst>
            <a:outerShdw blurRad="50800" dist="25400" dir="8100000" algn="bl" rotWithShape="0">
              <a:srgbClr val="000000">
                <a:alpha val="8000"/>
              </a:srgbClr>
            </a:outerShdw>
          </a:effectLst>
        </p:spPr>
      </p:sp>
      <p:sp>
        <p:nvSpPr>
          <p:cNvPr id="16" name="Shape 12"/>
          <p:cNvSpPr/>
          <p:nvPr/>
        </p:nvSpPr>
        <p:spPr>
          <a:xfrm>
            <a:off x="5120640" y="2331720"/>
            <a:ext cx="54864" cy="475488"/>
          </a:xfrm>
          <a:prstGeom prst="rect">
            <a:avLst/>
          </a:prstGeom>
          <a:solidFill>
            <a:srgbClr val="27AE60"/>
          </a:solidFill>
          <a:ln/>
        </p:spPr>
      </p:sp>
      <p:sp>
        <p:nvSpPr>
          <p:cNvPr id="17" name="Text 13"/>
          <p:cNvSpPr/>
          <p:nvPr/>
        </p:nvSpPr>
        <p:spPr>
          <a:xfrm>
            <a:off x="5257800" y="2359152"/>
            <a:ext cx="3108960" cy="182880"/>
          </a:xfrm>
          <a:prstGeom prst="rect">
            <a:avLst/>
          </a:prstGeom>
          <a:noFill/>
          <a:ln/>
        </p:spPr>
        <p:txBody>
          <a:bodyPr wrap="square" lIns="0" tIns="0" rIns="0" bIns="0" rtlCol="0" anchor="ctr"/>
          <a:lstStyle/>
          <a:p>
            <a:pPr marL="0" indent="0">
              <a:buNone/>
            </a:pPr>
            <a:r>
              <a:rPr lang="en-US" sz="1050" b="1" dirty="0">
                <a:solidFill>
                  <a:srgbClr val="2E1A2E"/>
                </a:solidFill>
                <a:latin typeface="Calibri" pitchFamily="34" charset="0"/>
                <a:ea typeface="Calibri" pitchFamily="34" charset="-122"/>
                <a:cs typeface="Calibri" pitchFamily="34" charset="-120"/>
              </a:rPr>
              <a:t>Partial Generalization</a:t>
            </a:r>
            <a:endParaRPr lang="en-US" sz="1050" dirty="0"/>
          </a:p>
        </p:txBody>
      </p:sp>
      <p:sp>
        <p:nvSpPr>
          <p:cNvPr id="18" name="Text 14"/>
          <p:cNvSpPr/>
          <p:nvPr/>
        </p:nvSpPr>
        <p:spPr>
          <a:xfrm>
            <a:off x="5257800" y="2551176"/>
            <a:ext cx="3108960" cy="219456"/>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F1 &gt; 0.70 shows some morphological patterns ARE shared across Romance languages</a:t>
            </a:r>
            <a:endParaRPr lang="en-US" sz="950" dirty="0"/>
          </a:p>
        </p:txBody>
      </p:sp>
      <p:sp>
        <p:nvSpPr>
          <p:cNvPr id="19" name="Shape 15"/>
          <p:cNvSpPr/>
          <p:nvPr/>
        </p:nvSpPr>
        <p:spPr>
          <a:xfrm>
            <a:off x="731520" y="3291840"/>
            <a:ext cx="7680960" cy="640080"/>
          </a:xfrm>
          <a:prstGeom prst="rect">
            <a:avLst/>
          </a:prstGeom>
          <a:solidFill>
            <a:srgbClr val="4A1942"/>
          </a:solidFill>
          <a:ln/>
        </p:spPr>
      </p:sp>
      <p:sp>
        <p:nvSpPr>
          <p:cNvPr id="20" name="Text 16"/>
          <p:cNvSpPr/>
          <p:nvPr/>
        </p:nvSpPr>
        <p:spPr>
          <a:xfrm>
            <a:off x="914400" y="3310128"/>
            <a:ext cx="7315200" cy="60350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Key Insight: The model learns both generalizable patterns and language-specific features, with stronger reliance on the latter. Character-level features enable partial transfer, but clitic attachment rules remain partially language-dependent. This finding is absent from monolingual-only studies.</a:t>
            </a:r>
            <a:endParaRPr lang="en-US" sz="1100" dirty="0"/>
          </a:p>
        </p:txBody>
      </p:sp>
      <p:sp>
        <p:nvSpPr>
          <p:cNvPr id="21" name="Text 17"/>
          <p:cNvSpPr/>
          <p:nvPr/>
        </p:nvSpPr>
        <p:spPr>
          <a:xfrm>
            <a:off x="731520" y="4160520"/>
            <a:ext cx="3657600" cy="228600"/>
          </a:xfrm>
          <a:prstGeom prst="rect">
            <a:avLst/>
          </a:prstGeom>
          <a:noFill/>
          <a:ln/>
        </p:spPr>
        <p:txBody>
          <a:bodyPr wrap="square" lIns="0" tIns="0" rIns="0" bIns="0" rtlCol="0" anchor="ctr"/>
          <a:lstStyle/>
          <a:p>
            <a:pPr marL="0" indent="0">
              <a:buNone/>
            </a:pPr>
            <a:r>
              <a:rPr lang="en-US" sz="1300" b="1" dirty="0">
                <a:solidFill>
                  <a:srgbClr val="2E1A2E"/>
                </a:solidFill>
                <a:latin typeface="Calibri" pitchFamily="34" charset="0"/>
                <a:ea typeface="Calibri" pitchFamily="34" charset="-122"/>
                <a:cs typeface="Calibri" pitchFamily="34" charset="-120"/>
              </a:rPr>
              <a:t>The 0.26 F1 Gap Explained</a:t>
            </a:r>
            <a:endParaRPr lang="en-US" sz="1300" dirty="0"/>
          </a:p>
        </p:txBody>
      </p:sp>
      <p:sp>
        <p:nvSpPr>
          <p:cNvPr id="22" name="Shape 18"/>
          <p:cNvSpPr/>
          <p:nvPr/>
        </p:nvSpPr>
        <p:spPr>
          <a:xfrm>
            <a:off x="731520" y="4434840"/>
            <a:ext cx="7680960" cy="594360"/>
          </a:xfrm>
          <a:prstGeom prst="rect">
            <a:avLst/>
          </a:prstGeom>
          <a:solidFill>
            <a:srgbClr val="FFFFFF"/>
          </a:solidFill>
          <a:ln/>
          <a:effectLst>
            <a:outerShdw blurRad="50800" dist="25400" dir="8100000" algn="bl" rotWithShape="0">
              <a:srgbClr val="000000">
                <a:alpha val="8000"/>
              </a:srgbClr>
            </a:outerShdw>
          </a:effectLst>
        </p:spPr>
      </p:sp>
      <p:sp>
        <p:nvSpPr>
          <p:cNvPr id="23" name="Text 19"/>
          <p:cNvSpPr/>
          <p:nvPr/>
        </p:nvSpPr>
        <p:spPr>
          <a:xfrm>
            <a:off x="868680" y="4480560"/>
            <a:ext cx="7406640" cy="502920"/>
          </a:xfrm>
          <a:prstGeom prst="rect">
            <a:avLst/>
          </a:prstGeom>
          <a:noFill/>
          <a:ln/>
        </p:spPr>
        <p:txBody>
          <a:bodyPr wrap="square" lIns="0" tIns="0" rIns="0" bIns="0" rtlCol="0" anchor="ctr"/>
          <a:lstStyle/>
          <a:p>
            <a:pPr marL="0" indent="0">
              <a:buNone/>
            </a:pPr>
            <a:r>
              <a:rPr lang="en-US" sz="1000" dirty="0">
                <a:solidFill>
                  <a:srgbClr val="4A3A4A"/>
                </a:solidFill>
                <a:latin typeface="Calibri" pitchFamily="34" charset="0"/>
                <a:ea typeface="Calibri" pitchFamily="34" charset="-122"/>
                <a:cs typeface="Calibri" pitchFamily="34" charset="-120"/>
              </a:rPr>
              <a:t>0.9644 (Spanish) − 0.7024 (Italian) = 0.2620 gap. Despite belonging to the same Romance language family, Spanish and Italian differ in clitic attachment rules, morphological structure, and orthographic realization. The model captures some shared Romance patterns (explaining F1 &gt; 0.70) but cannot fully generalize language-specific clitic rules without retraining.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A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75B7A"/>
          </a:solidFill>
          <a:ln/>
        </p:spPr>
      </p:sp>
      <p:pic>
        <p:nvPicPr>
          <p:cNvPr id="3" name="Image 0" descr="preencoded.png"/>
          <p:cNvPicPr>
            <a:picLocks noChangeAspect="1"/>
          </p:cNvPicPr>
          <p:nvPr/>
        </p:nvPicPr>
        <p:blipFill>
          <a:blip r:embed="rId3"/>
          <a:stretch>
            <a:fillRect/>
          </a:stretch>
        </p:blipFill>
        <p:spPr>
          <a:xfrm>
            <a:off x="731520" y="274320"/>
            <a:ext cx="320040" cy="320040"/>
          </a:xfrm>
          <a:prstGeom prst="rect">
            <a:avLst/>
          </a:prstGeom>
        </p:spPr>
      </p:pic>
      <p:sp>
        <p:nvSpPr>
          <p:cNvPr id="4" name="Text 1"/>
          <p:cNvSpPr/>
          <p:nvPr/>
        </p:nvSpPr>
        <p:spPr>
          <a:xfrm>
            <a:off x="1143000" y="228600"/>
            <a:ext cx="7315200" cy="411480"/>
          </a:xfrm>
          <a:prstGeom prst="rect">
            <a:avLst/>
          </a:prstGeom>
          <a:noFill/>
          <a:ln/>
        </p:spPr>
        <p:txBody>
          <a:bodyPr wrap="square" lIns="0" tIns="0" rIns="0" bIns="0" rtlCol="0" anchor="ctr"/>
          <a:lstStyle/>
          <a:p>
            <a:pPr marL="0" indent="0">
              <a:buNone/>
            </a:pPr>
            <a:r>
              <a:rPr lang="en-US" sz="2600" b="1" dirty="0">
                <a:solidFill>
                  <a:srgbClr val="2E1A2E"/>
                </a:solidFill>
                <a:latin typeface="Georgia" pitchFamily="34" charset="0"/>
                <a:ea typeface="Georgia" pitchFamily="34" charset="-122"/>
                <a:cs typeface="Georgia" pitchFamily="34" charset="-120"/>
              </a:rPr>
              <a:t>Feature Ablation Study</a:t>
            </a:r>
            <a:endParaRPr lang="en-US" sz="2600" dirty="0"/>
          </a:p>
        </p:txBody>
      </p:sp>
      <p:sp>
        <p:nvSpPr>
          <p:cNvPr id="5" name="Text 2"/>
          <p:cNvSpPr/>
          <p:nvPr/>
        </p:nvSpPr>
        <p:spPr>
          <a:xfrm>
            <a:off x="731520" y="685800"/>
            <a:ext cx="7680960" cy="274320"/>
          </a:xfrm>
          <a:prstGeom prst="rect">
            <a:avLst/>
          </a:prstGeom>
          <a:noFill/>
          <a:ln/>
        </p:spPr>
        <p:txBody>
          <a:bodyPr wrap="square" lIns="0" tIns="0" rIns="0" bIns="0" rtlCol="0" anchor="ctr"/>
          <a:lstStyle/>
          <a:p>
            <a:pPr marL="0" indent="0">
              <a:buNone/>
            </a:pPr>
            <a:r>
              <a:rPr lang="en-US" sz="1300" dirty="0">
                <a:solidFill>
                  <a:srgbClr val="8A7A8A"/>
                </a:solidFill>
                <a:latin typeface="Calibri" pitchFamily="34" charset="0"/>
                <a:ea typeface="Calibri" pitchFamily="34" charset="-122"/>
                <a:cs typeface="Calibri" pitchFamily="34" charset="-120"/>
              </a:rPr>
              <a:t>Systematically removing features to measure each one's contribution</a:t>
            </a:r>
            <a:endParaRPr lang="en-US" sz="1300" dirty="0"/>
          </a:p>
        </p:txBody>
      </p:sp>
      <p:graphicFrame>
        <p:nvGraphicFramePr>
          <p:cNvPr id="6" name="Chart 0"/>
          <p:cNvGraphicFramePr/>
          <p:nvPr/>
        </p:nvGraphicFramePr>
        <p:xfrm>
          <a:off x="731520" y="1051560"/>
          <a:ext cx="4572000" cy="256032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5486400" y="1051560"/>
            <a:ext cx="3108960" cy="548640"/>
          </a:xfrm>
          <a:prstGeom prst="rect">
            <a:avLst/>
          </a:prstGeom>
          <a:solidFill>
            <a:srgbClr val="FFFFFF"/>
          </a:solidFill>
          <a:ln/>
          <a:effectLst>
            <a:outerShdw blurRad="50800" dist="25400" dir="8100000" algn="bl" rotWithShape="0">
              <a:srgbClr val="000000">
                <a:alpha val="8000"/>
              </a:srgbClr>
            </a:outerShdw>
          </a:effectLst>
        </p:spPr>
      </p:sp>
      <p:sp>
        <p:nvSpPr>
          <p:cNvPr id="8" name="Shape 4"/>
          <p:cNvSpPr/>
          <p:nvPr/>
        </p:nvSpPr>
        <p:spPr>
          <a:xfrm>
            <a:off x="5486400" y="1051560"/>
            <a:ext cx="54864" cy="548640"/>
          </a:xfrm>
          <a:prstGeom prst="rect">
            <a:avLst/>
          </a:prstGeom>
          <a:solidFill>
            <a:srgbClr val="C75B7A"/>
          </a:solidFill>
          <a:ln/>
        </p:spPr>
      </p:sp>
      <p:sp>
        <p:nvSpPr>
          <p:cNvPr id="9" name="Text 5"/>
          <p:cNvSpPr/>
          <p:nvPr/>
        </p:nvSpPr>
        <p:spPr>
          <a:xfrm>
            <a:off x="5623560" y="1078992"/>
            <a:ext cx="2834640" cy="164592"/>
          </a:xfrm>
          <a:prstGeom prst="rect">
            <a:avLst/>
          </a:prstGeom>
          <a:noFill/>
          <a:ln/>
        </p:spPr>
        <p:txBody>
          <a:bodyPr wrap="square" lIns="0" tIns="0" rIns="0" bIns="0" rtlCol="0" anchor="ctr"/>
          <a:lstStyle/>
          <a:p>
            <a:pPr marL="0" indent="0">
              <a:buNone/>
            </a:pPr>
            <a:r>
              <a:rPr lang="en-US" sz="900" b="1" dirty="0">
                <a:solidFill>
                  <a:srgbClr val="2E1A2E"/>
                </a:solidFill>
                <a:latin typeface="Calibri" pitchFamily="34" charset="0"/>
                <a:ea typeface="Calibri" pitchFamily="34" charset="-122"/>
                <a:cs typeface="Calibri" pitchFamily="34" charset="-120"/>
              </a:rPr>
              <a:t>Full Model (POS + N-grams) — 0.9644 (test)</a:t>
            </a:r>
            <a:endParaRPr lang="en-US" sz="900" dirty="0"/>
          </a:p>
        </p:txBody>
      </p:sp>
      <p:sp>
        <p:nvSpPr>
          <p:cNvPr id="10" name="Text 6"/>
          <p:cNvSpPr/>
          <p:nvPr/>
        </p:nvSpPr>
        <p:spPr>
          <a:xfrm>
            <a:off x="5623560" y="1252728"/>
            <a:ext cx="2834640" cy="320040"/>
          </a:xfrm>
          <a:prstGeom prst="rect">
            <a:avLst/>
          </a:prstGeom>
          <a:noFill/>
          <a:ln/>
        </p:spPr>
        <p:txBody>
          <a:bodyPr wrap="square" lIns="0" tIns="0" rIns="0" bIns="0" rtlCol="0" anchor="ctr"/>
          <a:lstStyle/>
          <a:p>
            <a:pPr marL="0" indent="0">
              <a:buNone/>
            </a:pPr>
            <a:r>
              <a:rPr lang="en-US" sz="850" dirty="0">
                <a:solidFill>
                  <a:srgbClr val="4A3A4A"/>
                </a:solidFill>
                <a:latin typeface="Calibri" pitchFamily="34" charset="0"/>
                <a:ea typeface="Calibri" pitchFamily="34" charset="-122"/>
                <a:cs typeface="Calibri" pitchFamily="34" charset="-120"/>
              </a:rPr>
              <a:t>Strong performance confirming effectiveness of combining multiple feature types.</a:t>
            </a:r>
            <a:endParaRPr lang="en-US" sz="850" dirty="0"/>
          </a:p>
        </p:txBody>
      </p:sp>
      <p:sp>
        <p:nvSpPr>
          <p:cNvPr id="11" name="Shape 7"/>
          <p:cNvSpPr/>
          <p:nvPr/>
        </p:nvSpPr>
        <p:spPr>
          <a:xfrm>
            <a:off x="5486400" y="1691640"/>
            <a:ext cx="3108960" cy="548640"/>
          </a:xfrm>
          <a:prstGeom prst="rect">
            <a:avLst/>
          </a:prstGeom>
          <a:solidFill>
            <a:srgbClr val="FFFFFF"/>
          </a:solidFill>
          <a:ln/>
          <a:effectLst>
            <a:outerShdw blurRad="50800" dist="25400" dir="8100000" algn="bl" rotWithShape="0">
              <a:srgbClr val="000000">
                <a:alpha val="8000"/>
              </a:srgbClr>
            </a:outerShdw>
          </a:effectLst>
        </p:spPr>
      </p:sp>
      <p:sp>
        <p:nvSpPr>
          <p:cNvPr id="12" name="Shape 8"/>
          <p:cNvSpPr/>
          <p:nvPr/>
        </p:nvSpPr>
        <p:spPr>
          <a:xfrm>
            <a:off x="5486400" y="1691640"/>
            <a:ext cx="54864" cy="548640"/>
          </a:xfrm>
          <a:prstGeom prst="rect">
            <a:avLst/>
          </a:prstGeom>
          <a:solidFill>
            <a:srgbClr val="3A6A9A"/>
          </a:solidFill>
          <a:ln/>
        </p:spPr>
      </p:sp>
      <p:sp>
        <p:nvSpPr>
          <p:cNvPr id="13" name="Text 9"/>
          <p:cNvSpPr/>
          <p:nvPr/>
        </p:nvSpPr>
        <p:spPr>
          <a:xfrm>
            <a:off x="5623560" y="1719072"/>
            <a:ext cx="2834640" cy="164592"/>
          </a:xfrm>
          <a:prstGeom prst="rect">
            <a:avLst/>
          </a:prstGeom>
          <a:noFill/>
          <a:ln/>
        </p:spPr>
        <p:txBody>
          <a:bodyPr wrap="square" lIns="0" tIns="0" rIns="0" bIns="0" rtlCol="0" anchor="ctr"/>
          <a:lstStyle/>
          <a:p>
            <a:pPr marL="0" indent="0">
              <a:buNone/>
            </a:pPr>
            <a:r>
              <a:rPr lang="en-US" sz="900" b="1" dirty="0">
                <a:solidFill>
                  <a:srgbClr val="2E1A2E"/>
                </a:solidFill>
                <a:latin typeface="Calibri" pitchFamily="34" charset="0"/>
                <a:ea typeface="Calibri" pitchFamily="34" charset="-122"/>
                <a:cs typeface="Calibri" pitchFamily="34" charset="-120"/>
              </a:rPr>
              <a:t>Without POS Features — 0.9924 (dev)</a:t>
            </a:r>
            <a:endParaRPr lang="en-US" sz="900" dirty="0"/>
          </a:p>
        </p:txBody>
      </p:sp>
      <p:sp>
        <p:nvSpPr>
          <p:cNvPr id="14" name="Text 10"/>
          <p:cNvSpPr/>
          <p:nvPr/>
        </p:nvSpPr>
        <p:spPr>
          <a:xfrm>
            <a:off x="5623560" y="1892808"/>
            <a:ext cx="2834640" cy="320040"/>
          </a:xfrm>
          <a:prstGeom prst="rect">
            <a:avLst/>
          </a:prstGeom>
          <a:noFill/>
          <a:ln/>
        </p:spPr>
        <p:txBody>
          <a:bodyPr wrap="square" lIns="0" tIns="0" rIns="0" bIns="0" rtlCol="0" anchor="ctr"/>
          <a:lstStyle/>
          <a:p>
            <a:pPr marL="0" indent="0">
              <a:buNone/>
            </a:pPr>
            <a:r>
              <a:rPr lang="en-US" sz="850" dirty="0">
                <a:solidFill>
                  <a:srgbClr val="4A3A4A"/>
                </a:solidFill>
                <a:latin typeface="Calibri" pitchFamily="34" charset="0"/>
                <a:ea typeface="Calibri" pitchFamily="34" charset="-122"/>
                <a:cs typeface="Calibri" pitchFamily="34" charset="-120"/>
              </a:rPr>
              <a:t>Only minor decrease — POS provides little additional value. Segmentation is driven more by orthographic patterns than syntactic context.</a:t>
            </a:r>
            <a:endParaRPr lang="en-US" sz="850" dirty="0"/>
          </a:p>
        </p:txBody>
      </p:sp>
      <p:sp>
        <p:nvSpPr>
          <p:cNvPr id="15" name="Shape 11"/>
          <p:cNvSpPr/>
          <p:nvPr/>
        </p:nvSpPr>
        <p:spPr>
          <a:xfrm>
            <a:off x="5486400" y="2331720"/>
            <a:ext cx="3108960" cy="548640"/>
          </a:xfrm>
          <a:prstGeom prst="rect">
            <a:avLst/>
          </a:prstGeom>
          <a:solidFill>
            <a:srgbClr val="FFFFFF"/>
          </a:solidFill>
          <a:ln/>
          <a:effectLst>
            <a:outerShdw blurRad="50800" dist="25400" dir="8100000" algn="bl" rotWithShape="0">
              <a:srgbClr val="000000">
                <a:alpha val="8000"/>
              </a:srgbClr>
            </a:outerShdw>
          </a:effectLst>
        </p:spPr>
      </p:sp>
      <p:sp>
        <p:nvSpPr>
          <p:cNvPr id="16" name="Shape 12"/>
          <p:cNvSpPr/>
          <p:nvPr/>
        </p:nvSpPr>
        <p:spPr>
          <a:xfrm>
            <a:off x="5486400" y="2331720"/>
            <a:ext cx="54864" cy="548640"/>
          </a:xfrm>
          <a:prstGeom prst="rect">
            <a:avLst/>
          </a:prstGeom>
          <a:solidFill>
            <a:srgbClr val="C0392B"/>
          </a:solidFill>
          <a:ln/>
        </p:spPr>
      </p:sp>
      <p:sp>
        <p:nvSpPr>
          <p:cNvPr id="17" name="Text 13"/>
          <p:cNvSpPr/>
          <p:nvPr/>
        </p:nvSpPr>
        <p:spPr>
          <a:xfrm>
            <a:off x="5623560" y="2359152"/>
            <a:ext cx="2834640" cy="164592"/>
          </a:xfrm>
          <a:prstGeom prst="rect">
            <a:avLst/>
          </a:prstGeom>
          <a:noFill/>
          <a:ln/>
        </p:spPr>
        <p:txBody>
          <a:bodyPr wrap="square" lIns="0" tIns="0" rIns="0" bIns="0" rtlCol="0" anchor="ctr"/>
          <a:lstStyle/>
          <a:p>
            <a:pPr marL="0" indent="0">
              <a:buNone/>
            </a:pPr>
            <a:r>
              <a:rPr lang="en-US" sz="900" b="1" dirty="0">
                <a:solidFill>
                  <a:srgbClr val="2E1A2E"/>
                </a:solidFill>
                <a:latin typeface="Calibri" pitchFamily="34" charset="0"/>
                <a:ea typeface="Calibri" pitchFamily="34" charset="-122"/>
                <a:cs typeface="Calibri" pitchFamily="34" charset="-120"/>
              </a:rPr>
              <a:t>Without N-gram Features — 0.9313 (dev)</a:t>
            </a:r>
            <a:endParaRPr lang="en-US" sz="900" dirty="0"/>
          </a:p>
        </p:txBody>
      </p:sp>
      <p:sp>
        <p:nvSpPr>
          <p:cNvPr id="18" name="Text 14"/>
          <p:cNvSpPr/>
          <p:nvPr/>
        </p:nvSpPr>
        <p:spPr>
          <a:xfrm>
            <a:off x="5623560" y="2532888"/>
            <a:ext cx="2834640" cy="320040"/>
          </a:xfrm>
          <a:prstGeom prst="rect">
            <a:avLst/>
          </a:prstGeom>
          <a:noFill/>
          <a:ln/>
        </p:spPr>
        <p:txBody>
          <a:bodyPr wrap="square" lIns="0" tIns="0" rIns="0" bIns="0" rtlCol="0" anchor="ctr"/>
          <a:lstStyle/>
          <a:p>
            <a:pPr marL="0" indent="0">
              <a:buNone/>
            </a:pPr>
            <a:r>
              <a:rPr lang="en-US" sz="850" dirty="0">
                <a:solidFill>
                  <a:srgbClr val="4A3A4A"/>
                </a:solidFill>
                <a:latin typeface="Calibri" pitchFamily="34" charset="0"/>
                <a:ea typeface="Calibri" pitchFamily="34" charset="-122"/>
                <a:cs typeface="Calibri" pitchFamily="34" charset="-120"/>
              </a:rPr>
              <a:t>Noticeable drop — local character context is CRUCIAL for boundary identification. N-grams capture clitic suffixes like "-me", "-lo".</a:t>
            </a:r>
            <a:endParaRPr lang="en-US" sz="850" dirty="0"/>
          </a:p>
        </p:txBody>
      </p:sp>
      <p:sp>
        <p:nvSpPr>
          <p:cNvPr id="19" name="Shape 15"/>
          <p:cNvSpPr/>
          <p:nvPr/>
        </p:nvSpPr>
        <p:spPr>
          <a:xfrm>
            <a:off x="5486400" y="2971800"/>
            <a:ext cx="3108960" cy="548640"/>
          </a:xfrm>
          <a:prstGeom prst="rect">
            <a:avLst/>
          </a:prstGeom>
          <a:solidFill>
            <a:srgbClr val="FFFFFF"/>
          </a:solidFill>
          <a:ln/>
          <a:effectLst>
            <a:outerShdw blurRad="50800" dist="25400" dir="8100000" algn="bl" rotWithShape="0">
              <a:srgbClr val="000000">
                <a:alpha val="8000"/>
              </a:srgbClr>
            </a:outerShdw>
          </a:effectLst>
        </p:spPr>
      </p:sp>
      <p:sp>
        <p:nvSpPr>
          <p:cNvPr id="20" name="Shape 16"/>
          <p:cNvSpPr/>
          <p:nvPr/>
        </p:nvSpPr>
        <p:spPr>
          <a:xfrm>
            <a:off x="5486400" y="2971800"/>
            <a:ext cx="54864" cy="548640"/>
          </a:xfrm>
          <a:prstGeom prst="rect">
            <a:avLst/>
          </a:prstGeom>
          <a:solidFill>
            <a:srgbClr val="2A8A7A"/>
          </a:solidFill>
          <a:ln/>
        </p:spPr>
      </p:sp>
      <p:sp>
        <p:nvSpPr>
          <p:cNvPr id="21" name="Text 17"/>
          <p:cNvSpPr/>
          <p:nvPr/>
        </p:nvSpPr>
        <p:spPr>
          <a:xfrm>
            <a:off x="5623560" y="2999232"/>
            <a:ext cx="2834640" cy="164592"/>
          </a:xfrm>
          <a:prstGeom prst="rect">
            <a:avLst/>
          </a:prstGeom>
          <a:noFill/>
          <a:ln/>
        </p:spPr>
        <p:txBody>
          <a:bodyPr wrap="square" lIns="0" tIns="0" rIns="0" bIns="0" rtlCol="0" anchor="ctr"/>
          <a:lstStyle/>
          <a:p>
            <a:pPr marL="0" indent="0">
              <a:buNone/>
            </a:pPr>
            <a:r>
              <a:rPr lang="en-US" sz="900" b="1" dirty="0">
                <a:solidFill>
                  <a:srgbClr val="2E1A2E"/>
                </a:solidFill>
                <a:latin typeface="Calibri" pitchFamily="34" charset="0"/>
                <a:ea typeface="Calibri" pitchFamily="34" charset="-122"/>
                <a:cs typeface="Calibri" pitchFamily="34" charset="-120"/>
              </a:rPr>
              <a:t>Base Features Only — 0.9975 (dev)</a:t>
            </a:r>
            <a:endParaRPr lang="en-US" sz="900" dirty="0"/>
          </a:p>
        </p:txBody>
      </p:sp>
      <p:sp>
        <p:nvSpPr>
          <p:cNvPr id="22" name="Text 18"/>
          <p:cNvSpPr/>
          <p:nvPr/>
        </p:nvSpPr>
        <p:spPr>
          <a:xfrm>
            <a:off x="5623560" y="3172968"/>
            <a:ext cx="2834640" cy="320040"/>
          </a:xfrm>
          <a:prstGeom prst="rect">
            <a:avLst/>
          </a:prstGeom>
          <a:noFill/>
          <a:ln/>
        </p:spPr>
        <p:txBody>
          <a:bodyPr wrap="square" lIns="0" tIns="0" rIns="0" bIns="0" rtlCol="0" anchor="ctr"/>
          <a:lstStyle/>
          <a:p>
            <a:pPr marL="0" indent="0">
              <a:buNone/>
            </a:pPr>
            <a:r>
              <a:rPr lang="en-US" sz="850" dirty="0">
                <a:solidFill>
                  <a:srgbClr val="4A3A4A"/>
                </a:solidFill>
                <a:latin typeface="Calibri" pitchFamily="34" charset="0"/>
                <a:ea typeface="Calibri" pitchFamily="34" charset="-122"/>
                <a:cs typeface="Calibri" pitchFamily="34" charset="-120"/>
              </a:rPr>
              <a:t>Surprisingly strong — the core BIO formulation + character-level representation is highly effective even with minimal features.</a:t>
            </a:r>
            <a:endParaRPr lang="en-US" sz="850" dirty="0"/>
          </a:p>
        </p:txBody>
      </p:sp>
      <p:sp>
        <p:nvSpPr>
          <p:cNvPr id="23" name="Shape 19"/>
          <p:cNvSpPr/>
          <p:nvPr/>
        </p:nvSpPr>
        <p:spPr>
          <a:xfrm>
            <a:off x="731520" y="3840480"/>
            <a:ext cx="7680960" cy="502920"/>
          </a:xfrm>
          <a:prstGeom prst="rect">
            <a:avLst/>
          </a:prstGeom>
          <a:solidFill>
            <a:srgbClr val="4A1942"/>
          </a:solidFill>
          <a:ln/>
        </p:spPr>
      </p:sp>
      <p:sp>
        <p:nvSpPr>
          <p:cNvPr id="24" name="Text 20"/>
          <p:cNvSpPr/>
          <p:nvPr/>
        </p:nvSpPr>
        <p:spPr>
          <a:xfrm>
            <a:off x="914400" y="3840480"/>
            <a:ext cx="7315200" cy="502920"/>
          </a:xfrm>
          <a:prstGeom prst="rect">
            <a:avLst/>
          </a:prstGeom>
          <a:noFill/>
          <a:ln/>
        </p:spPr>
        <p:txBody>
          <a:bodyPr wrap="square" lIns="0" tIns="0" rIns="0" bIns="0" rtlCol="0" anchor="ctr"/>
          <a:lstStyle/>
          <a:p>
            <a:r>
              <a:rPr lang="en-US" sz="1100" dirty="0">
                <a:solidFill>
                  <a:srgbClr val="FFFFFF"/>
                </a:solidFill>
                <a:latin typeface="Calibri" pitchFamily="34" charset="0"/>
                <a:ea typeface="Calibri" pitchFamily="34" charset="-122"/>
                <a:cs typeface="Calibri" pitchFamily="34" charset="-120"/>
              </a:rPr>
              <a:t>Key Takeaway: N-gram features are critical (−3.3% without them). POS features add minimal value (−0.25%). The base character-level BIO formulation alone is surprisingly powerful.</a:t>
            </a:r>
            <a:r>
              <a:rPr lang="en-US" sz="1100" dirty="0">
                <a:solidFill>
                  <a:schemeClr val="bg1"/>
                </a:solidFill>
                <a:latin typeface="Calibri" pitchFamily="34" charset="0"/>
                <a:ea typeface="Calibri" pitchFamily="34" charset="-122"/>
                <a:cs typeface="Calibri" pitchFamily="34" charset="-120"/>
              </a:rPr>
              <a:t> </a:t>
            </a:r>
            <a:r>
              <a:rPr lang="en-US" sz="1100" b="1" dirty="0">
                <a:solidFill>
                  <a:schemeClr val="bg1"/>
                </a:solidFill>
              </a:rPr>
              <a:t>Ablation results are reported on the development set.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A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75B7A"/>
          </a:solidFill>
          <a:ln/>
        </p:spPr>
      </p:sp>
      <p:pic>
        <p:nvPicPr>
          <p:cNvPr id="3" name="Image 0" descr="preencoded.png"/>
          <p:cNvPicPr>
            <a:picLocks noChangeAspect="1"/>
          </p:cNvPicPr>
          <p:nvPr/>
        </p:nvPicPr>
        <p:blipFill>
          <a:blip r:embed="rId3"/>
          <a:stretch>
            <a:fillRect/>
          </a:stretch>
        </p:blipFill>
        <p:spPr>
          <a:xfrm>
            <a:off x="731520" y="274320"/>
            <a:ext cx="320040" cy="320040"/>
          </a:xfrm>
          <a:prstGeom prst="rect">
            <a:avLst/>
          </a:prstGeom>
        </p:spPr>
      </p:pic>
      <p:sp>
        <p:nvSpPr>
          <p:cNvPr id="4" name="Text 1"/>
          <p:cNvSpPr/>
          <p:nvPr/>
        </p:nvSpPr>
        <p:spPr>
          <a:xfrm>
            <a:off x="1143000" y="228600"/>
            <a:ext cx="7315200" cy="411480"/>
          </a:xfrm>
          <a:prstGeom prst="rect">
            <a:avLst/>
          </a:prstGeom>
          <a:noFill/>
          <a:ln/>
        </p:spPr>
        <p:txBody>
          <a:bodyPr wrap="square" lIns="0" tIns="0" rIns="0" bIns="0" rtlCol="0" anchor="ctr"/>
          <a:lstStyle/>
          <a:p>
            <a:pPr marL="0" indent="0">
              <a:buNone/>
            </a:pPr>
            <a:r>
              <a:rPr lang="en-US" sz="2600" b="1" dirty="0">
                <a:solidFill>
                  <a:srgbClr val="2E1A2E"/>
                </a:solidFill>
                <a:latin typeface="Georgia" pitchFamily="34" charset="0"/>
                <a:ea typeface="Georgia" pitchFamily="34" charset="-122"/>
                <a:cs typeface="Georgia" pitchFamily="34" charset="-120"/>
              </a:rPr>
              <a:t>5 Key Insights from Experiments</a:t>
            </a:r>
            <a:endParaRPr lang="en-US" sz="2600" dirty="0"/>
          </a:p>
        </p:txBody>
      </p:sp>
      <p:sp>
        <p:nvSpPr>
          <p:cNvPr id="5" name="Shape 2"/>
          <p:cNvSpPr/>
          <p:nvPr/>
        </p:nvSpPr>
        <p:spPr>
          <a:xfrm>
            <a:off x="731520" y="777240"/>
            <a:ext cx="7680960" cy="685800"/>
          </a:xfrm>
          <a:prstGeom prst="rect">
            <a:avLst/>
          </a:prstGeom>
          <a:solidFill>
            <a:srgbClr val="FFFFFF"/>
          </a:solidFill>
          <a:ln/>
          <a:effectLst>
            <a:outerShdw blurRad="50800" dist="25400" dir="8100000" algn="bl" rotWithShape="0">
              <a:srgbClr val="000000">
                <a:alpha val="8000"/>
              </a:srgbClr>
            </a:outerShdw>
          </a:effectLst>
        </p:spPr>
      </p:sp>
      <p:sp>
        <p:nvSpPr>
          <p:cNvPr id="6" name="Shape 3"/>
          <p:cNvSpPr/>
          <p:nvPr/>
        </p:nvSpPr>
        <p:spPr>
          <a:xfrm>
            <a:off x="868680" y="850392"/>
            <a:ext cx="320040" cy="320040"/>
          </a:xfrm>
          <a:prstGeom prst="ellipse">
            <a:avLst/>
          </a:prstGeom>
          <a:solidFill>
            <a:srgbClr val="C75B7A"/>
          </a:solidFill>
          <a:ln/>
        </p:spPr>
      </p:sp>
      <p:sp>
        <p:nvSpPr>
          <p:cNvPr id="7" name="Text 4"/>
          <p:cNvSpPr/>
          <p:nvPr/>
        </p:nvSpPr>
        <p:spPr>
          <a:xfrm>
            <a:off x="868680" y="850392"/>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8" name="Text 5"/>
          <p:cNvSpPr/>
          <p:nvPr/>
        </p:nvSpPr>
        <p:spPr>
          <a:xfrm>
            <a:off x="1325880" y="822960"/>
            <a:ext cx="6949440" cy="201168"/>
          </a:xfrm>
          <a:prstGeom prst="rect">
            <a:avLst/>
          </a:prstGeom>
          <a:noFill/>
          <a:ln/>
        </p:spPr>
        <p:txBody>
          <a:bodyPr wrap="square" lIns="0" tIns="0" rIns="0" bIns="0" rtlCol="0" anchor="ctr"/>
          <a:lstStyle/>
          <a:p>
            <a:pPr marL="0" indent="0">
              <a:buNone/>
            </a:pPr>
            <a:r>
              <a:rPr lang="en-US" sz="1250" b="1" dirty="0">
                <a:solidFill>
                  <a:srgbClr val="2E1A2E"/>
                </a:solidFill>
                <a:latin typeface="Calibri" pitchFamily="34" charset="0"/>
                <a:ea typeface="Calibri" pitchFamily="34" charset="-122"/>
                <a:cs typeface="Calibri" pitchFamily="34" charset="-120"/>
              </a:rPr>
              <a:t>Character-level modeling is highly effective</a:t>
            </a:r>
            <a:endParaRPr lang="en-US" sz="1250" dirty="0"/>
          </a:p>
        </p:txBody>
      </p:sp>
      <p:sp>
        <p:nvSpPr>
          <p:cNvPr id="9" name="Text 6"/>
          <p:cNvSpPr/>
          <p:nvPr/>
        </p:nvSpPr>
        <p:spPr>
          <a:xfrm>
            <a:off x="1325880" y="1051560"/>
            <a:ext cx="6949440" cy="365760"/>
          </a:xfrm>
          <a:prstGeom prst="rect">
            <a:avLst/>
          </a:prstGeom>
          <a:noFill/>
          <a:ln/>
        </p:spPr>
        <p:txBody>
          <a:bodyPr wrap="square" lIns="0" tIns="0" rIns="0" bIns="0" rtlCol="0" anchor="ctr"/>
          <a:lstStyle/>
          <a:p>
            <a:pPr marL="0" indent="0">
              <a:buNone/>
            </a:pPr>
            <a:r>
              <a:rPr lang="en-US" sz="1000" dirty="0">
                <a:solidFill>
                  <a:srgbClr val="4A3A4A"/>
                </a:solidFill>
                <a:latin typeface="Calibri" pitchFamily="34" charset="0"/>
                <a:ea typeface="Calibri" pitchFamily="34" charset="-122"/>
                <a:cs typeface="Calibri" pitchFamily="34" charset="-120"/>
              </a:rPr>
              <a:t>It captures morphological structure directly at the subword level. The base model alone achieves F1 = 0.9975 on dev, proving the representation choice is the most important design decision.</a:t>
            </a:r>
            <a:endParaRPr lang="en-US" sz="1000" dirty="0"/>
          </a:p>
        </p:txBody>
      </p:sp>
      <p:sp>
        <p:nvSpPr>
          <p:cNvPr id="10" name="Shape 7"/>
          <p:cNvSpPr/>
          <p:nvPr/>
        </p:nvSpPr>
        <p:spPr>
          <a:xfrm>
            <a:off x="731520" y="1600200"/>
            <a:ext cx="7680960" cy="685800"/>
          </a:xfrm>
          <a:prstGeom prst="rect">
            <a:avLst/>
          </a:prstGeom>
          <a:solidFill>
            <a:srgbClr val="FFFFFF"/>
          </a:solidFill>
          <a:ln/>
          <a:effectLst>
            <a:outerShdw blurRad="50800" dist="25400" dir="8100000" algn="bl" rotWithShape="0">
              <a:srgbClr val="000000">
                <a:alpha val="8000"/>
              </a:srgbClr>
            </a:outerShdw>
          </a:effectLst>
        </p:spPr>
      </p:sp>
      <p:sp>
        <p:nvSpPr>
          <p:cNvPr id="11" name="Shape 8"/>
          <p:cNvSpPr/>
          <p:nvPr/>
        </p:nvSpPr>
        <p:spPr>
          <a:xfrm>
            <a:off x="868680" y="1673352"/>
            <a:ext cx="320040" cy="320040"/>
          </a:xfrm>
          <a:prstGeom prst="ellipse">
            <a:avLst/>
          </a:prstGeom>
          <a:solidFill>
            <a:srgbClr val="3A6A9A"/>
          </a:solidFill>
          <a:ln/>
        </p:spPr>
      </p:sp>
      <p:sp>
        <p:nvSpPr>
          <p:cNvPr id="12" name="Text 9"/>
          <p:cNvSpPr/>
          <p:nvPr/>
        </p:nvSpPr>
        <p:spPr>
          <a:xfrm>
            <a:off x="868680" y="1673352"/>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3" name="Text 10"/>
          <p:cNvSpPr/>
          <p:nvPr/>
        </p:nvSpPr>
        <p:spPr>
          <a:xfrm>
            <a:off x="1325880" y="1645920"/>
            <a:ext cx="6949440" cy="201168"/>
          </a:xfrm>
          <a:prstGeom prst="rect">
            <a:avLst/>
          </a:prstGeom>
          <a:noFill/>
          <a:ln/>
        </p:spPr>
        <p:txBody>
          <a:bodyPr wrap="square" lIns="0" tIns="0" rIns="0" bIns="0" rtlCol="0" anchor="ctr"/>
          <a:lstStyle/>
          <a:p>
            <a:pPr marL="0" indent="0">
              <a:buNone/>
            </a:pPr>
            <a:r>
              <a:rPr lang="en-US" sz="1250" b="1" dirty="0">
                <a:solidFill>
                  <a:srgbClr val="2E1A2E"/>
                </a:solidFill>
                <a:latin typeface="Calibri" pitchFamily="34" charset="0"/>
                <a:ea typeface="Calibri" pitchFamily="34" charset="-122"/>
                <a:cs typeface="Calibri" pitchFamily="34" charset="-120"/>
              </a:rPr>
              <a:t>Boundary F1 is the right metric</a:t>
            </a:r>
            <a:endParaRPr lang="en-US" sz="1250" dirty="0"/>
          </a:p>
        </p:txBody>
      </p:sp>
      <p:sp>
        <p:nvSpPr>
          <p:cNvPr id="14" name="Text 11"/>
          <p:cNvSpPr/>
          <p:nvPr/>
        </p:nvSpPr>
        <p:spPr>
          <a:xfrm>
            <a:off x="1325880" y="1874520"/>
            <a:ext cx="6949440" cy="365760"/>
          </a:xfrm>
          <a:prstGeom prst="rect">
            <a:avLst/>
          </a:prstGeom>
          <a:noFill/>
          <a:ln/>
        </p:spPr>
        <p:txBody>
          <a:bodyPr wrap="square" lIns="0" tIns="0" rIns="0" bIns="0" rtlCol="0" anchor="ctr"/>
          <a:lstStyle/>
          <a:p>
            <a:pPr marL="0" indent="0">
              <a:buNone/>
            </a:pPr>
            <a:r>
              <a:rPr lang="en-US" sz="1000" dirty="0">
                <a:solidFill>
                  <a:srgbClr val="4A3A4A"/>
                </a:solidFill>
                <a:latin typeface="Calibri" pitchFamily="34" charset="0"/>
                <a:ea typeface="Calibri" pitchFamily="34" charset="-122"/>
                <a:cs typeface="Calibri" pitchFamily="34" charset="-120"/>
              </a:rPr>
              <a:t>Character-level accuracy of 1.0 is misleading — predicting individual characters is trivial. Boundary F1 focuses on the actual segmentation task and gives a meaningful performance signal.</a:t>
            </a:r>
            <a:endParaRPr lang="en-US" sz="1000" dirty="0"/>
          </a:p>
        </p:txBody>
      </p:sp>
      <p:sp>
        <p:nvSpPr>
          <p:cNvPr id="15" name="Shape 12"/>
          <p:cNvSpPr/>
          <p:nvPr/>
        </p:nvSpPr>
        <p:spPr>
          <a:xfrm>
            <a:off x="731520" y="2423160"/>
            <a:ext cx="7680960" cy="685800"/>
          </a:xfrm>
          <a:prstGeom prst="rect">
            <a:avLst/>
          </a:prstGeom>
          <a:solidFill>
            <a:srgbClr val="FFFFFF"/>
          </a:solidFill>
          <a:ln/>
          <a:effectLst>
            <a:outerShdw blurRad="50800" dist="25400" dir="8100000" algn="bl" rotWithShape="0">
              <a:srgbClr val="000000">
                <a:alpha val="8000"/>
              </a:srgbClr>
            </a:outerShdw>
          </a:effectLst>
        </p:spPr>
      </p:sp>
      <p:sp>
        <p:nvSpPr>
          <p:cNvPr id="16" name="Shape 13"/>
          <p:cNvSpPr/>
          <p:nvPr/>
        </p:nvSpPr>
        <p:spPr>
          <a:xfrm>
            <a:off x="868680" y="2496312"/>
            <a:ext cx="320040" cy="320040"/>
          </a:xfrm>
          <a:prstGeom prst="ellipse">
            <a:avLst/>
          </a:prstGeom>
          <a:solidFill>
            <a:srgbClr val="2A8A7A"/>
          </a:solidFill>
          <a:ln/>
        </p:spPr>
      </p:sp>
      <p:sp>
        <p:nvSpPr>
          <p:cNvPr id="17" name="Text 14"/>
          <p:cNvSpPr/>
          <p:nvPr/>
        </p:nvSpPr>
        <p:spPr>
          <a:xfrm>
            <a:off x="868680" y="2496312"/>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8" name="Text 15"/>
          <p:cNvSpPr/>
          <p:nvPr/>
        </p:nvSpPr>
        <p:spPr>
          <a:xfrm>
            <a:off x="1325880" y="2468880"/>
            <a:ext cx="6949440" cy="201168"/>
          </a:xfrm>
          <a:prstGeom prst="rect">
            <a:avLst/>
          </a:prstGeom>
          <a:noFill/>
          <a:ln/>
        </p:spPr>
        <p:txBody>
          <a:bodyPr wrap="square" lIns="0" tIns="0" rIns="0" bIns="0" rtlCol="0" anchor="ctr"/>
          <a:lstStyle/>
          <a:p>
            <a:pPr marL="0" indent="0">
              <a:buNone/>
            </a:pPr>
            <a:r>
              <a:rPr lang="en-US" sz="1250" b="1" dirty="0">
                <a:solidFill>
                  <a:srgbClr val="2E1A2E"/>
                </a:solidFill>
                <a:latin typeface="Calibri" pitchFamily="34" charset="0"/>
                <a:ea typeface="Calibri" pitchFamily="34" charset="-122"/>
                <a:cs typeface="Calibri" pitchFamily="34" charset="-120"/>
              </a:rPr>
              <a:t>N-gram features are critical</a:t>
            </a:r>
            <a:endParaRPr lang="en-US" sz="1250" dirty="0"/>
          </a:p>
        </p:txBody>
      </p:sp>
      <p:sp>
        <p:nvSpPr>
          <p:cNvPr id="19" name="Text 16"/>
          <p:cNvSpPr/>
          <p:nvPr/>
        </p:nvSpPr>
        <p:spPr>
          <a:xfrm>
            <a:off x="1325880" y="2697480"/>
            <a:ext cx="6949440" cy="365760"/>
          </a:xfrm>
          <a:prstGeom prst="rect">
            <a:avLst/>
          </a:prstGeom>
          <a:noFill/>
          <a:ln/>
        </p:spPr>
        <p:txBody>
          <a:bodyPr wrap="square" lIns="0" tIns="0" rIns="0" bIns="0" rtlCol="0" anchor="ctr"/>
          <a:lstStyle/>
          <a:p>
            <a:pPr marL="0" indent="0">
              <a:buNone/>
            </a:pPr>
            <a:r>
              <a:rPr lang="en-US" sz="1000" dirty="0">
                <a:solidFill>
                  <a:srgbClr val="4A3A4A"/>
                </a:solidFill>
                <a:latin typeface="Calibri" pitchFamily="34" charset="0"/>
                <a:ea typeface="Calibri" pitchFamily="34" charset="-122"/>
                <a:cs typeface="Calibri" pitchFamily="34" charset="-120"/>
              </a:rPr>
              <a:t>Removing n-grams causes a 3.3% F1 drop — the largest of any ablation. Local character patterns like common clitic suffixes ("-me", "-lo", "-le") are essential for boundary prediction.</a:t>
            </a:r>
            <a:endParaRPr lang="en-US" sz="1000" dirty="0"/>
          </a:p>
        </p:txBody>
      </p:sp>
      <p:sp>
        <p:nvSpPr>
          <p:cNvPr id="20" name="Shape 17"/>
          <p:cNvSpPr/>
          <p:nvPr/>
        </p:nvSpPr>
        <p:spPr>
          <a:xfrm>
            <a:off x="731520" y="3246120"/>
            <a:ext cx="7680960" cy="685800"/>
          </a:xfrm>
          <a:prstGeom prst="rect">
            <a:avLst/>
          </a:prstGeom>
          <a:solidFill>
            <a:srgbClr val="FFFFFF"/>
          </a:solidFill>
          <a:ln/>
          <a:effectLst>
            <a:outerShdw blurRad="50800" dist="25400" dir="8100000" algn="bl" rotWithShape="0">
              <a:srgbClr val="000000">
                <a:alpha val="8000"/>
              </a:srgbClr>
            </a:outerShdw>
          </a:effectLst>
        </p:spPr>
      </p:sp>
      <p:sp>
        <p:nvSpPr>
          <p:cNvPr id="21" name="Shape 18"/>
          <p:cNvSpPr/>
          <p:nvPr/>
        </p:nvSpPr>
        <p:spPr>
          <a:xfrm>
            <a:off x="868680" y="3319272"/>
            <a:ext cx="320040" cy="320040"/>
          </a:xfrm>
          <a:prstGeom prst="ellipse">
            <a:avLst/>
          </a:prstGeom>
          <a:solidFill>
            <a:srgbClr val="D4A03C"/>
          </a:solidFill>
          <a:ln/>
        </p:spPr>
      </p:sp>
      <p:sp>
        <p:nvSpPr>
          <p:cNvPr id="22" name="Text 19"/>
          <p:cNvSpPr/>
          <p:nvPr/>
        </p:nvSpPr>
        <p:spPr>
          <a:xfrm>
            <a:off x="868680" y="3319272"/>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3" name="Text 20"/>
          <p:cNvSpPr/>
          <p:nvPr/>
        </p:nvSpPr>
        <p:spPr>
          <a:xfrm>
            <a:off x="1325880" y="3291840"/>
            <a:ext cx="6949440" cy="201168"/>
          </a:xfrm>
          <a:prstGeom prst="rect">
            <a:avLst/>
          </a:prstGeom>
          <a:noFill/>
          <a:ln/>
        </p:spPr>
        <p:txBody>
          <a:bodyPr wrap="square" lIns="0" tIns="0" rIns="0" bIns="0" rtlCol="0" anchor="ctr"/>
          <a:lstStyle/>
          <a:p>
            <a:pPr marL="0" indent="0">
              <a:buNone/>
            </a:pPr>
            <a:r>
              <a:rPr lang="en-US" sz="1250" b="1" dirty="0">
                <a:solidFill>
                  <a:srgbClr val="2E1A2E"/>
                </a:solidFill>
                <a:latin typeface="Calibri" pitchFamily="34" charset="0"/>
                <a:ea typeface="Calibri" pitchFamily="34" charset="-122"/>
                <a:cs typeface="Calibri" pitchFamily="34" charset="-120"/>
              </a:rPr>
              <a:t>POS features add minimal value</a:t>
            </a:r>
            <a:endParaRPr lang="en-US" sz="1250" dirty="0"/>
          </a:p>
        </p:txBody>
      </p:sp>
      <p:sp>
        <p:nvSpPr>
          <p:cNvPr id="24" name="Text 21"/>
          <p:cNvSpPr/>
          <p:nvPr/>
        </p:nvSpPr>
        <p:spPr>
          <a:xfrm>
            <a:off x="1325880" y="3520440"/>
            <a:ext cx="6949440" cy="365760"/>
          </a:xfrm>
          <a:prstGeom prst="rect">
            <a:avLst/>
          </a:prstGeom>
          <a:noFill/>
          <a:ln/>
        </p:spPr>
        <p:txBody>
          <a:bodyPr wrap="square" lIns="0" tIns="0" rIns="0" bIns="0" rtlCol="0" anchor="ctr"/>
          <a:lstStyle/>
          <a:p>
            <a:pPr marL="0" indent="0">
              <a:buNone/>
            </a:pPr>
            <a:r>
              <a:rPr lang="en-US" sz="1000" dirty="0">
                <a:solidFill>
                  <a:srgbClr val="4A3A4A"/>
                </a:solidFill>
                <a:latin typeface="Calibri" pitchFamily="34" charset="0"/>
                <a:ea typeface="Calibri" pitchFamily="34" charset="-122"/>
                <a:cs typeface="Calibri" pitchFamily="34" charset="-120"/>
              </a:rPr>
              <a:t>Only 0.25% F1 drop when removed. Segmentation is driven by orthographic patterns, not syntactic context. This challenges the assumption that POS is always important for morphological tasks.</a:t>
            </a:r>
            <a:endParaRPr lang="en-US" sz="1000" dirty="0"/>
          </a:p>
        </p:txBody>
      </p:sp>
      <p:sp>
        <p:nvSpPr>
          <p:cNvPr id="25" name="Shape 22"/>
          <p:cNvSpPr/>
          <p:nvPr/>
        </p:nvSpPr>
        <p:spPr>
          <a:xfrm>
            <a:off x="731520" y="4069080"/>
            <a:ext cx="7680960" cy="685800"/>
          </a:xfrm>
          <a:prstGeom prst="rect">
            <a:avLst/>
          </a:prstGeom>
          <a:solidFill>
            <a:srgbClr val="FFFFFF"/>
          </a:solidFill>
          <a:ln/>
          <a:effectLst>
            <a:outerShdw blurRad="50800" dist="25400" dir="8100000" algn="bl" rotWithShape="0">
              <a:srgbClr val="000000">
                <a:alpha val="8000"/>
              </a:srgbClr>
            </a:outerShdw>
          </a:effectLst>
        </p:spPr>
      </p:sp>
      <p:sp>
        <p:nvSpPr>
          <p:cNvPr id="26" name="Shape 23"/>
          <p:cNvSpPr/>
          <p:nvPr/>
        </p:nvSpPr>
        <p:spPr>
          <a:xfrm>
            <a:off x="868680" y="4142232"/>
            <a:ext cx="320040" cy="320040"/>
          </a:xfrm>
          <a:prstGeom prst="ellipse">
            <a:avLst/>
          </a:prstGeom>
          <a:solidFill>
            <a:srgbClr val="6B3A6B"/>
          </a:solidFill>
          <a:ln/>
        </p:spPr>
      </p:sp>
      <p:sp>
        <p:nvSpPr>
          <p:cNvPr id="27" name="Text 24"/>
          <p:cNvSpPr/>
          <p:nvPr/>
        </p:nvSpPr>
        <p:spPr>
          <a:xfrm>
            <a:off x="868680" y="4142232"/>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8" name="Text 25"/>
          <p:cNvSpPr/>
          <p:nvPr/>
        </p:nvSpPr>
        <p:spPr>
          <a:xfrm>
            <a:off x="1325880" y="4114800"/>
            <a:ext cx="6949440" cy="201168"/>
          </a:xfrm>
          <a:prstGeom prst="rect">
            <a:avLst/>
          </a:prstGeom>
          <a:noFill/>
          <a:ln/>
        </p:spPr>
        <p:txBody>
          <a:bodyPr wrap="square" lIns="0" tIns="0" rIns="0" bIns="0" rtlCol="0" anchor="ctr"/>
          <a:lstStyle/>
          <a:p>
            <a:pPr marL="0" indent="0">
              <a:buNone/>
            </a:pPr>
            <a:r>
              <a:rPr lang="en-US" sz="1250" b="1" dirty="0">
                <a:solidFill>
                  <a:srgbClr val="2E1A2E"/>
                </a:solidFill>
                <a:latin typeface="Calibri" pitchFamily="34" charset="0"/>
                <a:ea typeface="Calibri" pitchFamily="34" charset="-122"/>
                <a:cs typeface="Calibri" pitchFamily="34" charset="-120"/>
              </a:rPr>
              <a:t>Cross-lingual performance drops substantially</a:t>
            </a:r>
            <a:endParaRPr lang="en-US" sz="1250" dirty="0"/>
          </a:p>
        </p:txBody>
      </p:sp>
      <p:sp>
        <p:nvSpPr>
          <p:cNvPr id="29" name="Text 26"/>
          <p:cNvSpPr/>
          <p:nvPr/>
        </p:nvSpPr>
        <p:spPr>
          <a:xfrm>
            <a:off x="1325880" y="4343400"/>
            <a:ext cx="6949440" cy="365760"/>
          </a:xfrm>
          <a:prstGeom prst="rect">
            <a:avLst/>
          </a:prstGeom>
          <a:noFill/>
          <a:ln/>
        </p:spPr>
        <p:txBody>
          <a:bodyPr wrap="square" lIns="0" tIns="0" rIns="0" bIns="0" rtlCol="0" anchor="ctr"/>
          <a:lstStyle/>
          <a:p>
            <a:pPr marL="0" indent="0">
              <a:buNone/>
            </a:pPr>
            <a:r>
              <a:rPr lang="en-US" sz="1000" dirty="0">
                <a:solidFill>
                  <a:srgbClr val="4A3A4A"/>
                </a:solidFill>
                <a:latin typeface="Calibri" pitchFamily="34" charset="0"/>
                <a:ea typeface="Calibri" pitchFamily="34" charset="-122"/>
                <a:cs typeface="Calibri" pitchFamily="34" charset="-120"/>
              </a:rPr>
              <a:t>0.9644 → 0.7024 (−27%) from Spanish to Italian. Clitic segmentation is partially language-specific, though some generalization is possible within the Romance family (F1 &gt; 0.70).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A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75B7A"/>
          </a:solidFill>
          <a:ln/>
        </p:spPr>
      </p:sp>
      <p:pic>
        <p:nvPicPr>
          <p:cNvPr id="3" name="Image 0" descr="preencoded.png"/>
          <p:cNvPicPr>
            <a:picLocks noChangeAspect="1"/>
          </p:cNvPicPr>
          <p:nvPr/>
        </p:nvPicPr>
        <p:blipFill>
          <a:blip r:embed="rId3"/>
          <a:stretch>
            <a:fillRect/>
          </a:stretch>
        </p:blipFill>
        <p:spPr>
          <a:xfrm>
            <a:off x="731520" y="274320"/>
            <a:ext cx="320040" cy="320040"/>
          </a:xfrm>
          <a:prstGeom prst="rect">
            <a:avLst/>
          </a:prstGeom>
        </p:spPr>
      </p:pic>
      <p:sp>
        <p:nvSpPr>
          <p:cNvPr id="4" name="Text 1"/>
          <p:cNvSpPr/>
          <p:nvPr/>
        </p:nvSpPr>
        <p:spPr>
          <a:xfrm>
            <a:off x="1143000" y="228600"/>
            <a:ext cx="7498080" cy="411480"/>
          </a:xfrm>
          <a:prstGeom prst="rect">
            <a:avLst/>
          </a:prstGeom>
          <a:noFill/>
          <a:ln/>
        </p:spPr>
        <p:txBody>
          <a:bodyPr wrap="square" lIns="0" tIns="0" rIns="0" bIns="0" rtlCol="0" anchor="ctr"/>
          <a:lstStyle/>
          <a:p>
            <a:pPr marL="0" indent="0">
              <a:buNone/>
            </a:pPr>
            <a:r>
              <a:rPr lang="en-US" sz="2400" b="1" dirty="0">
                <a:solidFill>
                  <a:srgbClr val="2E1A2E"/>
                </a:solidFill>
                <a:latin typeface="Georgia" pitchFamily="34" charset="0"/>
                <a:ea typeface="Georgia" pitchFamily="34" charset="-122"/>
                <a:cs typeface="Georgia" pitchFamily="34" charset="-120"/>
              </a:rPr>
              <a:t>How Each Innovation Addresses a Limitation</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2150709581"/>
              </p:ext>
            </p:extLst>
          </p:nvPr>
        </p:nvGraphicFramePr>
        <p:xfrm>
          <a:off x="731520" y="777240"/>
          <a:ext cx="7680960" cy="2651760"/>
        </p:xfrm>
        <a:graphic>
          <a:graphicData uri="http://schemas.openxmlformats.org/drawingml/2006/table">
            <a:tbl>
              <a:tblPr/>
              <a:tblGrid>
                <a:gridCol w="25603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65760">
                <a:tc>
                  <a:txBody>
                    <a:bodyPr/>
                    <a:lstStyle/>
                    <a:p>
                      <a:pPr marL="0" indent="0" algn="l">
                        <a:buNone/>
                      </a:pPr>
                      <a:r>
                        <a:rPr lang="en-US" sz="1100" b="1" dirty="0">
                          <a:solidFill>
                            <a:srgbClr val="FFFFFF"/>
                          </a:solidFill>
                        </a:rPr>
                        <a:t>Limitation</a:t>
                      </a:r>
                      <a:endParaRPr lang="en-US" sz="1100" dirty="0"/>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4A1942"/>
                    </a:solidFill>
                  </a:tcPr>
                </a:tc>
                <a:tc>
                  <a:txBody>
                    <a:bodyPr/>
                    <a:lstStyle/>
                    <a:p>
                      <a:pPr marL="0" indent="0" algn="l">
                        <a:buNone/>
                      </a:pPr>
                      <a:r>
                        <a:rPr lang="en-US" sz="1100" b="1" dirty="0">
                          <a:solidFill>
                            <a:srgbClr val="D4A03C"/>
                          </a:solidFill>
                        </a:rPr>
                        <a:t>My Fix</a:t>
                      </a:r>
                      <a:endParaRPr lang="en-US" sz="1100" dirty="0"/>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4A1942"/>
                    </a:solidFill>
                  </a:tcPr>
                </a:tc>
                <a:tc>
                  <a:txBody>
                    <a:bodyPr/>
                    <a:lstStyle/>
                    <a:p>
                      <a:pPr marL="0" indent="0" algn="l">
                        <a:buNone/>
                      </a:pPr>
                      <a:r>
                        <a:rPr lang="en-US" sz="1100" b="1" dirty="0">
                          <a:solidFill>
                            <a:srgbClr val="FFFFFF"/>
                          </a:solidFill>
                        </a:rPr>
                        <a:t>Result / Impact</a:t>
                      </a:r>
                      <a:endParaRPr lang="en-US" sz="1100" dirty="0"/>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4A1942"/>
                    </a:solidFill>
                  </a:tcPr>
                </a:tc>
                <a:extLst>
                  <a:ext uri="{0D108BD9-81ED-4DB2-BD59-A6C34878D82A}">
                    <a16:rowId xmlns:a16="http://schemas.microsoft.com/office/drawing/2014/main" val="10000"/>
                  </a:ext>
                </a:extLst>
              </a:tr>
              <a:tr h="457200">
                <a:tc>
                  <a:txBody>
                    <a:bodyPr/>
                    <a:lstStyle/>
                    <a:p>
                      <a:pPr marL="0" indent="0" algn="l">
                        <a:buNone/>
                      </a:pPr>
                      <a:r>
                        <a:rPr lang="en-US" sz="1000" dirty="0">
                          <a:solidFill>
                            <a:srgbClr val="C0392B"/>
                          </a:solidFill>
                          <a:latin typeface="Calibri" pitchFamily="34" charset="0"/>
                          <a:ea typeface="Calibri" pitchFamily="34" charset="-122"/>
                          <a:cs typeface="Calibri" pitchFamily="34" charset="-120"/>
                        </a:rPr>
                        <a:t>Word-level modeling misses subword structure</a:t>
                      </a:r>
                      <a:endParaRPr lang="en-US" sz="100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1000" b="1" dirty="0">
                          <a:solidFill>
                            <a:srgbClr val="C75B7A"/>
                          </a:solidFill>
                          <a:latin typeface="Calibri" pitchFamily="34" charset="0"/>
                          <a:ea typeface="Calibri" pitchFamily="34" charset="-122"/>
                          <a:cs typeface="Calibri" pitchFamily="34" charset="-120"/>
                        </a:rPr>
                        <a:t>Character-level BIO tagging</a:t>
                      </a:r>
                      <a:endParaRPr lang="en-US" sz="100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1000" dirty="0">
                          <a:solidFill>
                            <a:srgbClr val="4A3A4A"/>
                          </a:solidFill>
                          <a:latin typeface="Calibri" pitchFamily="34" charset="0"/>
                          <a:ea typeface="Calibri" pitchFamily="34" charset="-122"/>
                          <a:cs typeface="Calibri" pitchFamily="34" charset="-120"/>
                        </a:rPr>
                        <a:t>Direct capture of morphological boundaries at character level</a:t>
                      </a:r>
                      <a:endParaRPr lang="en-US" sz="100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extLst>
                  <a:ext uri="{0D108BD9-81ED-4DB2-BD59-A6C34878D82A}">
                    <a16:rowId xmlns:a16="http://schemas.microsoft.com/office/drawing/2014/main" val="10001"/>
                  </a:ext>
                </a:extLst>
              </a:tr>
              <a:tr h="457200">
                <a:tc>
                  <a:txBody>
                    <a:bodyPr/>
                    <a:lstStyle/>
                    <a:p>
                      <a:pPr marL="0" indent="0" algn="l">
                        <a:buNone/>
                      </a:pPr>
                      <a:r>
                        <a:rPr lang="en-US" sz="1000" dirty="0">
                          <a:solidFill>
                            <a:srgbClr val="C0392B"/>
                          </a:solidFill>
                          <a:latin typeface="Calibri" pitchFamily="34" charset="0"/>
                          <a:ea typeface="Calibri" pitchFamily="34" charset="-122"/>
                          <a:cs typeface="Calibri" pitchFamily="34" charset="-120"/>
                        </a:rPr>
                        <a:t>Exact match metrics are too strict</a:t>
                      </a:r>
                      <a:endParaRPr lang="en-US" sz="100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l">
                        <a:buNone/>
                      </a:pPr>
                      <a:r>
                        <a:rPr lang="en-US" sz="1000" b="1" dirty="0">
                          <a:solidFill>
                            <a:srgbClr val="C75B7A"/>
                          </a:solidFill>
                          <a:latin typeface="Calibri" pitchFamily="34" charset="0"/>
                          <a:ea typeface="Calibri" pitchFamily="34" charset="-122"/>
                          <a:cs typeface="Calibri" pitchFamily="34" charset="-120"/>
                        </a:rPr>
                        <a:t>Boundary-based F1 evaluation</a:t>
                      </a:r>
                      <a:endParaRPr lang="en-US" sz="100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A3A4A"/>
                          </a:solidFill>
                          <a:latin typeface="Calibri" pitchFamily="34" charset="0"/>
                          <a:ea typeface="Calibri" pitchFamily="34" charset="-122"/>
                          <a:cs typeface="Calibri" pitchFamily="34" charset="-120"/>
                        </a:rPr>
                        <a:t>Robust evaluation focused on segmentation correctness</a:t>
                      </a:r>
                      <a:endParaRPr lang="en-US" sz="100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000" dirty="0">
                          <a:solidFill>
                            <a:srgbClr val="C0392B"/>
                          </a:solidFill>
                          <a:latin typeface="Calibri" pitchFamily="34" charset="0"/>
                          <a:ea typeface="Calibri" pitchFamily="34" charset="-122"/>
                          <a:cs typeface="Calibri" pitchFamily="34" charset="-120"/>
                        </a:rPr>
                        <a:t>Monolingual-only evaluation</a:t>
                      </a:r>
                      <a:endParaRPr lang="en-US" sz="100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1000" b="1" dirty="0">
                          <a:solidFill>
                            <a:srgbClr val="C75B7A"/>
                          </a:solidFill>
                          <a:latin typeface="Calibri" pitchFamily="34" charset="0"/>
                          <a:ea typeface="Calibri" pitchFamily="34" charset="-122"/>
                          <a:cs typeface="Calibri" pitchFamily="34" charset="-120"/>
                        </a:rPr>
                        <a:t>Cross-lingual experiment (ES→IT)</a:t>
                      </a:r>
                      <a:endParaRPr lang="en-US" sz="100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1000" dirty="0">
                          <a:solidFill>
                            <a:srgbClr val="4A3A4A"/>
                          </a:solidFill>
                          <a:latin typeface="Calibri" pitchFamily="34" charset="0"/>
                          <a:ea typeface="Calibri" pitchFamily="34" charset="-122"/>
                          <a:cs typeface="Calibri" pitchFamily="34" charset="-120"/>
                        </a:rPr>
                        <a:t>Reveals 0.26 F1 gap — partial generalization insight</a:t>
                      </a:r>
                      <a:endParaRPr lang="en-US" sz="100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extLst>
                  <a:ext uri="{0D108BD9-81ED-4DB2-BD59-A6C34878D82A}">
                    <a16:rowId xmlns:a16="http://schemas.microsoft.com/office/drawing/2014/main" val="10003"/>
                  </a:ext>
                </a:extLst>
              </a:tr>
              <a:tr h="457200">
                <a:tc>
                  <a:txBody>
                    <a:bodyPr/>
                    <a:lstStyle/>
                    <a:p>
                      <a:pPr marL="0" indent="0" algn="l">
                        <a:buNone/>
                      </a:pPr>
                      <a:r>
                        <a:rPr lang="en-US" sz="1000" dirty="0">
                          <a:solidFill>
                            <a:srgbClr val="C0392B"/>
                          </a:solidFill>
                          <a:latin typeface="Calibri" pitchFamily="34" charset="0"/>
                          <a:ea typeface="Calibri" pitchFamily="34" charset="-122"/>
                          <a:cs typeface="Calibri" pitchFamily="34" charset="-120"/>
                        </a:rPr>
                        <a:t>Black-box neural architectures</a:t>
                      </a:r>
                      <a:endParaRPr lang="en-US" sz="100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l">
                        <a:buNone/>
                      </a:pPr>
                      <a:r>
                        <a:rPr lang="en-US" sz="1000" b="1" dirty="0">
                          <a:solidFill>
                            <a:srgbClr val="C75B7A"/>
                          </a:solidFill>
                          <a:latin typeface="Calibri" pitchFamily="34" charset="0"/>
                          <a:ea typeface="Calibri" pitchFamily="34" charset="-122"/>
                          <a:cs typeface="Calibri" pitchFamily="34" charset="-120"/>
                        </a:rPr>
                        <a:t>Interpretable POS + n-gram features</a:t>
                      </a:r>
                      <a:endParaRPr lang="en-US" sz="100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A3A4A"/>
                          </a:solidFill>
                          <a:latin typeface="Calibri" pitchFamily="34" charset="0"/>
                          <a:ea typeface="Calibri" pitchFamily="34" charset="-122"/>
                          <a:cs typeface="Calibri" pitchFamily="34" charset="-120"/>
                        </a:rPr>
                        <a:t>Ablation shows exactly which features matter</a:t>
                      </a:r>
                      <a:endParaRPr lang="en-US" sz="100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000" dirty="0">
                          <a:solidFill>
                            <a:srgbClr val="C0392B"/>
                          </a:solidFill>
                          <a:latin typeface="Calibri" pitchFamily="34" charset="0"/>
                          <a:ea typeface="Calibri" pitchFamily="34" charset="-122"/>
                          <a:cs typeface="Calibri" pitchFamily="34" charset="-120"/>
                        </a:rPr>
                        <a:t>No systematic feature analysis</a:t>
                      </a:r>
                      <a:endParaRPr lang="en-US" sz="100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1000" b="1" dirty="0">
                          <a:solidFill>
                            <a:srgbClr val="C75B7A"/>
                          </a:solidFill>
                          <a:latin typeface="Calibri" pitchFamily="34" charset="0"/>
                          <a:ea typeface="Calibri" pitchFamily="34" charset="-122"/>
                          <a:cs typeface="Calibri" pitchFamily="34" charset="-120"/>
                        </a:rPr>
                        <a:t>Full ablation study</a:t>
                      </a:r>
                      <a:endParaRPr lang="en-US" sz="100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1000" dirty="0">
                          <a:solidFill>
                            <a:srgbClr val="4A3A4A"/>
                          </a:solidFill>
                          <a:latin typeface="Calibri" pitchFamily="34" charset="0"/>
                          <a:ea typeface="Calibri" pitchFamily="34" charset="-122"/>
                          <a:cs typeface="Calibri" pitchFamily="34" charset="-120"/>
                        </a:rPr>
                        <a:t>N-grams critical (−3.3%), POS minimal (−0.25%)</a:t>
                      </a:r>
                      <a:endParaRPr lang="en-US" sz="100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extLst>
                  <a:ext uri="{0D108BD9-81ED-4DB2-BD59-A6C34878D82A}">
                    <a16:rowId xmlns:a16="http://schemas.microsoft.com/office/drawing/2014/main" val="10005"/>
                  </a:ext>
                </a:extLst>
              </a:tr>
            </a:tbl>
          </a:graphicData>
        </a:graphic>
      </p:graphicFrame>
      <p:sp>
        <p:nvSpPr>
          <p:cNvPr id="6" name="Shape 2"/>
          <p:cNvSpPr/>
          <p:nvPr/>
        </p:nvSpPr>
        <p:spPr>
          <a:xfrm>
            <a:off x="731520" y="3657600"/>
            <a:ext cx="7680960" cy="548640"/>
          </a:xfrm>
          <a:prstGeom prst="rect">
            <a:avLst/>
          </a:prstGeom>
          <a:solidFill>
            <a:srgbClr val="4A1942"/>
          </a:solidFill>
          <a:ln/>
        </p:spPr>
      </p:sp>
      <p:sp>
        <p:nvSpPr>
          <p:cNvPr id="7" name="Text 3"/>
          <p:cNvSpPr/>
          <p:nvPr/>
        </p:nvSpPr>
        <p:spPr>
          <a:xfrm>
            <a:off x="914400" y="3675888"/>
            <a:ext cx="7315200" cy="51206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The proposed innovations result in: A simple yet effective model  •  Strong monolingual F1 = 0.9644  •  Insightful cross-lingual analysis  •  Improved evaluation methodology  •  Full interpretability via ablation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A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0392B"/>
          </a:solidFill>
          <a:ln/>
        </p:spPr>
      </p:sp>
      <p:pic>
        <p:nvPicPr>
          <p:cNvPr id="3" name="Image 0" descr="preencoded.png"/>
          <p:cNvPicPr>
            <a:picLocks noChangeAspect="1"/>
          </p:cNvPicPr>
          <p:nvPr/>
        </p:nvPicPr>
        <p:blipFill>
          <a:blip r:embed="rId3"/>
          <a:stretch>
            <a:fillRect/>
          </a:stretch>
        </p:blipFill>
        <p:spPr>
          <a:xfrm>
            <a:off x="731520" y="274320"/>
            <a:ext cx="320040" cy="320040"/>
          </a:xfrm>
          <a:prstGeom prst="rect">
            <a:avLst/>
          </a:prstGeom>
        </p:spPr>
      </p:pic>
      <p:sp>
        <p:nvSpPr>
          <p:cNvPr id="4" name="Text 1"/>
          <p:cNvSpPr/>
          <p:nvPr/>
        </p:nvSpPr>
        <p:spPr>
          <a:xfrm>
            <a:off x="1143000" y="228600"/>
            <a:ext cx="7315200" cy="411480"/>
          </a:xfrm>
          <a:prstGeom prst="rect">
            <a:avLst/>
          </a:prstGeom>
          <a:noFill/>
          <a:ln/>
        </p:spPr>
        <p:txBody>
          <a:bodyPr wrap="square" lIns="0" tIns="0" rIns="0" bIns="0" rtlCol="0" anchor="ctr"/>
          <a:lstStyle/>
          <a:p>
            <a:pPr marL="0" indent="0">
              <a:buNone/>
            </a:pPr>
            <a:r>
              <a:rPr lang="en-US" sz="2600" b="1" dirty="0">
                <a:solidFill>
                  <a:srgbClr val="2E1A2E"/>
                </a:solidFill>
                <a:latin typeface="Georgia" pitchFamily="34" charset="0"/>
                <a:ea typeface="Georgia" pitchFamily="34" charset="-122"/>
                <a:cs typeface="Georgia" pitchFamily="34" charset="-120"/>
              </a:rPr>
              <a:t>Limitations of Our Approach</a:t>
            </a:r>
            <a:endParaRPr lang="en-US" sz="2600" dirty="0"/>
          </a:p>
        </p:txBody>
      </p:sp>
      <p:sp>
        <p:nvSpPr>
          <p:cNvPr id="5" name="Text 2"/>
          <p:cNvSpPr/>
          <p:nvPr/>
        </p:nvSpPr>
        <p:spPr>
          <a:xfrm>
            <a:off x="731520" y="685800"/>
            <a:ext cx="7315200" cy="274320"/>
          </a:xfrm>
          <a:prstGeom prst="rect">
            <a:avLst/>
          </a:prstGeom>
          <a:noFill/>
          <a:ln/>
        </p:spPr>
        <p:txBody>
          <a:bodyPr wrap="square" lIns="0" tIns="0" rIns="0" bIns="0" rtlCol="0" anchor="ctr"/>
          <a:lstStyle/>
          <a:p>
            <a:pPr marL="0" indent="0">
              <a:buNone/>
            </a:pPr>
            <a:r>
              <a:rPr lang="en-US" sz="1300" dirty="0">
                <a:solidFill>
                  <a:srgbClr val="8A7A8A"/>
                </a:solidFill>
                <a:latin typeface="Calibri" pitchFamily="34" charset="0"/>
                <a:ea typeface="Calibri" pitchFamily="34" charset="-122"/>
                <a:cs typeface="Calibri" pitchFamily="34" charset="-120"/>
              </a:rPr>
              <a:t>Honest assessment of current weaknesses and areas for improvement</a:t>
            </a:r>
            <a:endParaRPr lang="en-US" sz="1300" dirty="0"/>
          </a:p>
        </p:txBody>
      </p:sp>
      <p:sp>
        <p:nvSpPr>
          <p:cNvPr id="6" name="Shape 3"/>
          <p:cNvSpPr/>
          <p:nvPr/>
        </p:nvSpPr>
        <p:spPr>
          <a:xfrm>
            <a:off x="731520" y="1051560"/>
            <a:ext cx="3657600" cy="1280160"/>
          </a:xfrm>
          <a:prstGeom prst="rect">
            <a:avLst/>
          </a:prstGeom>
          <a:solidFill>
            <a:srgbClr val="FFFFFF"/>
          </a:solidFill>
          <a:ln/>
          <a:effectLst>
            <a:outerShdw blurRad="50800" dist="25400" dir="8100000" algn="bl" rotWithShape="0">
              <a:srgbClr val="000000">
                <a:alpha val="8000"/>
              </a:srgbClr>
            </a:outerShdw>
          </a:effectLst>
        </p:spPr>
      </p:sp>
      <p:sp>
        <p:nvSpPr>
          <p:cNvPr id="7" name="Shape 4"/>
          <p:cNvSpPr/>
          <p:nvPr/>
        </p:nvSpPr>
        <p:spPr>
          <a:xfrm>
            <a:off x="731520" y="1051560"/>
            <a:ext cx="64008" cy="1280160"/>
          </a:xfrm>
          <a:prstGeom prst="rect">
            <a:avLst/>
          </a:prstGeom>
          <a:solidFill>
            <a:srgbClr val="C0392B"/>
          </a:solidFill>
          <a:ln/>
        </p:spPr>
      </p:sp>
      <p:sp>
        <p:nvSpPr>
          <p:cNvPr id="8" name="Text 5"/>
          <p:cNvSpPr/>
          <p:nvPr/>
        </p:nvSpPr>
        <p:spPr>
          <a:xfrm>
            <a:off x="914400" y="1124712"/>
            <a:ext cx="3291840" cy="228600"/>
          </a:xfrm>
          <a:prstGeom prst="rect">
            <a:avLst/>
          </a:prstGeom>
          <a:noFill/>
          <a:ln/>
        </p:spPr>
        <p:txBody>
          <a:bodyPr wrap="square" lIns="0" tIns="0" rIns="0" bIns="0" rtlCol="0" anchor="ctr"/>
          <a:lstStyle/>
          <a:p>
            <a:pPr marL="0" indent="0">
              <a:buNone/>
            </a:pPr>
            <a:r>
              <a:rPr lang="en-US" sz="1300" b="1" dirty="0">
                <a:solidFill>
                  <a:srgbClr val="2E1A2E"/>
                </a:solidFill>
                <a:latin typeface="Calibri" pitchFamily="34" charset="0"/>
                <a:ea typeface="Calibri" pitchFamily="34" charset="-122"/>
                <a:cs typeface="Calibri" pitchFamily="34" charset="-120"/>
              </a:rPr>
              <a:t>Limited Cross-Lingual Generalization</a:t>
            </a:r>
            <a:endParaRPr lang="en-US" sz="1300" dirty="0"/>
          </a:p>
        </p:txBody>
      </p:sp>
      <p:sp>
        <p:nvSpPr>
          <p:cNvPr id="9" name="Text 6"/>
          <p:cNvSpPr/>
          <p:nvPr/>
        </p:nvSpPr>
        <p:spPr>
          <a:xfrm>
            <a:off x="914400" y="1417320"/>
            <a:ext cx="3291840" cy="822960"/>
          </a:xfrm>
          <a:prstGeom prst="rect">
            <a:avLst/>
          </a:prstGeom>
          <a:noFill/>
          <a:ln/>
        </p:spPr>
        <p:txBody>
          <a:bodyPr wrap="square" lIns="0" tIns="0" rIns="0" bIns="0" rtlCol="0" anchor="ctr"/>
          <a:lstStyle/>
          <a:p>
            <a:pPr marL="0" indent="0">
              <a:buNone/>
            </a:pPr>
            <a:r>
              <a:rPr lang="en-US" sz="1050" dirty="0">
                <a:solidFill>
                  <a:srgbClr val="4A3A4A"/>
                </a:solidFill>
                <a:latin typeface="Calibri" pitchFamily="34" charset="0"/>
                <a:ea typeface="Calibri" pitchFamily="34" charset="-122"/>
                <a:cs typeface="Calibri" pitchFamily="34" charset="-120"/>
              </a:rPr>
              <a:t>The drop from 0.9644 to 0.7024 shows the model still relies heavily on language-specific morphological patterns. Generalization across languages remains a challenge without retraining on target language data.</a:t>
            </a:r>
            <a:endParaRPr lang="en-US" sz="1050" dirty="0"/>
          </a:p>
        </p:txBody>
      </p:sp>
      <p:sp>
        <p:nvSpPr>
          <p:cNvPr id="10" name="Shape 7"/>
          <p:cNvSpPr/>
          <p:nvPr/>
        </p:nvSpPr>
        <p:spPr>
          <a:xfrm>
            <a:off x="4754880" y="1051560"/>
            <a:ext cx="3657600" cy="1280160"/>
          </a:xfrm>
          <a:prstGeom prst="rect">
            <a:avLst/>
          </a:prstGeom>
          <a:solidFill>
            <a:srgbClr val="FFFFFF"/>
          </a:solidFill>
          <a:ln/>
          <a:effectLst>
            <a:outerShdw blurRad="50800" dist="25400" dir="8100000" algn="bl" rotWithShape="0">
              <a:srgbClr val="000000">
                <a:alpha val="8000"/>
              </a:srgbClr>
            </a:outerShdw>
          </a:effectLst>
        </p:spPr>
      </p:sp>
      <p:sp>
        <p:nvSpPr>
          <p:cNvPr id="11" name="Shape 8"/>
          <p:cNvSpPr/>
          <p:nvPr/>
        </p:nvSpPr>
        <p:spPr>
          <a:xfrm>
            <a:off x="4754880" y="1051560"/>
            <a:ext cx="64008" cy="1280160"/>
          </a:xfrm>
          <a:prstGeom prst="rect">
            <a:avLst/>
          </a:prstGeom>
          <a:solidFill>
            <a:srgbClr val="C75B7A"/>
          </a:solidFill>
          <a:ln/>
        </p:spPr>
      </p:sp>
      <p:sp>
        <p:nvSpPr>
          <p:cNvPr id="12" name="Text 9"/>
          <p:cNvSpPr/>
          <p:nvPr/>
        </p:nvSpPr>
        <p:spPr>
          <a:xfrm>
            <a:off x="4937760" y="1124712"/>
            <a:ext cx="3291840" cy="228600"/>
          </a:xfrm>
          <a:prstGeom prst="rect">
            <a:avLst/>
          </a:prstGeom>
          <a:noFill/>
          <a:ln/>
        </p:spPr>
        <p:txBody>
          <a:bodyPr wrap="square" lIns="0" tIns="0" rIns="0" bIns="0" rtlCol="0" anchor="ctr"/>
          <a:lstStyle/>
          <a:p>
            <a:pPr marL="0" indent="0">
              <a:buNone/>
            </a:pPr>
            <a:r>
              <a:rPr lang="en-US" sz="1300" b="1" dirty="0">
                <a:solidFill>
                  <a:srgbClr val="2E1A2E"/>
                </a:solidFill>
                <a:latin typeface="Calibri" pitchFamily="34" charset="0"/>
                <a:ea typeface="Calibri" pitchFamily="34" charset="-122"/>
                <a:cs typeface="Calibri" pitchFamily="34" charset="-120"/>
              </a:rPr>
              <a:t>Dependence on Feature Engineering</a:t>
            </a:r>
            <a:endParaRPr lang="en-US" sz="1300" dirty="0"/>
          </a:p>
        </p:txBody>
      </p:sp>
      <p:sp>
        <p:nvSpPr>
          <p:cNvPr id="13" name="Text 10"/>
          <p:cNvSpPr/>
          <p:nvPr/>
        </p:nvSpPr>
        <p:spPr>
          <a:xfrm>
            <a:off x="4937760" y="1417320"/>
            <a:ext cx="3291840" cy="822960"/>
          </a:xfrm>
          <a:prstGeom prst="rect">
            <a:avLst/>
          </a:prstGeom>
          <a:noFill/>
          <a:ln/>
        </p:spPr>
        <p:txBody>
          <a:bodyPr wrap="square" lIns="0" tIns="0" rIns="0" bIns="0" rtlCol="0" anchor="ctr"/>
          <a:lstStyle/>
          <a:p>
            <a:pPr marL="0" indent="0">
              <a:buNone/>
            </a:pPr>
            <a:r>
              <a:rPr lang="en-US" sz="1050" dirty="0">
                <a:solidFill>
                  <a:srgbClr val="4A3A4A"/>
                </a:solidFill>
                <a:latin typeface="Calibri" pitchFamily="34" charset="0"/>
                <a:ea typeface="Calibri" pitchFamily="34" charset="-122"/>
                <a:cs typeface="Calibri" pitchFamily="34" charset="-120"/>
              </a:rPr>
              <a:t>The model uses manually designed features (POS tags, n-grams). While effective, this limits scalability to new languages or domains without additional feature tuning and language expertise.</a:t>
            </a:r>
            <a:endParaRPr lang="en-US" sz="1050" dirty="0"/>
          </a:p>
        </p:txBody>
      </p:sp>
      <p:sp>
        <p:nvSpPr>
          <p:cNvPr id="14" name="Shape 11"/>
          <p:cNvSpPr/>
          <p:nvPr/>
        </p:nvSpPr>
        <p:spPr>
          <a:xfrm>
            <a:off x="731520" y="2514600"/>
            <a:ext cx="3657600" cy="1280160"/>
          </a:xfrm>
          <a:prstGeom prst="rect">
            <a:avLst/>
          </a:prstGeom>
          <a:solidFill>
            <a:srgbClr val="FFFFFF"/>
          </a:solidFill>
          <a:ln/>
          <a:effectLst>
            <a:outerShdw blurRad="50800" dist="25400" dir="8100000" algn="bl" rotWithShape="0">
              <a:srgbClr val="000000">
                <a:alpha val="8000"/>
              </a:srgbClr>
            </a:outerShdw>
          </a:effectLst>
        </p:spPr>
      </p:sp>
      <p:sp>
        <p:nvSpPr>
          <p:cNvPr id="15" name="Shape 12"/>
          <p:cNvSpPr/>
          <p:nvPr/>
        </p:nvSpPr>
        <p:spPr>
          <a:xfrm>
            <a:off x="731520" y="2514600"/>
            <a:ext cx="64008" cy="1280160"/>
          </a:xfrm>
          <a:prstGeom prst="rect">
            <a:avLst/>
          </a:prstGeom>
          <a:solidFill>
            <a:srgbClr val="D4A03C"/>
          </a:solidFill>
          <a:ln/>
        </p:spPr>
      </p:sp>
      <p:sp>
        <p:nvSpPr>
          <p:cNvPr id="16" name="Text 13"/>
          <p:cNvSpPr/>
          <p:nvPr/>
        </p:nvSpPr>
        <p:spPr>
          <a:xfrm>
            <a:off x="914400" y="2587752"/>
            <a:ext cx="3291840" cy="228600"/>
          </a:xfrm>
          <a:prstGeom prst="rect">
            <a:avLst/>
          </a:prstGeom>
          <a:noFill/>
          <a:ln/>
        </p:spPr>
        <p:txBody>
          <a:bodyPr wrap="square" lIns="0" tIns="0" rIns="0" bIns="0" rtlCol="0" anchor="ctr"/>
          <a:lstStyle/>
          <a:p>
            <a:pPr marL="0" indent="0">
              <a:buNone/>
            </a:pPr>
            <a:r>
              <a:rPr lang="en-US" sz="1300" b="1" dirty="0">
                <a:solidFill>
                  <a:srgbClr val="2E1A2E"/>
                </a:solidFill>
                <a:latin typeface="Calibri" pitchFamily="34" charset="0"/>
                <a:ea typeface="Calibri" pitchFamily="34" charset="-122"/>
                <a:cs typeface="Calibri" pitchFamily="34" charset="-120"/>
              </a:rPr>
              <a:t>Misleading Character-Level Accuracy</a:t>
            </a:r>
            <a:endParaRPr lang="en-US" sz="1300" dirty="0"/>
          </a:p>
        </p:txBody>
      </p:sp>
      <p:sp>
        <p:nvSpPr>
          <p:cNvPr id="17" name="Text 14"/>
          <p:cNvSpPr/>
          <p:nvPr/>
        </p:nvSpPr>
        <p:spPr>
          <a:xfrm>
            <a:off x="914400" y="2880360"/>
            <a:ext cx="3291840" cy="822960"/>
          </a:xfrm>
          <a:prstGeom prst="rect">
            <a:avLst/>
          </a:prstGeom>
          <a:noFill/>
          <a:ln/>
        </p:spPr>
        <p:txBody>
          <a:bodyPr wrap="square" lIns="0" tIns="0" rIns="0" bIns="0" rtlCol="0" anchor="ctr"/>
          <a:lstStyle/>
          <a:p>
            <a:pPr marL="0" indent="0">
              <a:buNone/>
            </a:pPr>
            <a:r>
              <a:rPr lang="en-US" sz="1050" dirty="0">
                <a:solidFill>
                  <a:srgbClr val="4A3A4A"/>
                </a:solidFill>
                <a:latin typeface="Calibri" pitchFamily="34" charset="0"/>
                <a:ea typeface="Calibri" pitchFamily="34" charset="-122"/>
                <a:cs typeface="Calibri" pitchFamily="34" charset="-120"/>
              </a:rPr>
              <a:t>Perfect character accuracy (1.0) does not reflect true segmentation performance. This highlights the danger of choosing evaluation metrics carelessly — boundary F1 is the only meaningful metric here.</a:t>
            </a:r>
            <a:endParaRPr lang="en-US" sz="1050" dirty="0"/>
          </a:p>
        </p:txBody>
      </p:sp>
      <p:sp>
        <p:nvSpPr>
          <p:cNvPr id="18" name="Shape 15"/>
          <p:cNvSpPr/>
          <p:nvPr/>
        </p:nvSpPr>
        <p:spPr>
          <a:xfrm>
            <a:off x="4754880" y="2514600"/>
            <a:ext cx="3657600" cy="1280160"/>
          </a:xfrm>
          <a:prstGeom prst="rect">
            <a:avLst/>
          </a:prstGeom>
          <a:solidFill>
            <a:srgbClr val="FFFFFF"/>
          </a:solidFill>
          <a:ln/>
          <a:effectLst>
            <a:outerShdw blurRad="50800" dist="25400" dir="8100000" algn="bl" rotWithShape="0">
              <a:srgbClr val="000000">
                <a:alpha val="8000"/>
              </a:srgbClr>
            </a:outerShdw>
          </a:effectLst>
        </p:spPr>
      </p:sp>
      <p:sp>
        <p:nvSpPr>
          <p:cNvPr id="19" name="Shape 16"/>
          <p:cNvSpPr/>
          <p:nvPr/>
        </p:nvSpPr>
        <p:spPr>
          <a:xfrm>
            <a:off x="4754880" y="2514600"/>
            <a:ext cx="64008" cy="1280160"/>
          </a:xfrm>
          <a:prstGeom prst="rect">
            <a:avLst/>
          </a:prstGeom>
          <a:solidFill>
            <a:srgbClr val="3A6A9A"/>
          </a:solidFill>
          <a:ln/>
        </p:spPr>
      </p:sp>
      <p:sp>
        <p:nvSpPr>
          <p:cNvPr id="20" name="Text 17"/>
          <p:cNvSpPr/>
          <p:nvPr/>
        </p:nvSpPr>
        <p:spPr>
          <a:xfrm>
            <a:off x="4937760" y="2587752"/>
            <a:ext cx="3291840" cy="228600"/>
          </a:xfrm>
          <a:prstGeom prst="rect">
            <a:avLst/>
          </a:prstGeom>
          <a:noFill/>
          <a:ln/>
        </p:spPr>
        <p:txBody>
          <a:bodyPr wrap="square" lIns="0" tIns="0" rIns="0" bIns="0" rtlCol="0" anchor="ctr"/>
          <a:lstStyle/>
          <a:p>
            <a:pPr marL="0" indent="0">
              <a:buNone/>
            </a:pPr>
            <a:r>
              <a:rPr lang="en-US" sz="1300" b="1" dirty="0">
                <a:solidFill>
                  <a:srgbClr val="2E1A2E"/>
                </a:solidFill>
                <a:latin typeface="Calibri" pitchFamily="34" charset="0"/>
                <a:ea typeface="Calibri" pitchFamily="34" charset="-122"/>
                <a:cs typeface="Calibri" pitchFamily="34" charset="-120"/>
              </a:rPr>
              <a:t>Only Closely Related Languages Tested</a:t>
            </a:r>
            <a:endParaRPr lang="en-US" sz="1300" dirty="0"/>
          </a:p>
        </p:txBody>
      </p:sp>
      <p:sp>
        <p:nvSpPr>
          <p:cNvPr id="21" name="Text 18"/>
          <p:cNvSpPr/>
          <p:nvPr/>
        </p:nvSpPr>
        <p:spPr>
          <a:xfrm>
            <a:off x="4937760" y="2880360"/>
            <a:ext cx="3291840" cy="822960"/>
          </a:xfrm>
          <a:prstGeom prst="rect">
            <a:avLst/>
          </a:prstGeom>
          <a:noFill/>
          <a:ln/>
        </p:spPr>
        <p:txBody>
          <a:bodyPr wrap="square" lIns="0" tIns="0" rIns="0" bIns="0" rtlCol="0" anchor="ctr"/>
          <a:lstStyle/>
          <a:p>
            <a:pPr marL="0" indent="0">
              <a:buNone/>
            </a:pPr>
            <a:r>
              <a:rPr lang="en-US" sz="1050" dirty="0">
                <a:solidFill>
                  <a:srgbClr val="4A3A4A"/>
                </a:solidFill>
                <a:latin typeface="Calibri" pitchFamily="34" charset="0"/>
                <a:ea typeface="Calibri" pitchFamily="34" charset="-122"/>
                <a:cs typeface="Calibri" pitchFamily="34" charset="-120"/>
              </a:rPr>
              <a:t>Cross-lingual experiment only covers Spanish → Italian (closely related Romance languages). Performance on more distant languages (Arabic, Turkish, Finnish) remains completely unknown.</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A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75B7A"/>
          </a:solidFill>
          <a:ln/>
        </p:spPr>
      </p:sp>
      <p:pic>
        <p:nvPicPr>
          <p:cNvPr id="3" name="Image 0" descr="preencoded.png"/>
          <p:cNvPicPr>
            <a:picLocks noChangeAspect="1"/>
          </p:cNvPicPr>
          <p:nvPr/>
        </p:nvPicPr>
        <p:blipFill>
          <a:blip r:embed="rId3"/>
          <a:stretch>
            <a:fillRect/>
          </a:stretch>
        </p:blipFill>
        <p:spPr>
          <a:xfrm>
            <a:off x="731520" y="274320"/>
            <a:ext cx="320040" cy="320040"/>
          </a:xfrm>
          <a:prstGeom prst="rect">
            <a:avLst/>
          </a:prstGeom>
        </p:spPr>
      </p:pic>
      <p:sp>
        <p:nvSpPr>
          <p:cNvPr id="4" name="Text 1"/>
          <p:cNvSpPr/>
          <p:nvPr/>
        </p:nvSpPr>
        <p:spPr>
          <a:xfrm>
            <a:off x="1143000" y="228600"/>
            <a:ext cx="7498080" cy="411480"/>
          </a:xfrm>
          <a:prstGeom prst="rect">
            <a:avLst/>
          </a:prstGeom>
          <a:noFill/>
          <a:ln/>
        </p:spPr>
        <p:txBody>
          <a:bodyPr wrap="square" lIns="0" tIns="0" rIns="0" bIns="0" rtlCol="0" anchor="ctr"/>
          <a:lstStyle/>
          <a:p>
            <a:pPr marL="0" indent="0">
              <a:buNone/>
            </a:pPr>
            <a:r>
              <a:rPr lang="en-US" sz="2500" b="1" dirty="0">
                <a:solidFill>
                  <a:srgbClr val="2E1A2E"/>
                </a:solidFill>
                <a:latin typeface="Georgia" pitchFamily="34" charset="0"/>
                <a:ea typeface="Georgia" pitchFamily="34" charset="-122"/>
                <a:cs typeface="Georgia" pitchFamily="34" charset="-120"/>
              </a:rPr>
              <a:t>Character-Level Classification Report</a:t>
            </a:r>
            <a:endParaRPr lang="en-US" sz="2500" dirty="0"/>
          </a:p>
        </p:txBody>
      </p:sp>
      <p:sp>
        <p:nvSpPr>
          <p:cNvPr id="5" name="Text 2"/>
          <p:cNvSpPr/>
          <p:nvPr/>
        </p:nvSpPr>
        <p:spPr>
          <a:xfrm>
            <a:off x="731520" y="685800"/>
            <a:ext cx="7680960" cy="274320"/>
          </a:xfrm>
          <a:prstGeom prst="rect">
            <a:avLst/>
          </a:prstGeom>
          <a:noFill/>
          <a:ln/>
        </p:spPr>
        <p:txBody>
          <a:bodyPr wrap="square" lIns="0" tIns="0" rIns="0" bIns="0" rtlCol="0" anchor="ctr"/>
          <a:lstStyle/>
          <a:p>
            <a:pPr marL="0" indent="0">
              <a:buNone/>
            </a:pPr>
            <a:r>
              <a:rPr lang="en-US" sz="1300" dirty="0">
                <a:solidFill>
                  <a:srgbClr val="8A7A8A"/>
                </a:solidFill>
                <a:latin typeface="Calibri" pitchFamily="34" charset="0"/>
                <a:ea typeface="Calibri" pitchFamily="34" charset="-122"/>
                <a:cs typeface="Calibri" pitchFamily="34" charset="-120"/>
              </a:rPr>
              <a:t>Perfect character-level accuracy — but why Boundary F1 is the real metric</a:t>
            </a:r>
            <a:endParaRPr lang="en-US" sz="1300" dirty="0"/>
          </a:p>
        </p:txBody>
      </p:sp>
      <p:sp>
        <p:nvSpPr>
          <p:cNvPr id="6" name="Text 3"/>
          <p:cNvSpPr/>
          <p:nvPr/>
        </p:nvSpPr>
        <p:spPr>
          <a:xfrm>
            <a:off x="731520" y="1051560"/>
            <a:ext cx="3657600" cy="274320"/>
          </a:xfrm>
          <a:prstGeom prst="rect">
            <a:avLst/>
          </a:prstGeom>
          <a:noFill/>
          <a:ln/>
        </p:spPr>
        <p:txBody>
          <a:bodyPr wrap="square" lIns="0" tIns="0" rIns="0" bIns="0" rtlCol="0" anchor="ctr"/>
          <a:lstStyle/>
          <a:p>
            <a:pPr marL="0" indent="0">
              <a:buNone/>
            </a:pPr>
            <a:r>
              <a:rPr lang="en-US" sz="1500" b="1" dirty="0">
                <a:solidFill>
                  <a:srgbClr val="2E1A2E"/>
                </a:solidFill>
                <a:latin typeface="Calibri" pitchFamily="34" charset="0"/>
                <a:ea typeface="Calibri" pitchFamily="34" charset="-122"/>
                <a:cs typeface="Calibri" pitchFamily="34" charset="-120"/>
              </a:rPr>
              <a:t>Classification Report</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4572000" cy="1920240"/>
        </p:xfrm>
        <a:graphic>
          <a:graphicData uri="http://schemas.openxmlformats.org/drawingml/2006/table">
            <a:tbl>
              <a:tblPr/>
              <a:tblGrid>
                <a:gridCol w="12801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320040">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Label</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4A1942"/>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Precision</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4A1942"/>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Recall</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4A1942"/>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F1-Score</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4A1942"/>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Support</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4A1942"/>
                    </a:solidFill>
                  </a:tcPr>
                </a:tc>
                <a:extLst>
                  <a:ext uri="{0D108BD9-81ED-4DB2-BD59-A6C34878D82A}">
                    <a16:rowId xmlns:a16="http://schemas.microsoft.com/office/drawing/2014/main" val="10000"/>
                  </a:ext>
                </a:extLst>
              </a:tr>
              <a:tr h="320040">
                <a:tc>
                  <a:txBody>
                    <a:bodyPr/>
                    <a:lstStyle/>
                    <a:p>
                      <a:pPr marL="0" indent="0" algn="l">
                        <a:buNone/>
                      </a:pPr>
                      <a:r>
                        <a:rPr lang="en-US" sz="1050" b="1" dirty="0">
                          <a:solidFill>
                            <a:srgbClr val="4A3A4A"/>
                          </a:solidFill>
                          <a:latin typeface="Calibri" pitchFamily="34" charset="0"/>
                          <a:ea typeface="Calibri" pitchFamily="34" charset="-122"/>
                          <a:cs typeface="Calibri" pitchFamily="34" charset="-120"/>
                        </a:rPr>
                        <a:t>B (boundary)</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7AE6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7AE6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7AE6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3A4A"/>
                          </a:solidFill>
                          <a:latin typeface="Calibri" pitchFamily="34" charset="0"/>
                          <a:ea typeface="Calibri" pitchFamily="34" charset="-122"/>
                          <a:cs typeface="Calibri" pitchFamily="34" charset="-120"/>
                        </a:rPr>
                        <a:t>263</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1050" b="1" dirty="0">
                          <a:solidFill>
                            <a:srgbClr val="4A3A4A"/>
                          </a:solidFill>
                          <a:latin typeface="Calibri" pitchFamily="34" charset="0"/>
                          <a:ea typeface="Calibri" pitchFamily="34" charset="-122"/>
                          <a:cs typeface="Calibri" pitchFamily="34" charset="-120"/>
                        </a:rPr>
                        <a:t>I (inside)</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1050" dirty="0">
                          <a:solidFill>
                            <a:srgbClr val="27AE6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1050" dirty="0">
                          <a:solidFill>
                            <a:srgbClr val="27AE6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1050" dirty="0">
                          <a:solidFill>
                            <a:srgbClr val="27AE6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1050" dirty="0">
                          <a:solidFill>
                            <a:srgbClr val="4A3A4A"/>
                          </a:solidFill>
                          <a:latin typeface="Calibri" pitchFamily="34" charset="0"/>
                          <a:ea typeface="Calibri" pitchFamily="34" charset="-122"/>
                          <a:cs typeface="Calibri" pitchFamily="34" charset="-120"/>
                        </a:rPr>
                        <a:t>1013</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extLst>
                  <a:ext uri="{0D108BD9-81ED-4DB2-BD59-A6C34878D82A}">
                    <a16:rowId xmlns:a16="http://schemas.microsoft.com/office/drawing/2014/main" val="10002"/>
                  </a:ext>
                </a:extLst>
              </a:tr>
              <a:tr h="320040">
                <a:tc>
                  <a:txBody>
                    <a:bodyPr/>
                    <a:lstStyle/>
                    <a:p>
                      <a:pPr marL="0" indent="0" algn="l">
                        <a:buNone/>
                      </a:pPr>
                      <a:r>
                        <a:rPr lang="en-US" sz="1050" b="1" dirty="0">
                          <a:solidFill>
                            <a:srgbClr val="4A3A4A"/>
                          </a:solidFill>
                          <a:latin typeface="Calibri" pitchFamily="34" charset="0"/>
                          <a:ea typeface="Calibri" pitchFamily="34" charset="-122"/>
                          <a:cs typeface="Calibri" pitchFamily="34" charset="-120"/>
                        </a:rPr>
                        <a:t>Accuracy</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7AE6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3A4A"/>
                          </a:solidFill>
                          <a:latin typeface="Calibri" pitchFamily="34" charset="0"/>
                          <a:ea typeface="Calibri" pitchFamily="34" charset="-122"/>
                          <a:cs typeface="Calibri" pitchFamily="34" charset="-120"/>
                        </a:rPr>
                        <a:t>1276</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1050" b="1" dirty="0">
                          <a:solidFill>
                            <a:srgbClr val="4A3A4A"/>
                          </a:solidFill>
                          <a:latin typeface="Calibri" pitchFamily="34" charset="0"/>
                          <a:ea typeface="Calibri" pitchFamily="34" charset="-122"/>
                          <a:cs typeface="Calibri" pitchFamily="34" charset="-120"/>
                        </a:rPr>
                        <a:t>Macro Avg</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1050" dirty="0">
                          <a:solidFill>
                            <a:srgbClr val="27AE6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1050" dirty="0">
                          <a:solidFill>
                            <a:srgbClr val="27AE6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1050" dirty="0">
                          <a:solidFill>
                            <a:srgbClr val="27AE6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1050" dirty="0">
                          <a:solidFill>
                            <a:srgbClr val="4A3A4A"/>
                          </a:solidFill>
                          <a:latin typeface="Calibri" pitchFamily="34" charset="0"/>
                          <a:ea typeface="Calibri" pitchFamily="34" charset="-122"/>
                          <a:cs typeface="Calibri" pitchFamily="34" charset="-120"/>
                        </a:rPr>
                        <a:t>1276</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extLst>
                  <a:ext uri="{0D108BD9-81ED-4DB2-BD59-A6C34878D82A}">
                    <a16:rowId xmlns:a16="http://schemas.microsoft.com/office/drawing/2014/main" val="10004"/>
                  </a:ext>
                </a:extLst>
              </a:tr>
              <a:tr h="320040">
                <a:tc>
                  <a:txBody>
                    <a:bodyPr/>
                    <a:lstStyle/>
                    <a:p>
                      <a:pPr marL="0" indent="0" algn="l">
                        <a:buNone/>
                      </a:pPr>
                      <a:r>
                        <a:rPr lang="en-US" sz="1050" b="1" dirty="0">
                          <a:solidFill>
                            <a:srgbClr val="4A3A4A"/>
                          </a:solidFill>
                          <a:latin typeface="Calibri" pitchFamily="34" charset="0"/>
                          <a:ea typeface="Calibri" pitchFamily="34" charset="-122"/>
                          <a:cs typeface="Calibri" pitchFamily="34" charset="-120"/>
                        </a:rPr>
                        <a:t>Weighted Avg</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7AE6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7AE6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7AE6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3A4A"/>
                          </a:solidFill>
                          <a:latin typeface="Calibri" pitchFamily="34" charset="0"/>
                          <a:ea typeface="Calibri" pitchFamily="34" charset="-122"/>
                          <a:cs typeface="Calibri" pitchFamily="34" charset="-120"/>
                        </a:rPr>
                        <a:t>1276</a:t>
                      </a:r>
                      <a:endParaRPr lang="en-US" sz="10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4"/>
          <p:cNvSpPr/>
          <p:nvPr/>
        </p:nvSpPr>
        <p:spPr>
          <a:xfrm>
            <a:off x="5669280" y="1051560"/>
            <a:ext cx="2926080" cy="274320"/>
          </a:xfrm>
          <a:prstGeom prst="rect">
            <a:avLst/>
          </a:prstGeom>
          <a:noFill/>
          <a:ln/>
        </p:spPr>
        <p:txBody>
          <a:bodyPr wrap="square" lIns="0" tIns="0" rIns="0" bIns="0" rtlCol="0" anchor="ctr"/>
          <a:lstStyle/>
          <a:p>
            <a:pPr marL="0" indent="0">
              <a:buNone/>
            </a:pPr>
            <a:r>
              <a:rPr lang="en-US" sz="1500" b="1" dirty="0">
                <a:solidFill>
                  <a:srgbClr val="2E1A2E"/>
                </a:solidFill>
                <a:latin typeface="Calibri" pitchFamily="34" charset="0"/>
                <a:ea typeface="Calibri" pitchFamily="34" charset="-122"/>
                <a:cs typeface="Calibri" pitchFamily="34" charset="-120"/>
              </a:rPr>
              <a:t>Confusion Matrix</a:t>
            </a:r>
            <a:endParaRPr lang="en-US" sz="1500" dirty="0"/>
          </a:p>
        </p:txBody>
      </p:sp>
      <p:sp>
        <p:nvSpPr>
          <p:cNvPr id="9" name="Shape 5"/>
          <p:cNvSpPr/>
          <p:nvPr/>
        </p:nvSpPr>
        <p:spPr>
          <a:xfrm>
            <a:off x="6035040" y="1691640"/>
            <a:ext cx="1188720" cy="274320"/>
          </a:xfrm>
          <a:prstGeom prst="rect">
            <a:avLst/>
          </a:prstGeom>
          <a:solidFill>
            <a:srgbClr val="4A1942"/>
          </a:solidFill>
          <a:ln/>
        </p:spPr>
      </p:sp>
      <p:sp>
        <p:nvSpPr>
          <p:cNvPr id="10" name="Text 6"/>
          <p:cNvSpPr/>
          <p:nvPr/>
        </p:nvSpPr>
        <p:spPr>
          <a:xfrm>
            <a:off x="6035040" y="1691640"/>
            <a:ext cx="11887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Pred B</a:t>
            </a:r>
            <a:endParaRPr lang="en-US" sz="1000" dirty="0"/>
          </a:p>
        </p:txBody>
      </p:sp>
      <p:sp>
        <p:nvSpPr>
          <p:cNvPr id="11" name="Shape 7"/>
          <p:cNvSpPr/>
          <p:nvPr/>
        </p:nvSpPr>
        <p:spPr>
          <a:xfrm>
            <a:off x="7223760" y="1691640"/>
            <a:ext cx="1188720" cy="274320"/>
          </a:xfrm>
          <a:prstGeom prst="rect">
            <a:avLst/>
          </a:prstGeom>
          <a:solidFill>
            <a:srgbClr val="4A1942"/>
          </a:solidFill>
          <a:ln/>
        </p:spPr>
      </p:sp>
      <p:sp>
        <p:nvSpPr>
          <p:cNvPr id="12" name="Text 8"/>
          <p:cNvSpPr/>
          <p:nvPr/>
        </p:nvSpPr>
        <p:spPr>
          <a:xfrm>
            <a:off x="7223760" y="1691640"/>
            <a:ext cx="11887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Pred I</a:t>
            </a:r>
            <a:endParaRPr lang="en-US" sz="1000" dirty="0"/>
          </a:p>
        </p:txBody>
      </p:sp>
      <p:sp>
        <p:nvSpPr>
          <p:cNvPr id="13" name="Shape 9"/>
          <p:cNvSpPr/>
          <p:nvPr/>
        </p:nvSpPr>
        <p:spPr>
          <a:xfrm>
            <a:off x="5669280" y="1965960"/>
            <a:ext cx="365760" cy="731520"/>
          </a:xfrm>
          <a:prstGeom prst="rect">
            <a:avLst/>
          </a:prstGeom>
          <a:solidFill>
            <a:srgbClr val="4A1942"/>
          </a:solidFill>
          <a:ln/>
        </p:spPr>
      </p:sp>
      <p:sp>
        <p:nvSpPr>
          <p:cNvPr id="14" name="Text 10"/>
          <p:cNvSpPr/>
          <p:nvPr/>
        </p:nvSpPr>
        <p:spPr>
          <a:xfrm>
            <a:off x="5669280" y="1965960"/>
            <a:ext cx="365760" cy="7315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True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 name="Shape 11"/>
          <p:cNvSpPr/>
          <p:nvPr/>
        </p:nvSpPr>
        <p:spPr>
          <a:xfrm>
            <a:off x="6035040" y="1965960"/>
            <a:ext cx="1188720" cy="731520"/>
          </a:xfrm>
          <a:prstGeom prst="rect">
            <a:avLst/>
          </a:prstGeom>
          <a:solidFill>
            <a:srgbClr val="2A8A7A"/>
          </a:solidFill>
          <a:ln/>
        </p:spPr>
      </p:sp>
      <p:sp>
        <p:nvSpPr>
          <p:cNvPr id="16" name="Text 12"/>
          <p:cNvSpPr/>
          <p:nvPr/>
        </p:nvSpPr>
        <p:spPr>
          <a:xfrm>
            <a:off x="6035040" y="1965960"/>
            <a:ext cx="11887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263</a:t>
            </a:r>
            <a:endParaRPr lang="en-US" sz="2200" dirty="0"/>
          </a:p>
        </p:txBody>
      </p:sp>
      <p:sp>
        <p:nvSpPr>
          <p:cNvPr id="17" name="Shape 13"/>
          <p:cNvSpPr/>
          <p:nvPr/>
        </p:nvSpPr>
        <p:spPr>
          <a:xfrm>
            <a:off x="7223760" y="1965960"/>
            <a:ext cx="1188720" cy="731520"/>
          </a:xfrm>
          <a:prstGeom prst="rect">
            <a:avLst/>
          </a:prstGeom>
          <a:solidFill>
            <a:srgbClr val="F5EDE4"/>
          </a:solidFill>
          <a:ln/>
        </p:spPr>
      </p:sp>
      <p:sp>
        <p:nvSpPr>
          <p:cNvPr id="18" name="Text 14"/>
          <p:cNvSpPr/>
          <p:nvPr/>
        </p:nvSpPr>
        <p:spPr>
          <a:xfrm>
            <a:off x="7223760" y="1965960"/>
            <a:ext cx="1188720" cy="731520"/>
          </a:xfrm>
          <a:prstGeom prst="rect">
            <a:avLst/>
          </a:prstGeom>
          <a:noFill/>
          <a:ln/>
        </p:spPr>
        <p:txBody>
          <a:bodyPr wrap="square" lIns="0" tIns="0" rIns="0" bIns="0" rtlCol="0" anchor="ctr"/>
          <a:lstStyle/>
          <a:p>
            <a:pPr marL="0" indent="0" algn="ctr">
              <a:buNone/>
            </a:pPr>
            <a:r>
              <a:rPr lang="en-US" sz="2200" b="1" dirty="0">
                <a:solidFill>
                  <a:srgbClr val="8A7A8A"/>
                </a:solidFill>
                <a:latin typeface="Georgia" pitchFamily="34" charset="0"/>
                <a:ea typeface="Georgia" pitchFamily="34" charset="-122"/>
                <a:cs typeface="Georgia" pitchFamily="34" charset="-120"/>
              </a:rPr>
              <a:t>0</a:t>
            </a:r>
            <a:endParaRPr lang="en-US" sz="2200" dirty="0"/>
          </a:p>
        </p:txBody>
      </p:sp>
      <p:sp>
        <p:nvSpPr>
          <p:cNvPr id="19" name="Shape 15"/>
          <p:cNvSpPr/>
          <p:nvPr/>
        </p:nvSpPr>
        <p:spPr>
          <a:xfrm>
            <a:off x="5669280" y="2697480"/>
            <a:ext cx="365760" cy="731520"/>
          </a:xfrm>
          <a:prstGeom prst="rect">
            <a:avLst/>
          </a:prstGeom>
          <a:solidFill>
            <a:srgbClr val="4A1942"/>
          </a:solidFill>
          <a:ln/>
        </p:spPr>
      </p:sp>
      <p:sp>
        <p:nvSpPr>
          <p:cNvPr id="20" name="Text 16"/>
          <p:cNvSpPr/>
          <p:nvPr/>
        </p:nvSpPr>
        <p:spPr>
          <a:xfrm>
            <a:off x="5669280" y="2697480"/>
            <a:ext cx="365760" cy="7315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True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I</a:t>
            </a:r>
            <a:endParaRPr lang="en-US" sz="900" dirty="0"/>
          </a:p>
        </p:txBody>
      </p:sp>
      <p:sp>
        <p:nvSpPr>
          <p:cNvPr id="21" name="Shape 17"/>
          <p:cNvSpPr/>
          <p:nvPr/>
        </p:nvSpPr>
        <p:spPr>
          <a:xfrm>
            <a:off x="6035040" y="2697480"/>
            <a:ext cx="1188720" cy="731520"/>
          </a:xfrm>
          <a:prstGeom prst="rect">
            <a:avLst/>
          </a:prstGeom>
          <a:solidFill>
            <a:srgbClr val="F5EDE4"/>
          </a:solidFill>
          <a:ln/>
        </p:spPr>
      </p:sp>
      <p:sp>
        <p:nvSpPr>
          <p:cNvPr id="22" name="Text 18"/>
          <p:cNvSpPr/>
          <p:nvPr/>
        </p:nvSpPr>
        <p:spPr>
          <a:xfrm>
            <a:off x="6035040" y="2697480"/>
            <a:ext cx="1188720" cy="731520"/>
          </a:xfrm>
          <a:prstGeom prst="rect">
            <a:avLst/>
          </a:prstGeom>
          <a:noFill/>
          <a:ln/>
        </p:spPr>
        <p:txBody>
          <a:bodyPr wrap="square" lIns="0" tIns="0" rIns="0" bIns="0" rtlCol="0" anchor="ctr"/>
          <a:lstStyle/>
          <a:p>
            <a:pPr marL="0" indent="0" algn="ctr">
              <a:buNone/>
            </a:pPr>
            <a:r>
              <a:rPr lang="en-US" sz="2200" b="1" dirty="0">
                <a:solidFill>
                  <a:srgbClr val="8A7A8A"/>
                </a:solidFill>
                <a:latin typeface="Georgia" pitchFamily="34" charset="0"/>
                <a:ea typeface="Georgia" pitchFamily="34" charset="-122"/>
                <a:cs typeface="Georgia" pitchFamily="34" charset="-120"/>
              </a:rPr>
              <a:t>0</a:t>
            </a:r>
            <a:endParaRPr lang="en-US" sz="2200" dirty="0"/>
          </a:p>
        </p:txBody>
      </p:sp>
      <p:sp>
        <p:nvSpPr>
          <p:cNvPr id="23" name="Shape 19"/>
          <p:cNvSpPr/>
          <p:nvPr/>
        </p:nvSpPr>
        <p:spPr>
          <a:xfrm>
            <a:off x="7223760" y="2697480"/>
            <a:ext cx="1188720" cy="731520"/>
          </a:xfrm>
          <a:prstGeom prst="rect">
            <a:avLst/>
          </a:prstGeom>
          <a:solidFill>
            <a:srgbClr val="3A6A9A"/>
          </a:solidFill>
          <a:ln/>
        </p:spPr>
      </p:sp>
      <p:sp>
        <p:nvSpPr>
          <p:cNvPr id="24" name="Text 20"/>
          <p:cNvSpPr/>
          <p:nvPr/>
        </p:nvSpPr>
        <p:spPr>
          <a:xfrm>
            <a:off x="7223760" y="2697480"/>
            <a:ext cx="11887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1013</a:t>
            </a:r>
            <a:endParaRPr lang="en-US" sz="2200" dirty="0"/>
          </a:p>
        </p:txBody>
      </p:sp>
      <p:sp>
        <p:nvSpPr>
          <p:cNvPr id="25" name="Shape 21"/>
          <p:cNvSpPr/>
          <p:nvPr/>
        </p:nvSpPr>
        <p:spPr>
          <a:xfrm>
            <a:off x="731520" y="3429000"/>
            <a:ext cx="3840480" cy="502920"/>
          </a:xfrm>
          <a:prstGeom prst="rect">
            <a:avLst/>
          </a:prstGeom>
          <a:solidFill>
            <a:srgbClr val="4A1942"/>
          </a:solidFill>
          <a:ln/>
        </p:spPr>
      </p:sp>
      <p:sp>
        <p:nvSpPr>
          <p:cNvPr id="26" name="Text 22"/>
          <p:cNvSpPr/>
          <p:nvPr/>
        </p:nvSpPr>
        <p:spPr>
          <a:xfrm>
            <a:off x="914400" y="3429000"/>
            <a:ext cx="3566160" cy="5029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Feature Matrix: 27,936 samples × 1,720 features  •  Full model uses 1,720 features (POS + N-grams)</a:t>
            </a:r>
            <a:endParaRPr lang="en-US" sz="1050" dirty="0"/>
          </a:p>
        </p:txBody>
      </p:sp>
      <p:sp>
        <p:nvSpPr>
          <p:cNvPr id="27" name="Text 23"/>
          <p:cNvSpPr/>
          <p:nvPr/>
        </p:nvSpPr>
        <p:spPr>
          <a:xfrm>
            <a:off x="731520" y="4160520"/>
            <a:ext cx="7680960" cy="228600"/>
          </a:xfrm>
          <a:prstGeom prst="rect">
            <a:avLst/>
          </a:prstGeom>
          <a:noFill/>
          <a:ln/>
        </p:spPr>
        <p:txBody>
          <a:bodyPr wrap="square" lIns="0" tIns="0" rIns="0" bIns="0" rtlCol="0" anchor="ctr"/>
          <a:lstStyle/>
          <a:p>
            <a:pPr marL="0" indent="0">
              <a:buNone/>
            </a:pPr>
            <a:r>
              <a:rPr lang="en-US" sz="1400" b="1" dirty="0">
                <a:solidFill>
                  <a:srgbClr val="2E1A2E"/>
                </a:solidFill>
                <a:latin typeface="Calibri" pitchFamily="34" charset="0"/>
                <a:ea typeface="Calibri" pitchFamily="34" charset="-122"/>
                <a:cs typeface="Calibri" pitchFamily="34" charset="-120"/>
              </a:rPr>
              <a:t>Why Perfect Accuracy Is Misleading</a:t>
            </a:r>
            <a:endParaRPr lang="en-US" sz="1400" dirty="0"/>
          </a:p>
        </p:txBody>
      </p:sp>
      <p:sp>
        <p:nvSpPr>
          <p:cNvPr id="28" name="Shape 24"/>
          <p:cNvSpPr/>
          <p:nvPr/>
        </p:nvSpPr>
        <p:spPr>
          <a:xfrm>
            <a:off x="731520" y="4434840"/>
            <a:ext cx="7680960" cy="594360"/>
          </a:xfrm>
          <a:prstGeom prst="rect">
            <a:avLst/>
          </a:prstGeom>
          <a:solidFill>
            <a:srgbClr val="FFFFFF"/>
          </a:solidFill>
          <a:ln/>
          <a:effectLst>
            <a:outerShdw blurRad="50800" dist="25400" dir="8100000" algn="bl" rotWithShape="0">
              <a:srgbClr val="000000">
                <a:alpha val="8000"/>
              </a:srgbClr>
            </a:outerShdw>
          </a:effectLst>
        </p:spPr>
      </p:sp>
      <p:sp>
        <p:nvSpPr>
          <p:cNvPr id="29" name="Shape 25"/>
          <p:cNvSpPr/>
          <p:nvPr/>
        </p:nvSpPr>
        <p:spPr>
          <a:xfrm>
            <a:off x="731520" y="4434840"/>
            <a:ext cx="64008" cy="594360"/>
          </a:xfrm>
          <a:prstGeom prst="rect">
            <a:avLst/>
          </a:prstGeom>
          <a:solidFill>
            <a:srgbClr val="D4A03C"/>
          </a:solidFill>
          <a:ln/>
        </p:spPr>
      </p:sp>
      <p:sp>
        <p:nvSpPr>
          <p:cNvPr id="30" name="Text 26"/>
          <p:cNvSpPr/>
          <p:nvPr/>
        </p:nvSpPr>
        <p:spPr>
          <a:xfrm>
            <a:off x="868680" y="4480560"/>
            <a:ext cx="7406640" cy="502920"/>
          </a:xfrm>
          <a:prstGeom prst="rect">
            <a:avLst/>
          </a:prstGeom>
          <a:noFill/>
          <a:ln/>
        </p:spPr>
        <p:txBody>
          <a:bodyPr wrap="square" lIns="0" tIns="0" rIns="0" bIns="0" rtlCol="0" anchor="ctr"/>
          <a:lstStyle/>
          <a:p>
            <a:r>
              <a:rPr lang="en-US" sz="1000" dirty="0">
                <a:solidFill>
                  <a:srgbClr val="4A3A4A"/>
                </a:solidFill>
                <a:latin typeface="Calibri" pitchFamily="34" charset="0"/>
                <a:ea typeface="Calibri" pitchFamily="34" charset="-122"/>
                <a:cs typeface="Calibri" pitchFamily="34" charset="-120"/>
              </a:rPr>
              <a:t>The model predicts every individual character's B/I label perfectly (1.0 accuracy, 0 confusion). But this doesn't mean segmentation is perfect — the Boundary F1 of 0.9644 shows that when we evaluate at the segment level (did we correctly split the whole word?), 14 out of 131 MWT tokens are still wrong. </a:t>
            </a:r>
            <a:r>
              <a:rPr lang="en-US" sz="1000" b="1" dirty="0"/>
              <a:t>Character accuracy does not guarantee correct segmentation boundaries</a:t>
            </a:r>
            <a:r>
              <a:rPr lang="en-US" sz="1000" b="1" dirty="0">
                <a:solidFill>
                  <a:srgbClr val="4A3A4A"/>
                </a:solidFill>
                <a:latin typeface="Calibri" pitchFamily="34" charset="0"/>
                <a:ea typeface="Calibri" pitchFamily="34" charset="-122"/>
                <a:cs typeface="Calibri" pitchFamily="34" charset="-120"/>
              </a:rPr>
              <a:t>.</a:t>
            </a:r>
            <a:endParaRPr lang="en-US" sz="10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A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0392B"/>
          </a:solidFill>
          <a:ln/>
        </p:spPr>
      </p:sp>
      <p:pic>
        <p:nvPicPr>
          <p:cNvPr id="3" name="Image 0" descr="preencoded.png"/>
          <p:cNvPicPr>
            <a:picLocks noChangeAspect="1"/>
          </p:cNvPicPr>
          <p:nvPr/>
        </p:nvPicPr>
        <p:blipFill>
          <a:blip r:embed="rId3"/>
          <a:stretch>
            <a:fillRect/>
          </a:stretch>
        </p:blipFill>
        <p:spPr>
          <a:xfrm>
            <a:off x="731520" y="274320"/>
            <a:ext cx="320040" cy="320040"/>
          </a:xfrm>
          <a:prstGeom prst="rect">
            <a:avLst/>
          </a:prstGeom>
        </p:spPr>
      </p:pic>
      <p:sp>
        <p:nvSpPr>
          <p:cNvPr id="4" name="Text 1"/>
          <p:cNvSpPr/>
          <p:nvPr/>
        </p:nvSpPr>
        <p:spPr>
          <a:xfrm>
            <a:off x="1143000" y="228600"/>
            <a:ext cx="7498080" cy="411480"/>
          </a:xfrm>
          <a:prstGeom prst="rect">
            <a:avLst/>
          </a:prstGeom>
          <a:noFill/>
          <a:ln/>
        </p:spPr>
        <p:txBody>
          <a:bodyPr wrap="square" lIns="0" tIns="0" rIns="0" bIns="0" rtlCol="0" anchor="ctr"/>
          <a:lstStyle/>
          <a:p>
            <a:pPr marL="0" indent="0">
              <a:buNone/>
            </a:pPr>
            <a:r>
              <a:rPr lang="en-US" sz="2500" b="1" dirty="0">
                <a:solidFill>
                  <a:srgbClr val="2E1A2E"/>
                </a:solidFill>
                <a:latin typeface="Georgia" pitchFamily="34" charset="0"/>
                <a:ea typeface="Georgia" pitchFamily="34" charset="-122"/>
                <a:cs typeface="Georgia" pitchFamily="34" charset="-120"/>
              </a:rPr>
              <a:t>Per-MWT Accuracy &amp; Error Analysis</a:t>
            </a:r>
            <a:endParaRPr lang="en-US" sz="2500" dirty="0"/>
          </a:p>
        </p:txBody>
      </p:sp>
      <p:sp>
        <p:nvSpPr>
          <p:cNvPr id="5" name="Text 2"/>
          <p:cNvSpPr/>
          <p:nvPr/>
        </p:nvSpPr>
        <p:spPr>
          <a:xfrm>
            <a:off x="731520" y="685800"/>
            <a:ext cx="7680960" cy="274320"/>
          </a:xfrm>
          <a:prstGeom prst="rect">
            <a:avLst/>
          </a:prstGeom>
          <a:noFill/>
          <a:ln/>
        </p:spPr>
        <p:txBody>
          <a:bodyPr wrap="square" lIns="0" tIns="0" rIns="0" bIns="0" rtlCol="0" anchor="ctr"/>
          <a:lstStyle/>
          <a:p>
            <a:pPr marL="0" indent="0">
              <a:buNone/>
            </a:pPr>
            <a:r>
              <a:rPr lang="en-US" sz="1300" dirty="0">
                <a:solidFill>
                  <a:srgbClr val="8A7A8A"/>
                </a:solidFill>
                <a:latin typeface="Calibri" pitchFamily="34" charset="0"/>
                <a:ea typeface="Calibri" pitchFamily="34" charset="-122"/>
                <a:cs typeface="Calibri" pitchFamily="34" charset="-120"/>
              </a:rPr>
              <a:t>117 correct / 131 total (89.3%) — detailed breakdown of successes and failures</a:t>
            </a:r>
            <a:endParaRPr lang="en-US" sz="1300" dirty="0"/>
          </a:p>
        </p:txBody>
      </p:sp>
      <p:sp>
        <p:nvSpPr>
          <p:cNvPr id="6" name="Text 3"/>
          <p:cNvSpPr/>
          <p:nvPr/>
        </p:nvSpPr>
        <p:spPr>
          <a:xfrm>
            <a:off x="731520" y="1051560"/>
            <a:ext cx="3657600" cy="256032"/>
          </a:xfrm>
          <a:prstGeom prst="rect">
            <a:avLst/>
          </a:prstGeom>
          <a:noFill/>
          <a:ln/>
        </p:spPr>
        <p:txBody>
          <a:bodyPr wrap="square" lIns="0" tIns="0" rIns="0" bIns="0" rtlCol="0" anchor="ctr"/>
          <a:lstStyle/>
          <a:p>
            <a:pPr marL="0" indent="0">
              <a:buNone/>
            </a:pPr>
            <a:r>
              <a:rPr lang="en-US" sz="1400" b="1" dirty="0">
                <a:solidFill>
                  <a:srgbClr val="2E1A2E"/>
                </a:solidFill>
                <a:latin typeface="Calibri" pitchFamily="34" charset="0"/>
                <a:ea typeface="Calibri" pitchFamily="34" charset="-122"/>
                <a:cs typeface="Calibri" pitchFamily="34" charset="-120"/>
              </a:rPr>
              <a:t>Per-MWT Form Accuracy</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3657600" cy="2834640"/>
        </p:xfrm>
        <a:graphic>
          <a:graphicData uri="http://schemas.openxmlformats.org/drawingml/2006/table">
            <a:tbl>
              <a:tblPr/>
              <a:tblGrid>
                <a:gridCol w="164592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274320">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MWT Form</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4A1942"/>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Correct</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4A1942"/>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4A1942"/>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Accuracy</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4A1942"/>
                    </a:solidFill>
                  </a:tcPr>
                </a:tc>
                <a:extLst>
                  <a:ext uri="{0D108BD9-81ED-4DB2-BD59-A6C34878D82A}">
                    <a16:rowId xmlns:a16="http://schemas.microsoft.com/office/drawing/2014/main" val="10000"/>
                  </a:ext>
                </a:extLst>
              </a:tr>
              <a:tr h="256032">
                <a:tc>
                  <a:txBody>
                    <a:bodyPr/>
                    <a:lstStyle/>
                    <a:p>
                      <a:pPr marL="0" indent="0" algn="l">
                        <a:buNone/>
                      </a:pPr>
                      <a:r>
                        <a:rPr lang="en-US" sz="950" dirty="0">
                          <a:solidFill>
                            <a:srgbClr val="4A3A4A"/>
                          </a:solidFill>
                          <a:latin typeface="Calibri" pitchFamily="34" charset="0"/>
                          <a:ea typeface="Calibri" pitchFamily="34" charset="-122"/>
                          <a:cs typeface="Calibri" pitchFamily="34" charset="-120"/>
                        </a:rPr>
                        <a:t>convirtiéndose</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7AE60"/>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950" dirty="0">
                          <a:solidFill>
                            <a:srgbClr val="4A3A4A"/>
                          </a:solidFill>
                          <a:latin typeface="Calibri" pitchFamily="34" charset="0"/>
                          <a:ea typeface="Calibri" pitchFamily="34" charset="-122"/>
                          <a:cs typeface="Calibri" pitchFamily="34" charset="-120"/>
                        </a:rPr>
                        <a:t>dedicarse</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950" dirty="0">
                          <a:solidFill>
                            <a:srgbClr val="27AE60"/>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extLst>
                  <a:ext uri="{0D108BD9-81ED-4DB2-BD59-A6C34878D82A}">
                    <a16:rowId xmlns:a16="http://schemas.microsoft.com/office/drawing/2014/main" val="10002"/>
                  </a:ext>
                </a:extLst>
              </a:tr>
              <a:tr h="256032">
                <a:tc>
                  <a:txBody>
                    <a:bodyPr/>
                    <a:lstStyle/>
                    <a:p>
                      <a:pPr marL="0" indent="0" algn="l">
                        <a:buNone/>
                      </a:pPr>
                      <a:r>
                        <a:rPr lang="en-US" sz="950" dirty="0">
                          <a:solidFill>
                            <a:srgbClr val="4A3A4A"/>
                          </a:solidFill>
                          <a:latin typeface="Calibri" pitchFamily="34" charset="0"/>
                          <a:ea typeface="Calibri" pitchFamily="34" charset="-122"/>
                          <a:cs typeface="Calibri" pitchFamily="34" charset="-120"/>
                        </a:rPr>
                        <a:t>mantenerse</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7AE60"/>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950" dirty="0">
                          <a:solidFill>
                            <a:srgbClr val="4A3A4A"/>
                          </a:solidFill>
                          <a:latin typeface="Calibri" pitchFamily="34" charset="0"/>
                          <a:ea typeface="Calibri" pitchFamily="34" charset="-122"/>
                          <a:cs typeface="Calibri" pitchFamily="34" charset="-120"/>
                        </a:rPr>
                        <a:t>vengarse</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950" dirty="0">
                          <a:solidFill>
                            <a:srgbClr val="27AE60"/>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extLst>
                  <a:ext uri="{0D108BD9-81ED-4DB2-BD59-A6C34878D82A}">
                    <a16:rowId xmlns:a16="http://schemas.microsoft.com/office/drawing/2014/main" val="10004"/>
                  </a:ext>
                </a:extLst>
              </a:tr>
              <a:tr h="256032">
                <a:tc>
                  <a:txBody>
                    <a:bodyPr/>
                    <a:lstStyle/>
                    <a:p>
                      <a:pPr marL="0" indent="0" algn="l">
                        <a:buNone/>
                      </a:pPr>
                      <a:r>
                        <a:rPr lang="en-US" sz="950" dirty="0">
                          <a:solidFill>
                            <a:srgbClr val="4A3A4A"/>
                          </a:solidFill>
                          <a:latin typeface="Calibri" pitchFamily="34" charset="0"/>
                          <a:ea typeface="Calibri" pitchFamily="34" charset="-122"/>
                          <a:cs typeface="Calibri" pitchFamily="34" charset="-120"/>
                        </a:rPr>
                        <a:t>centrarse</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7AE60"/>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l">
                        <a:buNone/>
                      </a:pPr>
                      <a:r>
                        <a:rPr lang="en-US" sz="950" dirty="0">
                          <a:solidFill>
                            <a:srgbClr val="4A3A4A"/>
                          </a:solidFill>
                          <a:latin typeface="Calibri" pitchFamily="34" charset="0"/>
                          <a:ea typeface="Calibri" pitchFamily="34" charset="-122"/>
                          <a:cs typeface="Calibri" pitchFamily="34" charset="-120"/>
                        </a:rPr>
                        <a:t>alzarse / fugarse / decirlo</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2 each</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2 each</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950" dirty="0">
                          <a:solidFill>
                            <a:srgbClr val="27AE60"/>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5EDE4"/>
                    </a:solidFill>
                  </a:tcPr>
                </a:tc>
                <a:extLst>
                  <a:ext uri="{0D108BD9-81ED-4DB2-BD59-A6C34878D82A}">
                    <a16:rowId xmlns:a16="http://schemas.microsoft.com/office/drawing/2014/main" val="10006"/>
                  </a:ext>
                </a:extLst>
              </a:tr>
              <a:tr h="256032">
                <a:tc>
                  <a:txBody>
                    <a:bodyPr/>
                    <a:lstStyle/>
                    <a:p>
                      <a:pPr marL="0" indent="0" algn="l">
                        <a:buNone/>
                      </a:pPr>
                      <a:r>
                        <a:rPr lang="en-US" sz="950" dirty="0">
                          <a:solidFill>
                            <a:srgbClr val="4A3A4A"/>
                          </a:solidFill>
                          <a:latin typeface="Calibri" pitchFamily="34" charset="0"/>
                          <a:ea typeface="Calibri" pitchFamily="34" charset="-122"/>
                          <a:cs typeface="Calibri" pitchFamily="34" charset="-120"/>
                        </a:rPr>
                        <a:t>tocándose / darles / educarse</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2 each</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2 each</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7AE60"/>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l">
                        <a:buNone/>
                      </a:pPr>
                      <a:r>
                        <a:rPr lang="en-US" sz="950" dirty="0">
                          <a:solidFill>
                            <a:srgbClr val="4A3A4A"/>
                          </a:solidFill>
                          <a:latin typeface="Calibri" pitchFamily="34" charset="0"/>
                          <a:ea typeface="Calibri" pitchFamily="34" charset="-122"/>
                          <a:cs typeface="Calibri" pitchFamily="34" charset="-120"/>
                        </a:rPr>
                        <a:t>celebrarse</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DE8E8"/>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DE8E8"/>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DE8E8"/>
                    </a:solidFill>
                  </a:tcPr>
                </a:tc>
                <a:tc>
                  <a:txBody>
                    <a:bodyPr/>
                    <a:lstStyle/>
                    <a:p>
                      <a:pPr marL="0" indent="0" algn="ctr">
                        <a:buNone/>
                      </a:pPr>
                      <a:r>
                        <a:rPr lang="en-US" sz="950" dirty="0">
                          <a:solidFill>
                            <a:srgbClr val="C039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DE8E8"/>
                    </a:solidFill>
                  </a:tcPr>
                </a:tc>
                <a:extLst>
                  <a:ext uri="{0D108BD9-81ED-4DB2-BD59-A6C34878D82A}">
                    <a16:rowId xmlns:a16="http://schemas.microsoft.com/office/drawing/2014/main" val="10008"/>
                  </a:ext>
                </a:extLst>
              </a:tr>
              <a:tr h="256032">
                <a:tc>
                  <a:txBody>
                    <a:bodyPr/>
                    <a:lstStyle/>
                    <a:p>
                      <a:pPr marL="0" indent="0" algn="l">
                        <a:buNone/>
                      </a:pPr>
                      <a:r>
                        <a:rPr lang="en-US" sz="950" dirty="0">
                          <a:solidFill>
                            <a:srgbClr val="4A3A4A"/>
                          </a:solidFill>
                          <a:latin typeface="Calibri" pitchFamily="34" charset="0"/>
                          <a:ea typeface="Calibri" pitchFamily="34" charset="-122"/>
                          <a:cs typeface="Calibri" pitchFamily="34" charset="-120"/>
                        </a:rPr>
                        <a:t>conocerse</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DE8E8"/>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DE8E8"/>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DE8E8"/>
                    </a:solidFill>
                  </a:tcPr>
                </a:tc>
                <a:tc>
                  <a:txBody>
                    <a:bodyPr/>
                    <a:lstStyle/>
                    <a:p>
                      <a:pPr marL="0" indent="0" algn="ctr">
                        <a:buNone/>
                      </a:pPr>
                      <a:r>
                        <a:rPr lang="en-US" sz="950" dirty="0">
                          <a:solidFill>
                            <a:srgbClr val="C039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DE8E8"/>
                    </a:solidFill>
                  </a:tcPr>
                </a:tc>
                <a:extLst>
                  <a:ext uri="{0D108BD9-81ED-4DB2-BD59-A6C34878D82A}">
                    <a16:rowId xmlns:a16="http://schemas.microsoft.com/office/drawing/2014/main" val="10009"/>
                  </a:ext>
                </a:extLst>
              </a:tr>
              <a:tr h="256032">
                <a:tc>
                  <a:txBody>
                    <a:bodyPr/>
                    <a:lstStyle/>
                    <a:p>
                      <a:pPr marL="0" indent="0" algn="l">
                        <a:buNone/>
                      </a:pPr>
                      <a:r>
                        <a:rPr lang="en-US" sz="950" dirty="0">
                          <a:solidFill>
                            <a:srgbClr val="4A3A4A"/>
                          </a:solidFill>
                          <a:latin typeface="Calibri" pitchFamily="34" charset="0"/>
                          <a:ea typeface="Calibri" pitchFamily="34" charset="-122"/>
                          <a:cs typeface="Calibri" pitchFamily="34" charset="-120"/>
                        </a:rPr>
                        <a:t>colocarlos</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DE8E8"/>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DE8E8"/>
                    </a:solidFill>
                  </a:tcPr>
                </a:tc>
                <a:tc>
                  <a:txBody>
                    <a:bodyPr/>
                    <a:lstStyle/>
                    <a:p>
                      <a:pPr marL="0" indent="0" algn="ctr">
                        <a:buNone/>
                      </a:pPr>
                      <a:r>
                        <a:rPr lang="en-US" sz="950" dirty="0">
                          <a:solidFill>
                            <a:srgbClr val="4A3A4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DE8E8"/>
                    </a:solidFill>
                  </a:tcPr>
                </a:tc>
                <a:tc>
                  <a:txBody>
                    <a:bodyPr/>
                    <a:lstStyle/>
                    <a:p>
                      <a:pPr marL="0" indent="0" algn="ctr">
                        <a:buNone/>
                      </a:pPr>
                      <a:r>
                        <a:rPr lang="en-US" sz="950" dirty="0">
                          <a:solidFill>
                            <a:srgbClr val="C039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anchor="ctr">
                    <a:lnL w="3810" cap="flat" cmpd="sng" algn="ctr">
                      <a:solidFill>
                        <a:srgbClr val="E8DDD4"/>
                      </a:solidFill>
                      <a:prstDash val="solid"/>
                      <a:round/>
                      <a:headEnd type="none" w="med" len="med"/>
                      <a:tailEnd type="none" w="med" len="med"/>
                    </a:lnL>
                    <a:lnR w="3810" cap="flat" cmpd="sng" algn="ctr">
                      <a:solidFill>
                        <a:srgbClr val="E8DDD4"/>
                      </a:solidFill>
                      <a:prstDash val="solid"/>
                      <a:round/>
                      <a:headEnd type="none" w="med" len="med"/>
                      <a:tailEnd type="none" w="med" len="med"/>
                    </a:lnR>
                    <a:lnT w="3810" cap="flat" cmpd="sng" algn="ctr">
                      <a:solidFill>
                        <a:srgbClr val="E8DDD4"/>
                      </a:solidFill>
                      <a:prstDash val="solid"/>
                      <a:round/>
                      <a:headEnd type="none" w="med" len="med"/>
                      <a:tailEnd type="none" w="med" len="med"/>
                    </a:lnT>
                    <a:lnB w="3810" cap="flat" cmpd="sng" algn="ctr">
                      <a:solidFill>
                        <a:srgbClr val="E8DDD4"/>
                      </a:solidFill>
                      <a:prstDash val="solid"/>
                      <a:round/>
                      <a:headEnd type="none" w="med" len="med"/>
                      <a:tailEnd type="none" w="med" len="med"/>
                    </a:lnB>
                    <a:solidFill>
                      <a:srgbClr val="FDE8E8"/>
                    </a:solidFill>
                  </a:tcPr>
                </a:tc>
                <a:extLst>
                  <a:ext uri="{0D108BD9-81ED-4DB2-BD59-A6C34878D82A}">
                    <a16:rowId xmlns:a16="http://schemas.microsoft.com/office/drawing/2014/main" val="10010"/>
                  </a:ext>
                </a:extLst>
              </a:tr>
            </a:tbl>
          </a:graphicData>
        </a:graphic>
      </p:graphicFrame>
      <p:sp>
        <p:nvSpPr>
          <p:cNvPr id="8" name="Text 4"/>
          <p:cNvSpPr/>
          <p:nvPr/>
        </p:nvSpPr>
        <p:spPr>
          <a:xfrm>
            <a:off x="4937760" y="1051560"/>
            <a:ext cx="3657600" cy="256032"/>
          </a:xfrm>
          <a:prstGeom prst="rect">
            <a:avLst/>
          </a:prstGeom>
          <a:noFill/>
          <a:ln/>
        </p:spPr>
        <p:txBody>
          <a:bodyPr wrap="square" lIns="0" tIns="0" rIns="0" bIns="0"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Misclassified MWT Tokens (14 errors)</a:t>
            </a:r>
            <a:endParaRPr lang="en-US" sz="1400" dirty="0"/>
          </a:p>
        </p:txBody>
      </p:sp>
      <p:sp>
        <p:nvSpPr>
          <p:cNvPr id="9" name="Shape 5"/>
          <p:cNvSpPr/>
          <p:nvPr/>
        </p:nvSpPr>
        <p:spPr>
          <a:xfrm>
            <a:off x="4937760" y="1325880"/>
            <a:ext cx="3657600" cy="3108960"/>
          </a:xfrm>
          <a:prstGeom prst="rect">
            <a:avLst/>
          </a:prstGeom>
          <a:solidFill>
            <a:srgbClr val="FFFFFF"/>
          </a:solidFill>
          <a:ln/>
          <a:effectLst>
            <a:outerShdw blurRad="50800" dist="25400" dir="8100000" algn="bl" rotWithShape="0">
              <a:srgbClr val="000000">
                <a:alpha val="8000"/>
              </a:srgbClr>
            </a:outerShdw>
          </a:effectLst>
        </p:spPr>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5029200" y="1371600"/>
          <a:ext cx="3474720" cy="2872740"/>
        </p:xfrm>
        <a:graphic>
          <a:graphicData uri="http://schemas.openxmlformats.org/drawingml/2006/table">
            <a:tbl>
              <a:tblPr/>
              <a:tblGrid>
                <a:gridCol w="10058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0">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Word</a:t>
                      </a:r>
                      <a:endParaRPr lang="en-US" sz="850" dirty="0">
                        <a:latin typeface="Calibri" charset="0"/>
                        <a:ea typeface="Calibri" charset="0"/>
                        <a:cs typeface="Calibri"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4A1942"/>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Gold</a:t>
                      </a:r>
                      <a:endParaRPr lang="en-US" sz="850" dirty="0">
                        <a:latin typeface="Calibri" charset="0"/>
                        <a:ea typeface="Calibri" charset="0"/>
                        <a:cs typeface="Calibri"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4A1942"/>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Predicted</a:t>
                      </a:r>
                      <a:endParaRPr lang="en-US" sz="850" dirty="0">
                        <a:latin typeface="Calibri" charset="0"/>
                        <a:ea typeface="Calibri" charset="0"/>
                        <a:cs typeface="Calibri"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4A1942"/>
                    </a:solidFill>
                  </a:tcPr>
                </a:tc>
                <a:extLst>
                  <a:ext uri="{0D108BD9-81ED-4DB2-BD59-A6C34878D82A}">
                    <a16:rowId xmlns:a16="http://schemas.microsoft.com/office/drawing/2014/main" val="10000"/>
                  </a:ext>
                </a:extLst>
              </a:tr>
              <a:tr h="0">
                <a:tc>
                  <a:txBody>
                    <a:bodyPr/>
                    <a:lstStyle/>
                    <a:p>
                      <a:pPr marL="0" indent="0" algn="l">
                        <a:buNone/>
                      </a:pPr>
                      <a:r>
                        <a:rPr lang="en-US" sz="850" dirty="0">
                          <a:solidFill>
                            <a:srgbClr val="4A3A4A"/>
                          </a:solidFill>
                          <a:latin typeface="Calibri" pitchFamily="34" charset="0"/>
                          <a:ea typeface="Calibri" pitchFamily="34" charset="-122"/>
                          <a:cs typeface="Calibri" pitchFamily="34" charset="-120"/>
                        </a:rPr>
                        <a:t>colocarlos</a:t>
                      </a:r>
                      <a:endParaRPr lang="en-US" sz="850" dirty="0">
                        <a:latin typeface="Calibri" charset="0"/>
                        <a:ea typeface="Calibri" charset="0"/>
                        <a:cs typeface="Calibri"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tc>
                  <a:txBody>
                    <a:bodyPr/>
                    <a:lstStyle/>
                    <a:p>
                      <a:pPr marL="0" indent="0" algn="l">
                        <a:buNone/>
                      </a:pPr>
                      <a:r>
                        <a:rPr lang="en-US" sz="850" dirty="0">
                          <a:solidFill>
                            <a:srgbClr val="4A3A4A"/>
                          </a:solidFill>
                          <a:latin typeface="Consolas" pitchFamily="34" charset="0"/>
                          <a:ea typeface="Consolas" pitchFamily="34" charset="-122"/>
                          <a:cs typeface="Consolas" pitchFamily="34" charset="-120"/>
                        </a:rPr>
                        <a:t>colocar + los</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tc>
                  <a:txBody>
                    <a:bodyPr/>
                    <a:lstStyle/>
                    <a:p>
                      <a:pPr marL="0" indent="0" algn="l">
                        <a:buNone/>
                      </a:pPr>
                      <a:r>
                        <a:rPr lang="en-US" sz="850" dirty="0">
                          <a:solidFill>
                            <a:srgbClr val="C0392B"/>
                          </a:solidFill>
                          <a:latin typeface="Consolas" pitchFamily="34" charset="0"/>
                          <a:ea typeface="Consolas" pitchFamily="34" charset="-122"/>
                          <a:cs typeface="Consolas" pitchFamily="34" charset="-120"/>
                        </a:rPr>
                        <a:t>co + locar + los</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850" dirty="0">
                          <a:solidFill>
                            <a:srgbClr val="4A3A4A"/>
                          </a:solidFill>
                          <a:latin typeface="Calibri" pitchFamily="34" charset="0"/>
                          <a:ea typeface="Calibri" pitchFamily="34" charset="-122"/>
                          <a:cs typeface="Calibri" pitchFamily="34" charset="-120"/>
                        </a:rPr>
                        <a:t>hablarlo</a:t>
                      </a:r>
                      <a:endParaRPr lang="en-US" sz="850" dirty="0">
                        <a:latin typeface="Calibri" charset="0"/>
                        <a:ea typeface="Calibri" charset="0"/>
                        <a:cs typeface="Calibri"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850" dirty="0">
                          <a:solidFill>
                            <a:srgbClr val="4A3A4A"/>
                          </a:solidFill>
                          <a:latin typeface="Consolas" pitchFamily="34" charset="0"/>
                          <a:ea typeface="Consolas" pitchFamily="34" charset="-122"/>
                          <a:cs typeface="Consolas" pitchFamily="34" charset="-120"/>
                        </a:rPr>
                        <a:t>hablar + lo</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850" dirty="0">
                          <a:solidFill>
                            <a:srgbClr val="C0392B"/>
                          </a:solidFill>
                          <a:latin typeface="Consolas" pitchFamily="34" charset="0"/>
                          <a:ea typeface="Consolas" pitchFamily="34" charset="-122"/>
                          <a:cs typeface="Consolas" pitchFamily="34" charset="-120"/>
                        </a:rPr>
                        <a:t>hab + lar + lo</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extLst>
                  <a:ext uri="{0D108BD9-81ED-4DB2-BD59-A6C34878D82A}">
                    <a16:rowId xmlns:a16="http://schemas.microsoft.com/office/drawing/2014/main" val="10002"/>
                  </a:ext>
                </a:extLst>
              </a:tr>
              <a:tr h="0">
                <a:tc>
                  <a:txBody>
                    <a:bodyPr/>
                    <a:lstStyle/>
                    <a:p>
                      <a:pPr marL="0" indent="0" algn="l">
                        <a:buNone/>
                      </a:pPr>
                      <a:r>
                        <a:rPr lang="en-US" sz="850" dirty="0">
                          <a:solidFill>
                            <a:srgbClr val="4A3A4A"/>
                          </a:solidFill>
                          <a:latin typeface="Calibri" pitchFamily="34" charset="0"/>
                          <a:ea typeface="Calibri" pitchFamily="34" charset="-122"/>
                          <a:cs typeface="Calibri" pitchFamily="34" charset="-120"/>
                        </a:rPr>
                        <a:t>poblarlo</a:t>
                      </a:r>
                      <a:endParaRPr lang="en-US" sz="850" dirty="0">
                        <a:latin typeface="Calibri" charset="0"/>
                        <a:ea typeface="Calibri" charset="0"/>
                        <a:cs typeface="Calibri"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tc>
                  <a:txBody>
                    <a:bodyPr/>
                    <a:lstStyle/>
                    <a:p>
                      <a:pPr marL="0" indent="0" algn="l">
                        <a:buNone/>
                      </a:pPr>
                      <a:r>
                        <a:rPr lang="en-US" sz="850" dirty="0">
                          <a:solidFill>
                            <a:srgbClr val="4A3A4A"/>
                          </a:solidFill>
                          <a:latin typeface="Consolas" pitchFamily="34" charset="0"/>
                          <a:ea typeface="Consolas" pitchFamily="34" charset="-122"/>
                          <a:cs typeface="Consolas" pitchFamily="34" charset="-120"/>
                        </a:rPr>
                        <a:t>poblar + lo</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tc>
                  <a:txBody>
                    <a:bodyPr/>
                    <a:lstStyle/>
                    <a:p>
                      <a:pPr marL="0" indent="0" algn="l">
                        <a:buNone/>
                      </a:pPr>
                      <a:r>
                        <a:rPr lang="en-US" sz="850" dirty="0">
                          <a:solidFill>
                            <a:srgbClr val="C0392B"/>
                          </a:solidFill>
                          <a:latin typeface="Consolas" pitchFamily="34" charset="0"/>
                          <a:ea typeface="Consolas" pitchFamily="34" charset="-122"/>
                          <a:cs typeface="Consolas" pitchFamily="34" charset="-120"/>
                        </a:rPr>
                        <a:t>pob + lar + lo</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850" dirty="0">
                          <a:solidFill>
                            <a:srgbClr val="4A3A4A"/>
                          </a:solidFill>
                          <a:latin typeface="Calibri" pitchFamily="34" charset="0"/>
                          <a:ea typeface="Calibri" pitchFamily="34" charset="-122"/>
                          <a:cs typeface="Calibri" pitchFamily="34" charset="-120"/>
                        </a:rPr>
                        <a:t>celebrarse</a:t>
                      </a:r>
                      <a:endParaRPr lang="en-US" sz="850" dirty="0">
                        <a:latin typeface="Calibri" charset="0"/>
                        <a:ea typeface="Calibri" charset="0"/>
                        <a:cs typeface="Calibri"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850" dirty="0">
                          <a:solidFill>
                            <a:srgbClr val="4A3A4A"/>
                          </a:solidFill>
                          <a:latin typeface="Consolas" pitchFamily="34" charset="0"/>
                          <a:ea typeface="Consolas" pitchFamily="34" charset="-122"/>
                          <a:cs typeface="Consolas" pitchFamily="34" charset="-120"/>
                        </a:rPr>
                        <a:t>celebrar + se</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850" dirty="0">
                          <a:solidFill>
                            <a:srgbClr val="C0392B"/>
                          </a:solidFill>
                          <a:latin typeface="Consolas" pitchFamily="34" charset="0"/>
                          <a:ea typeface="Consolas" pitchFamily="34" charset="-122"/>
                          <a:cs typeface="Consolas" pitchFamily="34" charset="-120"/>
                        </a:rPr>
                        <a:t>ce + lebrar + se</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extLst>
                  <a:ext uri="{0D108BD9-81ED-4DB2-BD59-A6C34878D82A}">
                    <a16:rowId xmlns:a16="http://schemas.microsoft.com/office/drawing/2014/main" val="10004"/>
                  </a:ext>
                </a:extLst>
              </a:tr>
              <a:tr h="0">
                <a:tc>
                  <a:txBody>
                    <a:bodyPr/>
                    <a:lstStyle/>
                    <a:p>
                      <a:pPr marL="0" indent="0" algn="l">
                        <a:buNone/>
                      </a:pPr>
                      <a:r>
                        <a:rPr lang="en-US" sz="850" dirty="0">
                          <a:solidFill>
                            <a:srgbClr val="4A3A4A"/>
                          </a:solidFill>
                          <a:latin typeface="Calibri" pitchFamily="34" charset="0"/>
                          <a:ea typeface="Calibri" pitchFamily="34" charset="-122"/>
                          <a:cs typeface="Calibri" pitchFamily="34" charset="-120"/>
                        </a:rPr>
                        <a:t>instalarse</a:t>
                      </a:r>
                      <a:endParaRPr lang="en-US" sz="850" dirty="0">
                        <a:latin typeface="Calibri" charset="0"/>
                        <a:ea typeface="Calibri" charset="0"/>
                        <a:cs typeface="Calibri"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tc>
                  <a:txBody>
                    <a:bodyPr/>
                    <a:lstStyle/>
                    <a:p>
                      <a:pPr marL="0" indent="0" algn="l">
                        <a:buNone/>
                      </a:pPr>
                      <a:r>
                        <a:rPr lang="en-US" sz="850" dirty="0">
                          <a:solidFill>
                            <a:srgbClr val="4A3A4A"/>
                          </a:solidFill>
                          <a:latin typeface="Consolas" pitchFamily="34" charset="0"/>
                          <a:ea typeface="Consolas" pitchFamily="34" charset="-122"/>
                          <a:cs typeface="Consolas" pitchFamily="34" charset="-120"/>
                        </a:rPr>
                        <a:t>instalar + se</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tc>
                  <a:txBody>
                    <a:bodyPr/>
                    <a:lstStyle/>
                    <a:p>
                      <a:pPr marL="0" indent="0" algn="l">
                        <a:buNone/>
                      </a:pPr>
                      <a:r>
                        <a:rPr lang="en-US" sz="850" dirty="0">
                          <a:solidFill>
                            <a:srgbClr val="C0392B"/>
                          </a:solidFill>
                          <a:latin typeface="Consolas" pitchFamily="34" charset="0"/>
                          <a:ea typeface="Consolas" pitchFamily="34" charset="-122"/>
                          <a:cs typeface="Consolas" pitchFamily="34" charset="-120"/>
                        </a:rPr>
                        <a:t>insta + lar + se</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850" dirty="0">
                          <a:solidFill>
                            <a:srgbClr val="4A3A4A"/>
                          </a:solidFill>
                          <a:latin typeface="Calibri" pitchFamily="34" charset="0"/>
                          <a:ea typeface="Calibri" pitchFamily="34" charset="-122"/>
                          <a:cs typeface="Calibri" pitchFamily="34" charset="-120"/>
                        </a:rPr>
                        <a:t>alimentarse</a:t>
                      </a:r>
                      <a:endParaRPr lang="en-US" sz="850" dirty="0">
                        <a:latin typeface="Calibri" charset="0"/>
                        <a:ea typeface="Calibri" charset="0"/>
                        <a:cs typeface="Calibri"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850" dirty="0">
                          <a:solidFill>
                            <a:srgbClr val="4A3A4A"/>
                          </a:solidFill>
                          <a:latin typeface="Consolas" pitchFamily="34" charset="0"/>
                          <a:ea typeface="Consolas" pitchFamily="34" charset="-122"/>
                          <a:cs typeface="Consolas" pitchFamily="34" charset="-120"/>
                        </a:rPr>
                        <a:t>alimentar + se</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850" dirty="0">
                          <a:solidFill>
                            <a:srgbClr val="C0392B"/>
                          </a:solidFill>
                          <a:latin typeface="Consolas" pitchFamily="34" charset="0"/>
                          <a:ea typeface="Consolas" pitchFamily="34" charset="-122"/>
                          <a:cs typeface="Consolas" pitchFamily="34" charset="-120"/>
                        </a:rPr>
                        <a:t>ali + mentar + se</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extLst>
                  <a:ext uri="{0D108BD9-81ED-4DB2-BD59-A6C34878D82A}">
                    <a16:rowId xmlns:a16="http://schemas.microsoft.com/office/drawing/2014/main" val="10006"/>
                  </a:ext>
                </a:extLst>
              </a:tr>
              <a:tr h="0">
                <a:tc>
                  <a:txBody>
                    <a:bodyPr/>
                    <a:lstStyle/>
                    <a:p>
                      <a:pPr marL="0" indent="0" algn="l">
                        <a:buNone/>
                      </a:pPr>
                      <a:r>
                        <a:rPr lang="en-US" sz="850" dirty="0">
                          <a:solidFill>
                            <a:srgbClr val="4A3A4A"/>
                          </a:solidFill>
                          <a:latin typeface="Calibri" pitchFamily="34" charset="0"/>
                          <a:ea typeface="Calibri" pitchFamily="34" charset="-122"/>
                          <a:cs typeface="Calibri" pitchFamily="34" charset="-120"/>
                        </a:rPr>
                        <a:t>someterse</a:t>
                      </a:r>
                      <a:endParaRPr lang="en-US" sz="850" dirty="0">
                        <a:latin typeface="Calibri" charset="0"/>
                        <a:ea typeface="Calibri" charset="0"/>
                        <a:cs typeface="Calibri"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tc>
                  <a:txBody>
                    <a:bodyPr/>
                    <a:lstStyle/>
                    <a:p>
                      <a:pPr marL="0" indent="0" algn="l">
                        <a:buNone/>
                      </a:pPr>
                      <a:r>
                        <a:rPr lang="en-US" sz="850" dirty="0">
                          <a:solidFill>
                            <a:srgbClr val="4A3A4A"/>
                          </a:solidFill>
                          <a:latin typeface="Consolas" pitchFamily="34" charset="0"/>
                          <a:ea typeface="Consolas" pitchFamily="34" charset="-122"/>
                          <a:cs typeface="Consolas" pitchFamily="34" charset="-120"/>
                        </a:rPr>
                        <a:t>someter + se</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tc>
                  <a:txBody>
                    <a:bodyPr/>
                    <a:lstStyle/>
                    <a:p>
                      <a:pPr marL="0" indent="0" algn="l">
                        <a:buNone/>
                      </a:pPr>
                      <a:r>
                        <a:rPr lang="en-US" sz="850" dirty="0">
                          <a:solidFill>
                            <a:srgbClr val="C0392B"/>
                          </a:solidFill>
                          <a:latin typeface="Consolas" pitchFamily="34" charset="0"/>
                          <a:ea typeface="Consolas" pitchFamily="34" charset="-122"/>
                          <a:cs typeface="Consolas" pitchFamily="34" charset="-120"/>
                        </a:rPr>
                        <a:t>some + ter + se</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850" dirty="0">
                          <a:solidFill>
                            <a:srgbClr val="4A3A4A"/>
                          </a:solidFill>
                          <a:latin typeface="Calibri" pitchFamily="34" charset="0"/>
                          <a:ea typeface="Calibri" pitchFamily="34" charset="-122"/>
                          <a:cs typeface="Calibri" pitchFamily="34" charset="-120"/>
                        </a:rPr>
                        <a:t>molestarse</a:t>
                      </a:r>
                      <a:endParaRPr lang="en-US" sz="850" dirty="0">
                        <a:latin typeface="Calibri" charset="0"/>
                        <a:ea typeface="Calibri" charset="0"/>
                        <a:cs typeface="Calibri"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850" dirty="0">
                          <a:solidFill>
                            <a:srgbClr val="4A3A4A"/>
                          </a:solidFill>
                          <a:latin typeface="Consolas" pitchFamily="34" charset="0"/>
                          <a:ea typeface="Consolas" pitchFamily="34" charset="-122"/>
                          <a:cs typeface="Consolas" pitchFamily="34" charset="-120"/>
                        </a:rPr>
                        <a:t>molestar + se</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850" dirty="0">
                          <a:solidFill>
                            <a:srgbClr val="C0392B"/>
                          </a:solidFill>
                          <a:latin typeface="Consolas" pitchFamily="34" charset="0"/>
                          <a:ea typeface="Consolas" pitchFamily="34" charset="-122"/>
                          <a:cs typeface="Consolas" pitchFamily="34" charset="-120"/>
                        </a:rPr>
                        <a:t>mo + lestar + se</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extLst>
                  <a:ext uri="{0D108BD9-81ED-4DB2-BD59-A6C34878D82A}">
                    <a16:rowId xmlns:a16="http://schemas.microsoft.com/office/drawing/2014/main" val="10008"/>
                  </a:ext>
                </a:extLst>
              </a:tr>
              <a:tr h="0">
                <a:tc>
                  <a:txBody>
                    <a:bodyPr/>
                    <a:lstStyle/>
                    <a:p>
                      <a:pPr marL="0" indent="0" algn="l">
                        <a:buNone/>
                      </a:pPr>
                      <a:r>
                        <a:rPr lang="en-US" sz="850" dirty="0">
                          <a:solidFill>
                            <a:srgbClr val="4A3A4A"/>
                          </a:solidFill>
                          <a:latin typeface="Calibri" pitchFamily="34" charset="0"/>
                          <a:ea typeface="Calibri" pitchFamily="34" charset="-122"/>
                          <a:cs typeface="Calibri" pitchFamily="34" charset="-120"/>
                        </a:rPr>
                        <a:t>titularse</a:t>
                      </a:r>
                      <a:endParaRPr lang="en-US" sz="850" dirty="0">
                        <a:latin typeface="Calibri" charset="0"/>
                        <a:ea typeface="Calibri" charset="0"/>
                        <a:cs typeface="Calibri"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tc>
                  <a:txBody>
                    <a:bodyPr/>
                    <a:lstStyle/>
                    <a:p>
                      <a:pPr marL="0" indent="0" algn="l">
                        <a:buNone/>
                      </a:pPr>
                      <a:r>
                        <a:rPr lang="en-US" sz="850" dirty="0">
                          <a:solidFill>
                            <a:srgbClr val="4A3A4A"/>
                          </a:solidFill>
                          <a:latin typeface="Consolas" pitchFamily="34" charset="0"/>
                          <a:ea typeface="Consolas" pitchFamily="34" charset="-122"/>
                          <a:cs typeface="Consolas" pitchFamily="34" charset="-120"/>
                        </a:rPr>
                        <a:t>titular + se</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tc>
                  <a:txBody>
                    <a:bodyPr/>
                    <a:lstStyle/>
                    <a:p>
                      <a:pPr marL="0" indent="0" algn="l">
                        <a:buNone/>
                      </a:pPr>
                      <a:r>
                        <a:rPr lang="en-US" sz="850" dirty="0">
                          <a:solidFill>
                            <a:srgbClr val="C0392B"/>
                          </a:solidFill>
                          <a:latin typeface="Consolas" pitchFamily="34" charset="0"/>
                          <a:ea typeface="Consolas" pitchFamily="34" charset="-122"/>
                          <a:cs typeface="Consolas" pitchFamily="34" charset="-120"/>
                        </a:rPr>
                        <a:t>titu + lar + se</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lgn="l">
                        <a:buNone/>
                      </a:pPr>
                      <a:r>
                        <a:rPr lang="en-US" sz="850" dirty="0">
                          <a:solidFill>
                            <a:srgbClr val="4A3A4A"/>
                          </a:solidFill>
                          <a:latin typeface="Calibri" pitchFamily="34" charset="0"/>
                          <a:ea typeface="Calibri" pitchFamily="34" charset="-122"/>
                          <a:cs typeface="Calibri" pitchFamily="34" charset="-120"/>
                        </a:rPr>
                        <a:t>aislarlo</a:t>
                      </a:r>
                      <a:endParaRPr lang="en-US" sz="850" dirty="0">
                        <a:latin typeface="Calibri" charset="0"/>
                        <a:ea typeface="Calibri" charset="0"/>
                        <a:cs typeface="Calibri"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850" dirty="0">
                          <a:solidFill>
                            <a:srgbClr val="4A3A4A"/>
                          </a:solidFill>
                          <a:latin typeface="Consolas" pitchFamily="34" charset="0"/>
                          <a:ea typeface="Consolas" pitchFamily="34" charset="-122"/>
                          <a:cs typeface="Consolas" pitchFamily="34" charset="-120"/>
                        </a:rPr>
                        <a:t>aislar + lo</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850" dirty="0">
                          <a:solidFill>
                            <a:srgbClr val="C0392B"/>
                          </a:solidFill>
                          <a:latin typeface="Consolas" pitchFamily="34" charset="0"/>
                          <a:ea typeface="Consolas" pitchFamily="34" charset="-122"/>
                          <a:cs typeface="Consolas" pitchFamily="34" charset="-120"/>
                        </a:rPr>
                        <a:t>ais + lar + lo</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extLst>
                  <a:ext uri="{0D108BD9-81ED-4DB2-BD59-A6C34878D82A}">
                    <a16:rowId xmlns:a16="http://schemas.microsoft.com/office/drawing/2014/main" val="10010"/>
                  </a:ext>
                </a:extLst>
              </a:tr>
              <a:tr h="0">
                <a:tc>
                  <a:txBody>
                    <a:bodyPr/>
                    <a:lstStyle/>
                    <a:p>
                      <a:pPr marL="0" indent="0" algn="l">
                        <a:buNone/>
                      </a:pPr>
                      <a:r>
                        <a:rPr lang="en-US" sz="850" dirty="0">
                          <a:solidFill>
                            <a:srgbClr val="4A3A4A"/>
                          </a:solidFill>
                          <a:latin typeface="Calibri" pitchFamily="34" charset="0"/>
                          <a:ea typeface="Calibri" pitchFamily="34" charset="-122"/>
                          <a:cs typeface="Calibri" pitchFamily="34" charset="-120"/>
                        </a:rPr>
                        <a:t>conocerse ×2</a:t>
                      </a:r>
                      <a:endParaRPr lang="en-US" sz="850" dirty="0">
                        <a:latin typeface="Calibri" charset="0"/>
                        <a:ea typeface="Calibri" charset="0"/>
                        <a:cs typeface="Calibri"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tc>
                  <a:txBody>
                    <a:bodyPr/>
                    <a:lstStyle/>
                    <a:p>
                      <a:pPr marL="0" indent="0" algn="l">
                        <a:buNone/>
                      </a:pPr>
                      <a:r>
                        <a:rPr lang="en-US" sz="850" dirty="0">
                          <a:solidFill>
                            <a:srgbClr val="4A3A4A"/>
                          </a:solidFill>
                          <a:latin typeface="Consolas" pitchFamily="34" charset="0"/>
                          <a:ea typeface="Consolas" pitchFamily="34" charset="-122"/>
                          <a:cs typeface="Consolas" pitchFamily="34" charset="-120"/>
                        </a:rPr>
                        <a:t>conocer + se</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tc>
                  <a:txBody>
                    <a:bodyPr/>
                    <a:lstStyle/>
                    <a:p>
                      <a:pPr marL="0" indent="0" algn="l">
                        <a:buNone/>
                      </a:pPr>
                      <a:r>
                        <a:rPr lang="en-US" sz="850" dirty="0">
                          <a:solidFill>
                            <a:srgbClr val="C0392B"/>
                          </a:solidFill>
                          <a:latin typeface="Consolas" pitchFamily="34" charset="0"/>
                          <a:ea typeface="Consolas" pitchFamily="34" charset="-122"/>
                          <a:cs typeface="Consolas" pitchFamily="34" charset="-120"/>
                        </a:rPr>
                        <a:t>co + nocer + se</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0">
                <a:tc>
                  <a:txBody>
                    <a:bodyPr/>
                    <a:lstStyle/>
                    <a:p>
                      <a:pPr marL="0" indent="0" algn="l">
                        <a:buNone/>
                      </a:pPr>
                      <a:r>
                        <a:rPr lang="en-US" sz="850" dirty="0">
                          <a:solidFill>
                            <a:srgbClr val="4A3A4A"/>
                          </a:solidFill>
                          <a:latin typeface="Calibri" pitchFamily="34" charset="0"/>
                          <a:ea typeface="Calibri" pitchFamily="34" charset="-122"/>
                          <a:cs typeface="Calibri" pitchFamily="34" charset="-120"/>
                        </a:rPr>
                        <a:t>prolongarse</a:t>
                      </a:r>
                      <a:endParaRPr lang="en-US" sz="850" dirty="0">
                        <a:latin typeface="Calibri" charset="0"/>
                        <a:ea typeface="Calibri" charset="0"/>
                        <a:cs typeface="Calibri"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850" dirty="0">
                          <a:solidFill>
                            <a:srgbClr val="4A3A4A"/>
                          </a:solidFill>
                          <a:latin typeface="Consolas" pitchFamily="34" charset="0"/>
                          <a:ea typeface="Consolas" pitchFamily="34" charset="-122"/>
                          <a:cs typeface="Consolas" pitchFamily="34" charset="-120"/>
                        </a:rPr>
                        <a:t>prolongar + se</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tc>
                  <a:txBody>
                    <a:bodyPr/>
                    <a:lstStyle/>
                    <a:p>
                      <a:pPr marL="0" indent="0" algn="l">
                        <a:buNone/>
                      </a:pPr>
                      <a:r>
                        <a:rPr lang="en-US" sz="850" dirty="0">
                          <a:solidFill>
                            <a:srgbClr val="C0392B"/>
                          </a:solidFill>
                          <a:latin typeface="Consolas" pitchFamily="34" charset="0"/>
                          <a:ea typeface="Consolas" pitchFamily="34" charset="-122"/>
                          <a:cs typeface="Consolas" pitchFamily="34" charset="-120"/>
                        </a:rPr>
                        <a:t>pro + longar + se</a:t>
                      </a:r>
                      <a:endParaRPr lang="en-US" sz="850" dirty="0">
                        <a:latin typeface="Consolas" charset="0"/>
                        <a:ea typeface="Consolas" charset="0"/>
                        <a:cs typeface="Consolas" charset="0"/>
                      </a:endParaRPr>
                    </a:p>
                  </a:txBody>
                  <a:tcPr anchor="ctr">
                    <a:lnL w="2540" cap="flat" cmpd="sng" algn="ctr">
                      <a:solidFill>
                        <a:srgbClr val="E8DDD4"/>
                      </a:solidFill>
                      <a:prstDash val="solid"/>
                      <a:round/>
                      <a:headEnd type="none" w="med" len="med"/>
                      <a:tailEnd type="none" w="med" len="med"/>
                    </a:lnL>
                    <a:lnR w="2540" cap="flat" cmpd="sng" algn="ctr">
                      <a:solidFill>
                        <a:srgbClr val="E8DDD4"/>
                      </a:solidFill>
                      <a:prstDash val="solid"/>
                      <a:round/>
                      <a:headEnd type="none" w="med" len="med"/>
                      <a:tailEnd type="none" w="med" len="med"/>
                    </a:lnR>
                    <a:lnT w="2540" cap="flat" cmpd="sng" algn="ctr">
                      <a:solidFill>
                        <a:srgbClr val="E8DDD4"/>
                      </a:solidFill>
                      <a:prstDash val="solid"/>
                      <a:round/>
                      <a:headEnd type="none" w="med" len="med"/>
                      <a:tailEnd type="none" w="med" len="med"/>
                    </a:lnT>
                    <a:lnB w="2540" cap="flat" cmpd="sng" algn="ctr">
                      <a:solidFill>
                        <a:srgbClr val="E8DDD4"/>
                      </a:solidFill>
                      <a:prstDash val="solid"/>
                      <a:round/>
                      <a:headEnd type="none" w="med" len="med"/>
                      <a:tailEnd type="none" w="med" len="med"/>
                    </a:lnB>
                    <a:solidFill>
                      <a:srgbClr val="F5EDE4"/>
                    </a:solidFill>
                  </a:tcPr>
                </a:tc>
                <a:extLst>
                  <a:ext uri="{0D108BD9-81ED-4DB2-BD59-A6C34878D82A}">
                    <a16:rowId xmlns:a16="http://schemas.microsoft.com/office/drawing/2014/main" val="10012"/>
                  </a:ext>
                </a:extLst>
              </a:tr>
            </a:tbl>
          </a:graphicData>
        </a:graphic>
      </p:graphicFrame>
      <p:sp>
        <p:nvSpPr>
          <p:cNvPr id="11" name="Shape 6"/>
          <p:cNvSpPr/>
          <p:nvPr/>
        </p:nvSpPr>
        <p:spPr>
          <a:xfrm>
            <a:off x="731520" y="4251960"/>
            <a:ext cx="7680960" cy="777240"/>
          </a:xfrm>
          <a:prstGeom prst="rect">
            <a:avLst/>
          </a:prstGeom>
          <a:solidFill>
            <a:srgbClr val="4A1942"/>
          </a:solidFill>
          <a:ln/>
        </p:spPr>
      </p:sp>
      <p:sp>
        <p:nvSpPr>
          <p:cNvPr id="12" name="Text 7"/>
          <p:cNvSpPr/>
          <p:nvPr/>
        </p:nvSpPr>
        <p:spPr>
          <a:xfrm>
            <a:off x="914400" y="4279392"/>
            <a:ext cx="7315200" cy="713232"/>
          </a:xfrm>
          <a:prstGeom prst="rect">
            <a:avLst/>
          </a:prstGeom>
          <a:noFill/>
          <a:ln/>
        </p:spPr>
        <p:txBody>
          <a:bodyPr wrap="square" lIns="0" tIns="0" rIns="0" bIns="0" rtlCol="0" anchor="ctr"/>
          <a:lstStyle/>
          <a:p>
            <a:pPr marL="0" indent="0">
              <a:buNone/>
            </a:pPr>
            <a:r>
              <a:rPr lang="en-US" sz="1100" b="1" dirty="0">
                <a:solidFill>
                  <a:srgbClr val="D4A03C"/>
                </a:solidFill>
                <a:latin typeface="Calibri" pitchFamily="34" charset="0"/>
                <a:ea typeface="Calibri" pitchFamily="34" charset="-122"/>
                <a:cs typeface="Calibri" pitchFamily="34" charset="-120"/>
              </a:rPr>
              <a:t>Error Pattern: </a:t>
            </a:r>
            <a:r>
              <a:rPr lang="en-US" sz="1100" dirty="0">
                <a:solidFill>
                  <a:srgbClr val="FFFFFF"/>
                </a:solidFill>
                <a:latin typeface="Calibri" pitchFamily="34" charset="0"/>
                <a:ea typeface="Calibri" pitchFamily="34" charset="-122"/>
                <a:cs typeface="Calibri" pitchFamily="34" charset="-120"/>
              </a:rPr>
              <a:t>All 14 errors are </a:t>
            </a:r>
            <a:r>
              <a:rPr lang="en-US" sz="1100" b="1" dirty="0">
                <a:solidFill>
                  <a:srgbClr val="E89AAE"/>
                </a:solidFill>
                <a:latin typeface="Calibri" pitchFamily="34" charset="0"/>
                <a:ea typeface="Calibri" pitchFamily="34" charset="-122"/>
                <a:cs typeface="Calibri" pitchFamily="34" charset="-120"/>
              </a:rPr>
              <a:t>over-segmentation</a:t>
            </a:r>
            <a:r>
              <a:rPr lang="en-US" sz="1050" dirty="0">
                <a:solidFill>
                  <a:srgbClr val="FFFFFF"/>
                </a:solidFill>
                <a:latin typeface="Calibri" pitchFamily="34" charset="0"/>
                <a:ea typeface="Calibri" pitchFamily="34" charset="-122"/>
                <a:cs typeface="Calibri" pitchFamily="34" charset="-120"/>
              </a:rPr>
              <a:t> — the model splits the verb stem too early, creating an extra boundary. For example, "colocarlos" should be "colocar+los" but the model predicts "co+locar+los". The model correctly identifies the clitic ("-los", "-se", "-lo") but struggles with where the verb stem begins. All errors have F1 = 0.67 and POS = UNK.</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A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75B7A"/>
          </a:solidFill>
          <a:ln/>
        </p:spPr>
      </p:sp>
      <p:pic>
        <p:nvPicPr>
          <p:cNvPr id="3" name="Image 0" descr="preencoded.png"/>
          <p:cNvPicPr>
            <a:picLocks noChangeAspect="1"/>
          </p:cNvPicPr>
          <p:nvPr/>
        </p:nvPicPr>
        <p:blipFill>
          <a:blip r:embed="rId3"/>
          <a:stretch>
            <a:fillRect/>
          </a:stretch>
        </p:blipFill>
        <p:spPr>
          <a:xfrm>
            <a:off x="731520" y="274320"/>
            <a:ext cx="320040" cy="320040"/>
          </a:xfrm>
          <a:prstGeom prst="rect">
            <a:avLst/>
          </a:prstGeom>
        </p:spPr>
      </p:pic>
      <p:sp>
        <p:nvSpPr>
          <p:cNvPr id="4" name="Text 1"/>
          <p:cNvSpPr/>
          <p:nvPr/>
        </p:nvSpPr>
        <p:spPr>
          <a:xfrm>
            <a:off x="1143000" y="228600"/>
            <a:ext cx="7498080" cy="411480"/>
          </a:xfrm>
          <a:prstGeom prst="rect">
            <a:avLst/>
          </a:prstGeom>
          <a:noFill/>
          <a:ln/>
        </p:spPr>
        <p:txBody>
          <a:bodyPr wrap="square" lIns="0" tIns="0" rIns="0" bIns="0" rtlCol="0" anchor="ctr"/>
          <a:lstStyle/>
          <a:p>
            <a:pPr marL="0" indent="0">
              <a:buNone/>
            </a:pPr>
            <a:r>
              <a:rPr lang="en-US" sz="2400" b="1" dirty="0">
                <a:solidFill>
                  <a:srgbClr val="2E1A2E"/>
                </a:solidFill>
                <a:latin typeface="Georgia" pitchFamily="34" charset="0"/>
                <a:ea typeface="Georgia" pitchFamily="34" charset="-122"/>
                <a:cs typeface="Georgia" pitchFamily="34" charset="-120"/>
              </a:rPr>
              <a:t>Detailed Ablation &amp; Segmentation by MWT Type</a:t>
            </a:r>
            <a:endParaRPr lang="en-US" sz="2400" dirty="0"/>
          </a:p>
        </p:txBody>
      </p:sp>
      <p:sp>
        <p:nvSpPr>
          <p:cNvPr id="5" name="Text 2"/>
          <p:cNvSpPr/>
          <p:nvPr/>
        </p:nvSpPr>
        <p:spPr>
          <a:xfrm>
            <a:off x="731520" y="777240"/>
            <a:ext cx="4572000" cy="256032"/>
          </a:xfrm>
          <a:prstGeom prst="rect">
            <a:avLst/>
          </a:prstGeom>
          <a:noFill/>
          <a:ln/>
        </p:spPr>
        <p:txBody>
          <a:bodyPr wrap="square" lIns="0" tIns="0" rIns="0" bIns="0" rtlCol="0" anchor="ctr"/>
          <a:lstStyle/>
          <a:p>
            <a:pPr marL="0" indent="0">
              <a:buNone/>
            </a:pPr>
            <a:r>
              <a:rPr lang="en-US" sz="1400" b="1" dirty="0">
                <a:solidFill>
                  <a:srgbClr val="2E1A2E"/>
                </a:solidFill>
                <a:latin typeface="Calibri" pitchFamily="34" charset="0"/>
                <a:ea typeface="Calibri" pitchFamily="34" charset="-122"/>
                <a:cs typeface="Calibri" pitchFamily="34" charset="-120"/>
              </a:rPr>
              <a:t>Ablation Study (with Feature Counts)</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1078992"/>
          <a:ext cx="7040880" cy="1737360"/>
        </p:xfrm>
        <a:graphic>
          <a:graphicData uri="http://schemas.openxmlformats.org/drawingml/2006/table">
            <a:tbl>
              <a:tblPr/>
              <a:tblGrid>
                <a:gridCol w="29260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47472">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Configuration</a:t>
                      </a:r>
                      <a:endParaRPr lang="en-US" sz="1100" dirty="0">
                        <a:latin typeface="Calibri" charset="0"/>
                        <a:ea typeface="Calibri" charset="0"/>
                        <a:cs typeface="Calibri"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4A1942"/>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Char Acc</a:t>
                      </a:r>
                      <a:endParaRPr lang="en-US" sz="1100" dirty="0">
                        <a:latin typeface="Calibri" charset="0"/>
                        <a:ea typeface="Calibri" charset="0"/>
                        <a:cs typeface="Calibri"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4A1942"/>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Seg F1</a:t>
                      </a:r>
                      <a:endParaRPr lang="en-US" sz="1100" dirty="0">
                        <a:latin typeface="Calibri" charset="0"/>
                        <a:ea typeface="Calibri" charset="0"/>
                        <a:cs typeface="Calibri"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4A1942"/>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Features</a:t>
                      </a:r>
                      <a:endParaRPr lang="en-US" sz="1100" dirty="0">
                        <a:latin typeface="Calibri" charset="0"/>
                        <a:ea typeface="Calibri" charset="0"/>
                        <a:cs typeface="Calibri"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4A1942"/>
                    </a:solidFill>
                  </a:tcPr>
                </a:tc>
                <a:extLst>
                  <a:ext uri="{0D108BD9-81ED-4DB2-BD59-A6C34878D82A}">
                    <a16:rowId xmlns:a16="http://schemas.microsoft.com/office/drawing/2014/main" val="10000"/>
                  </a:ext>
                </a:extLst>
              </a:tr>
              <a:tr h="347472">
                <a:tc>
                  <a:txBody>
                    <a:bodyPr/>
                    <a:lstStyle/>
                    <a:p>
                      <a:pPr marL="0" indent="0" algn="l">
                        <a:buNone/>
                      </a:pPr>
                      <a:r>
                        <a:rPr lang="en-US" sz="1100" dirty="0">
                          <a:solidFill>
                            <a:srgbClr val="4A3A4A"/>
                          </a:solidFill>
                          <a:latin typeface="Calibri" pitchFamily="34" charset="0"/>
                          <a:ea typeface="Calibri" pitchFamily="34" charset="-122"/>
                          <a:cs typeface="Calibri" pitchFamily="34" charset="-120"/>
                        </a:rPr>
                        <a:t>Full model (POS + N-grams)</a:t>
                      </a:r>
                      <a:endParaRPr lang="en-US" sz="1100" dirty="0">
                        <a:latin typeface="Calibri" charset="0"/>
                        <a:ea typeface="Calibri" charset="0"/>
                        <a:cs typeface="Calibri"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3A4A"/>
                          </a:solidFill>
                          <a:latin typeface="Consolas" pitchFamily="34" charset="0"/>
                          <a:ea typeface="Consolas" pitchFamily="34" charset="-122"/>
                          <a:cs typeface="Consolas" pitchFamily="34" charset="-120"/>
                        </a:rPr>
                        <a:t>1.0000</a:t>
                      </a:r>
                      <a:endParaRPr lang="en-US" sz="1100" dirty="0">
                        <a:latin typeface="Consolas" charset="0"/>
                        <a:ea typeface="Consolas" charset="0"/>
                        <a:cs typeface="Consolas"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7AE60"/>
                          </a:solidFill>
                          <a:latin typeface="Consolas" pitchFamily="34" charset="0"/>
                          <a:ea typeface="Consolas" pitchFamily="34" charset="-122"/>
                          <a:cs typeface="Consolas" pitchFamily="34" charset="-120"/>
                        </a:rPr>
                        <a:t>0.9644</a:t>
                      </a:r>
                      <a:endParaRPr lang="en-US" sz="1100" dirty="0">
                        <a:latin typeface="Consolas" charset="0"/>
                        <a:ea typeface="Consolas" charset="0"/>
                        <a:cs typeface="Consolas"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3A4A"/>
                          </a:solidFill>
                          <a:latin typeface="Consolas" pitchFamily="34" charset="0"/>
                          <a:ea typeface="Consolas" pitchFamily="34" charset="-122"/>
                          <a:cs typeface="Consolas" pitchFamily="34" charset="-120"/>
                        </a:rPr>
                        <a:t>1,720</a:t>
                      </a:r>
                      <a:endParaRPr lang="en-US" sz="1100" dirty="0">
                        <a:latin typeface="Consolas" charset="0"/>
                        <a:ea typeface="Consolas" charset="0"/>
                        <a:cs typeface="Consolas"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100" dirty="0">
                          <a:solidFill>
                            <a:srgbClr val="4A3A4A"/>
                          </a:solidFill>
                          <a:latin typeface="Calibri" pitchFamily="34" charset="0"/>
                          <a:ea typeface="Calibri" pitchFamily="34" charset="-122"/>
                          <a:cs typeface="Calibri" pitchFamily="34" charset="-120"/>
                        </a:rPr>
                        <a:t>No POS</a:t>
                      </a:r>
                      <a:endParaRPr lang="en-US" sz="1100" dirty="0">
                        <a:latin typeface="Calibri" charset="0"/>
                        <a:ea typeface="Calibri" charset="0"/>
                        <a:cs typeface="Calibri"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1100" dirty="0">
                          <a:solidFill>
                            <a:srgbClr val="4A3A4A"/>
                          </a:solidFill>
                          <a:latin typeface="Consolas" pitchFamily="34" charset="0"/>
                          <a:ea typeface="Consolas" pitchFamily="34" charset="-122"/>
                          <a:cs typeface="Consolas" pitchFamily="34" charset="-120"/>
                        </a:rPr>
                        <a:t>0.9976</a:t>
                      </a:r>
                      <a:endParaRPr lang="en-US" sz="1100" dirty="0">
                        <a:latin typeface="Consolas" charset="0"/>
                        <a:ea typeface="Consolas" charset="0"/>
                        <a:cs typeface="Consolas"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1100" dirty="0">
                          <a:solidFill>
                            <a:srgbClr val="4A3A4A"/>
                          </a:solidFill>
                          <a:latin typeface="Consolas" pitchFamily="34" charset="0"/>
                          <a:ea typeface="Consolas" pitchFamily="34" charset="-122"/>
                          <a:cs typeface="Consolas" pitchFamily="34" charset="-120"/>
                        </a:rPr>
                        <a:t>0.9924</a:t>
                      </a:r>
                      <a:endParaRPr lang="en-US" sz="1100" dirty="0">
                        <a:latin typeface="Consolas" charset="0"/>
                        <a:ea typeface="Consolas" charset="0"/>
                        <a:cs typeface="Consolas"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1100" dirty="0">
                          <a:solidFill>
                            <a:srgbClr val="4A3A4A"/>
                          </a:solidFill>
                          <a:latin typeface="Consolas" pitchFamily="34" charset="0"/>
                          <a:ea typeface="Consolas" pitchFamily="34" charset="-122"/>
                          <a:cs typeface="Consolas" pitchFamily="34" charset="-120"/>
                        </a:rPr>
                        <a:t>1,717</a:t>
                      </a:r>
                      <a:endParaRPr lang="en-US" sz="1100" dirty="0">
                        <a:latin typeface="Consolas" charset="0"/>
                        <a:ea typeface="Consolas" charset="0"/>
                        <a:cs typeface="Consolas"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F5EDE4"/>
                    </a:solidFill>
                  </a:tcPr>
                </a:tc>
                <a:extLst>
                  <a:ext uri="{0D108BD9-81ED-4DB2-BD59-A6C34878D82A}">
                    <a16:rowId xmlns:a16="http://schemas.microsoft.com/office/drawing/2014/main" val="10002"/>
                  </a:ext>
                </a:extLst>
              </a:tr>
              <a:tr h="347472">
                <a:tc>
                  <a:txBody>
                    <a:bodyPr/>
                    <a:lstStyle/>
                    <a:p>
                      <a:pPr marL="0" indent="0" algn="l">
                        <a:buNone/>
                      </a:pPr>
                      <a:r>
                        <a:rPr lang="en-US" sz="1100" dirty="0">
                          <a:solidFill>
                            <a:srgbClr val="4A3A4A"/>
                          </a:solidFill>
                          <a:latin typeface="Calibri" pitchFamily="34" charset="0"/>
                          <a:ea typeface="Calibri" pitchFamily="34" charset="-122"/>
                          <a:cs typeface="Calibri" pitchFamily="34" charset="-120"/>
                        </a:rPr>
                        <a:t>No N-grams</a:t>
                      </a:r>
                      <a:endParaRPr lang="en-US" sz="1100" dirty="0">
                        <a:latin typeface="Calibri" charset="0"/>
                        <a:ea typeface="Calibri" charset="0"/>
                        <a:cs typeface="Calibri"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FDE8E8"/>
                    </a:solidFill>
                  </a:tcPr>
                </a:tc>
                <a:tc>
                  <a:txBody>
                    <a:bodyPr/>
                    <a:lstStyle/>
                    <a:p>
                      <a:pPr marL="0" indent="0" algn="ctr">
                        <a:buNone/>
                      </a:pPr>
                      <a:r>
                        <a:rPr lang="en-US" sz="1100" dirty="0">
                          <a:solidFill>
                            <a:srgbClr val="4A3A4A"/>
                          </a:solidFill>
                          <a:latin typeface="Consolas" pitchFamily="34" charset="0"/>
                          <a:ea typeface="Consolas" pitchFamily="34" charset="-122"/>
                          <a:cs typeface="Consolas" pitchFamily="34" charset="-120"/>
                        </a:rPr>
                        <a:t>1.0000</a:t>
                      </a:r>
                      <a:endParaRPr lang="en-US" sz="1100" dirty="0">
                        <a:latin typeface="Consolas" charset="0"/>
                        <a:ea typeface="Consolas" charset="0"/>
                        <a:cs typeface="Consolas"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FDE8E8"/>
                    </a:solidFill>
                  </a:tcPr>
                </a:tc>
                <a:tc>
                  <a:txBody>
                    <a:bodyPr/>
                    <a:lstStyle/>
                    <a:p>
                      <a:pPr marL="0" indent="0" algn="ctr">
                        <a:buNone/>
                      </a:pPr>
                      <a:r>
                        <a:rPr lang="en-US" sz="1100" b="1" dirty="0">
                          <a:solidFill>
                            <a:srgbClr val="C0392B"/>
                          </a:solidFill>
                          <a:latin typeface="Consolas" pitchFamily="34" charset="0"/>
                          <a:ea typeface="Consolas" pitchFamily="34" charset="-122"/>
                          <a:cs typeface="Consolas" pitchFamily="34" charset="-120"/>
                        </a:rPr>
                        <a:t>0.9313</a:t>
                      </a:r>
                      <a:endParaRPr lang="en-US" sz="1100" dirty="0">
                        <a:latin typeface="Consolas" charset="0"/>
                        <a:ea typeface="Consolas" charset="0"/>
                        <a:cs typeface="Consolas"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FDE8E8"/>
                    </a:solidFill>
                  </a:tcPr>
                </a:tc>
                <a:tc>
                  <a:txBody>
                    <a:bodyPr/>
                    <a:lstStyle/>
                    <a:p>
                      <a:pPr marL="0" indent="0" algn="ctr">
                        <a:buNone/>
                      </a:pPr>
                      <a:r>
                        <a:rPr lang="en-US" sz="1100" dirty="0">
                          <a:solidFill>
                            <a:srgbClr val="4A3A4A"/>
                          </a:solidFill>
                          <a:latin typeface="Consolas" pitchFamily="34" charset="0"/>
                          <a:ea typeface="Consolas" pitchFamily="34" charset="-122"/>
                          <a:cs typeface="Consolas" pitchFamily="34" charset="-120"/>
                        </a:rPr>
                        <a:t>130</a:t>
                      </a:r>
                      <a:endParaRPr lang="en-US" sz="1100" dirty="0">
                        <a:latin typeface="Consolas" charset="0"/>
                        <a:ea typeface="Consolas" charset="0"/>
                        <a:cs typeface="Consolas"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FDE8E8"/>
                    </a:solidFill>
                  </a:tcPr>
                </a:tc>
                <a:extLst>
                  <a:ext uri="{0D108BD9-81ED-4DB2-BD59-A6C34878D82A}">
                    <a16:rowId xmlns:a16="http://schemas.microsoft.com/office/drawing/2014/main" val="10003"/>
                  </a:ext>
                </a:extLst>
              </a:tr>
              <a:tr h="347472">
                <a:tc>
                  <a:txBody>
                    <a:bodyPr/>
                    <a:lstStyle/>
                    <a:p>
                      <a:pPr marL="0" indent="0" algn="l">
                        <a:buNone/>
                      </a:pPr>
                      <a:r>
                        <a:rPr lang="en-US" sz="1100" dirty="0">
                          <a:solidFill>
                            <a:srgbClr val="4A3A4A"/>
                          </a:solidFill>
                          <a:latin typeface="Calibri" pitchFamily="34" charset="0"/>
                          <a:ea typeface="Calibri" pitchFamily="34" charset="-122"/>
                          <a:cs typeface="Calibri" pitchFamily="34" charset="-120"/>
                        </a:rPr>
                        <a:t>Base features only</a:t>
                      </a:r>
                      <a:endParaRPr lang="en-US" sz="1100" dirty="0">
                        <a:latin typeface="Calibri" charset="0"/>
                        <a:ea typeface="Calibri" charset="0"/>
                        <a:cs typeface="Calibri"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1100" dirty="0">
                          <a:solidFill>
                            <a:srgbClr val="4A3A4A"/>
                          </a:solidFill>
                          <a:latin typeface="Consolas" pitchFamily="34" charset="0"/>
                          <a:ea typeface="Consolas" pitchFamily="34" charset="-122"/>
                          <a:cs typeface="Consolas" pitchFamily="34" charset="-120"/>
                        </a:rPr>
                        <a:t>0.9961</a:t>
                      </a:r>
                      <a:endParaRPr lang="en-US" sz="1100" dirty="0">
                        <a:latin typeface="Consolas" charset="0"/>
                        <a:ea typeface="Consolas" charset="0"/>
                        <a:cs typeface="Consolas"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1100" dirty="0">
                          <a:solidFill>
                            <a:srgbClr val="4A3A4A"/>
                          </a:solidFill>
                          <a:latin typeface="Consolas" pitchFamily="34" charset="0"/>
                          <a:ea typeface="Consolas" pitchFamily="34" charset="-122"/>
                          <a:cs typeface="Consolas" pitchFamily="34" charset="-120"/>
                        </a:rPr>
                        <a:t>0.9975</a:t>
                      </a:r>
                      <a:endParaRPr lang="en-US" sz="1100" dirty="0">
                        <a:latin typeface="Consolas" charset="0"/>
                        <a:ea typeface="Consolas" charset="0"/>
                        <a:cs typeface="Consolas"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F5EDE4"/>
                    </a:solidFill>
                  </a:tcPr>
                </a:tc>
                <a:tc>
                  <a:txBody>
                    <a:bodyPr/>
                    <a:lstStyle/>
                    <a:p>
                      <a:pPr marL="0" indent="0" algn="ctr">
                        <a:buNone/>
                      </a:pPr>
                      <a:r>
                        <a:rPr lang="en-US" sz="1100" dirty="0">
                          <a:solidFill>
                            <a:srgbClr val="4A3A4A"/>
                          </a:solidFill>
                          <a:latin typeface="Consolas" pitchFamily="34" charset="0"/>
                          <a:ea typeface="Consolas" pitchFamily="34" charset="-122"/>
                          <a:cs typeface="Consolas" pitchFamily="34" charset="-120"/>
                        </a:rPr>
                        <a:t>127</a:t>
                      </a:r>
                      <a:endParaRPr lang="en-US" sz="1100" dirty="0">
                        <a:latin typeface="Consolas" charset="0"/>
                        <a:ea typeface="Consolas" charset="0"/>
                        <a:cs typeface="Consolas" charset="0"/>
                      </a:endParaRPr>
                    </a:p>
                  </a:txBody>
                  <a:tcPr anchor="ctr">
                    <a:lnL w="5080" cap="flat" cmpd="sng" algn="ctr">
                      <a:solidFill>
                        <a:srgbClr val="E8DDD4"/>
                      </a:solidFill>
                      <a:prstDash val="solid"/>
                      <a:round/>
                      <a:headEnd type="none" w="med" len="med"/>
                      <a:tailEnd type="none" w="med" len="med"/>
                    </a:lnL>
                    <a:lnR w="5080" cap="flat" cmpd="sng" algn="ctr">
                      <a:solidFill>
                        <a:srgbClr val="E8DDD4"/>
                      </a:solidFill>
                      <a:prstDash val="solid"/>
                      <a:round/>
                      <a:headEnd type="none" w="med" len="med"/>
                      <a:tailEnd type="none" w="med" len="med"/>
                    </a:lnR>
                    <a:lnT w="5080" cap="flat" cmpd="sng" algn="ctr">
                      <a:solidFill>
                        <a:srgbClr val="E8DDD4"/>
                      </a:solidFill>
                      <a:prstDash val="solid"/>
                      <a:round/>
                      <a:headEnd type="none" w="med" len="med"/>
                      <a:tailEnd type="none" w="med" len="med"/>
                    </a:lnT>
                    <a:lnB w="5080" cap="flat" cmpd="sng" algn="ctr">
                      <a:solidFill>
                        <a:srgbClr val="E8DDD4"/>
                      </a:solidFill>
                      <a:prstDash val="solid"/>
                      <a:round/>
                      <a:headEnd type="none" w="med" len="med"/>
                      <a:tailEnd type="none" w="med" len="med"/>
                    </a:lnB>
                    <a:solidFill>
                      <a:srgbClr val="F5EDE4"/>
                    </a:solidFill>
                  </a:tcPr>
                </a:tc>
                <a:extLst>
                  <a:ext uri="{0D108BD9-81ED-4DB2-BD59-A6C34878D82A}">
                    <a16:rowId xmlns:a16="http://schemas.microsoft.com/office/drawing/2014/main" val="10004"/>
                  </a:ext>
                </a:extLst>
              </a:tr>
            </a:tbl>
          </a:graphicData>
        </a:graphic>
      </p:graphicFrame>
      <p:sp>
        <p:nvSpPr>
          <p:cNvPr id="7" name="Shape 3"/>
          <p:cNvSpPr/>
          <p:nvPr/>
        </p:nvSpPr>
        <p:spPr>
          <a:xfrm>
            <a:off x="731520" y="2880360"/>
            <a:ext cx="3840480" cy="1463040"/>
          </a:xfrm>
          <a:prstGeom prst="rect">
            <a:avLst/>
          </a:prstGeom>
          <a:solidFill>
            <a:srgbClr val="FFFFFF"/>
          </a:solidFill>
          <a:ln/>
          <a:effectLst>
            <a:outerShdw blurRad="50800" dist="25400" dir="8100000" algn="bl" rotWithShape="0">
              <a:srgbClr val="000000">
                <a:alpha val="8000"/>
              </a:srgbClr>
            </a:outerShdw>
          </a:effectLst>
        </p:spPr>
      </p:sp>
      <p:sp>
        <p:nvSpPr>
          <p:cNvPr id="8" name="Shape 4"/>
          <p:cNvSpPr/>
          <p:nvPr/>
        </p:nvSpPr>
        <p:spPr>
          <a:xfrm>
            <a:off x="731520" y="2880360"/>
            <a:ext cx="64008" cy="1463040"/>
          </a:xfrm>
          <a:prstGeom prst="rect">
            <a:avLst/>
          </a:prstGeom>
          <a:solidFill>
            <a:srgbClr val="C75B7A"/>
          </a:solidFill>
          <a:ln/>
        </p:spPr>
      </p:sp>
      <p:sp>
        <p:nvSpPr>
          <p:cNvPr id="9" name="Text 5"/>
          <p:cNvSpPr/>
          <p:nvPr/>
        </p:nvSpPr>
        <p:spPr>
          <a:xfrm>
            <a:off x="868680" y="2926080"/>
            <a:ext cx="3566160" cy="228600"/>
          </a:xfrm>
          <a:prstGeom prst="rect">
            <a:avLst/>
          </a:prstGeom>
          <a:noFill/>
          <a:ln/>
        </p:spPr>
        <p:txBody>
          <a:bodyPr wrap="square" lIns="0" tIns="0" rIns="0" bIns="0" rtlCol="0" anchor="ctr"/>
          <a:lstStyle/>
          <a:p>
            <a:pPr marL="0" indent="0">
              <a:buNone/>
            </a:pPr>
            <a:r>
              <a:rPr lang="en-US" sz="1300" b="1" dirty="0">
                <a:solidFill>
                  <a:srgbClr val="2E1A2E"/>
                </a:solidFill>
                <a:latin typeface="Calibri" pitchFamily="34" charset="0"/>
                <a:ea typeface="Calibri" pitchFamily="34" charset="-122"/>
                <a:cs typeface="Calibri" pitchFamily="34" charset="-120"/>
              </a:rPr>
              <a:t>Feature Count Analysis</a:t>
            </a:r>
            <a:endParaRPr lang="en-US" sz="1300" dirty="0"/>
          </a:p>
        </p:txBody>
      </p:sp>
      <p:sp>
        <p:nvSpPr>
          <p:cNvPr id="10" name="Text 6"/>
          <p:cNvSpPr/>
          <p:nvPr/>
        </p:nvSpPr>
        <p:spPr>
          <a:xfrm>
            <a:off x="868680" y="3200400"/>
            <a:ext cx="3566160" cy="1097280"/>
          </a:xfrm>
          <a:prstGeom prst="rect">
            <a:avLst/>
          </a:prstGeom>
          <a:noFill/>
          <a:ln/>
        </p:spPr>
        <p:txBody>
          <a:bodyPr wrap="square" lIns="0" tIns="0" rIns="0" bIns="0" rtlCol="0" anchor="ctr"/>
          <a:lstStyle/>
          <a:p>
            <a:pPr marL="0" indent="0">
              <a:buNone/>
            </a:pPr>
            <a:r>
              <a:rPr lang="en-US" sz="950" dirty="0">
                <a:solidFill>
                  <a:srgbClr val="4A3A4A"/>
                </a:solidFill>
                <a:latin typeface="Calibri" pitchFamily="34" charset="0"/>
                <a:ea typeface="Calibri" pitchFamily="34" charset="-122"/>
                <a:cs typeface="Calibri" pitchFamily="34" charset="-120"/>
              </a:rPr>
              <a:t>• Full model: 1,720 features (POS tags + character n-grams)</a:t>
            </a:r>
            <a:endParaRPr lang="en-US" sz="950" dirty="0"/>
          </a:p>
          <a:p>
            <a:pPr marL="0" indent="0">
              <a:buNone/>
            </a:pPr>
            <a:r>
              <a:rPr lang="en-US" sz="950" dirty="0">
                <a:solidFill>
                  <a:srgbClr val="4A3A4A"/>
                </a:solidFill>
                <a:latin typeface="Calibri" pitchFamily="34" charset="0"/>
                <a:ea typeface="Calibri" pitchFamily="34" charset="-122"/>
                <a:cs typeface="Calibri" pitchFamily="34" charset="-120"/>
              </a:rPr>
              <a:t>• Removing POS: 1,717 features (−3 only!) — POS adds just 3 features, confirming its minimal contribution</a:t>
            </a:r>
            <a:endParaRPr lang="en-US" sz="950" dirty="0"/>
          </a:p>
          <a:p>
            <a:pPr marL="0" indent="0">
              <a:buNone/>
            </a:pPr>
            <a:r>
              <a:rPr lang="en-US" sz="950" dirty="0">
                <a:solidFill>
                  <a:srgbClr val="4A3A4A"/>
                </a:solidFill>
                <a:latin typeface="Calibri" pitchFamily="34" charset="0"/>
                <a:ea typeface="Calibri" pitchFamily="34" charset="-122"/>
                <a:cs typeface="Calibri" pitchFamily="34" charset="-120"/>
              </a:rPr>
              <a:t>• Removing N-grams: 130 features — massive drop from 1,720 to 130, explaining the F1 decline</a:t>
            </a:r>
            <a:endParaRPr lang="en-US" sz="950" dirty="0"/>
          </a:p>
          <a:p>
            <a:pPr marL="0" indent="0">
              <a:buNone/>
            </a:pPr>
            <a:r>
              <a:rPr lang="en-US" sz="950" dirty="0">
                <a:solidFill>
                  <a:srgbClr val="4A3A4A"/>
                </a:solidFill>
                <a:latin typeface="Calibri" pitchFamily="34" charset="0"/>
                <a:ea typeface="Calibri" pitchFamily="34" charset="-122"/>
                <a:cs typeface="Calibri" pitchFamily="34" charset="-120"/>
              </a:rPr>
              <a:t>• Base only: 127 features — the core character identity features alone</a:t>
            </a:r>
            <a:endParaRPr lang="en-US" sz="950" dirty="0"/>
          </a:p>
          <a:p>
            <a:pPr marL="0" indent="0">
              <a:buNone/>
            </a:pPr>
            <a:endParaRPr lang="en-US" sz="950" dirty="0"/>
          </a:p>
          <a:p>
            <a:pPr marL="0" indent="0">
              <a:buNone/>
            </a:pPr>
            <a:r>
              <a:rPr lang="en-US" sz="950" dirty="0">
                <a:solidFill>
                  <a:srgbClr val="4A3A4A"/>
                </a:solidFill>
                <a:latin typeface="Calibri" pitchFamily="34" charset="0"/>
                <a:ea typeface="Calibri" pitchFamily="34" charset="-122"/>
                <a:cs typeface="Calibri" pitchFamily="34" charset="-120"/>
              </a:rPr>
              <a:t>N-grams account for ~1,590 of 1,720 features (92.4%) and are the primary information source.</a:t>
            </a:r>
            <a:endParaRPr lang="en-US" sz="950" dirty="0"/>
          </a:p>
        </p:txBody>
      </p:sp>
      <p:sp>
        <p:nvSpPr>
          <p:cNvPr id="11" name="Text 7"/>
          <p:cNvSpPr/>
          <p:nvPr/>
        </p:nvSpPr>
        <p:spPr>
          <a:xfrm>
            <a:off x="4937760" y="2880360"/>
            <a:ext cx="3657600" cy="228600"/>
          </a:xfrm>
          <a:prstGeom prst="rect">
            <a:avLst/>
          </a:prstGeom>
          <a:noFill/>
          <a:ln/>
        </p:spPr>
        <p:txBody>
          <a:bodyPr wrap="square" lIns="0" tIns="0" rIns="0" bIns="0" rtlCol="0" anchor="ctr"/>
          <a:lstStyle/>
          <a:p>
            <a:pPr marL="0" indent="0">
              <a:buNone/>
            </a:pPr>
            <a:r>
              <a:rPr lang="en-US" sz="1300" b="1" dirty="0">
                <a:solidFill>
                  <a:srgbClr val="2E1A2E"/>
                </a:solidFill>
                <a:latin typeface="Calibri" pitchFamily="34" charset="0"/>
                <a:ea typeface="Calibri" pitchFamily="34" charset="-122"/>
                <a:cs typeface="Calibri" pitchFamily="34" charset="-120"/>
              </a:rPr>
              <a:t>Segmentation Accuracy by MWT Type</a:t>
            </a:r>
            <a:endParaRPr lang="en-US" sz="1300" dirty="0"/>
          </a:p>
        </p:txBody>
      </p:sp>
      <p:graphicFrame>
        <p:nvGraphicFramePr>
          <p:cNvPr id="12" name="Chart 0"/>
          <p:cNvGraphicFramePr/>
          <p:nvPr/>
        </p:nvGraphicFramePr>
        <p:xfrm>
          <a:off x="4846320" y="3154680"/>
          <a:ext cx="3749040" cy="1737360"/>
        </p:xfrm>
        <a:graphic>
          <a:graphicData uri="http://schemas.openxmlformats.org/drawingml/2006/chart">
            <c:chart xmlns:c="http://schemas.openxmlformats.org/drawingml/2006/chart" xmlns:r="http://schemas.openxmlformats.org/officeDocument/2006/relationships" r:id="rId4"/>
          </a:graphicData>
        </a:graphic>
      </p:graphicFrame>
      <p:sp>
        <p:nvSpPr>
          <p:cNvPr id="13" name="Shape 8"/>
          <p:cNvSpPr/>
          <p:nvPr/>
        </p:nvSpPr>
        <p:spPr>
          <a:xfrm>
            <a:off x="731520" y="4572000"/>
            <a:ext cx="7680960" cy="457200"/>
          </a:xfrm>
          <a:prstGeom prst="rect">
            <a:avLst/>
          </a:prstGeom>
          <a:solidFill>
            <a:srgbClr val="4A1942"/>
          </a:solidFill>
          <a:ln/>
        </p:spPr>
      </p:sp>
      <p:sp>
        <p:nvSpPr>
          <p:cNvPr id="14" name="Text 9"/>
          <p:cNvSpPr/>
          <p:nvPr/>
        </p:nvSpPr>
        <p:spPr>
          <a:xfrm>
            <a:off x="914400" y="4590288"/>
            <a:ext cx="7315200" cy="420624"/>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High-frequency MWT forms (convirtiéndose: 8, dedicarse: 7) achieve 100% accuracy. Failures concentrate on forms where the verb stem contains common clitic-like substrings, causing over-segmentation.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4A1942"/>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D4A03C"/>
          </a:solidFill>
          <a:ln/>
        </p:spPr>
      </p:sp>
      <p:sp>
        <p:nvSpPr>
          <p:cNvPr id="3" name="Shape 1"/>
          <p:cNvSpPr/>
          <p:nvPr/>
        </p:nvSpPr>
        <p:spPr>
          <a:xfrm>
            <a:off x="0" y="45720"/>
            <a:ext cx="91440" cy="5097780"/>
          </a:xfrm>
          <a:prstGeom prst="rect">
            <a:avLst/>
          </a:prstGeom>
          <a:solidFill>
            <a:srgbClr val="C75B7A"/>
          </a:solidFill>
          <a:ln/>
        </p:spPr>
      </p:sp>
      <p:sp>
        <p:nvSpPr>
          <p:cNvPr id="4" name="Text 2"/>
          <p:cNvSpPr/>
          <p:nvPr/>
        </p:nvSpPr>
        <p:spPr>
          <a:xfrm>
            <a:off x="822960" y="228600"/>
            <a:ext cx="7772400" cy="45720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Conclusion &amp; Summary</a:t>
            </a:r>
            <a:endParaRPr lang="en-US" sz="3200" dirty="0"/>
          </a:p>
        </p:txBody>
      </p:sp>
      <p:sp>
        <p:nvSpPr>
          <p:cNvPr id="5" name="Text 3"/>
          <p:cNvSpPr/>
          <p:nvPr/>
        </p:nvSpPr>
        <p:spPr>
          <a:xfrm>
            <a:off x="822960" y="822960"/>
            <a:ext cx="3840480" cy="274320"/>
          </a:xfrm>
          <a:prstGeom prst="rect">
            <a:avLst/>
          </a:prstGeom>
          <a:noFill/>
          <a:ln/>
        </p:spPr>
        <p:txBody>
          <a:bodyPr wrap="square" lIns="0" tIns="0" rIns="0" bIns="0" rtlCol="0" anchor="ctr"/>
          <a:lstStyle/>
          <a:p>
            <a:pPr marL="0" indent="0">
              <a:buNone/>
            </a:pPr>
            <a:r>
              <a:rPr lang="en-US" sz="1600" b="1" dirty="0">
                <a:solidFill>
                  <a:srgbClr val="D4A03C"/>
                </a:solidFill>
                <a:latin typeface="Calibri" pitchFamily="34" charset="0"/>
                <a:ea typeface="Calibri" pitchFamily="34" charset="-122"/>
                <a:cs typeface="Calibri" pitchFamily="34" charset="-120"/>
              </a:rPr>
              <a:t>What We Achieved</a:t>
            </a:r>
            <a:endParaRPr lang="en-US" sz="1600" dirty="0"/>
          </a:p>
        </p:txBody>
      </p:sp>
      <p:pic>
        <p:nvPicPr>
          <p:cNvPr id="6" name="Image 0" descr="preencoded.png"/>
          <p:cNvPicPr>
            <a:picLocks noChangeAspect="1"/>
          </p:cNvPicPr>
          <p:nvPr/>
        </p:nvPicPr>
        <p:blipFill>
          <a:blip r:embed="rId3"/>
          <a:stretch>
            <a:fillRect/>
          </a:stretch>
        </p:blipFill>
        <p:spPr>
          <a:xfrm>
            <a:off x="822960" y="1188720"/>
            <a:ext cx="164592" cy="164592"/>
          </a:xfrm>
          <a:prstGeom prst="rect">
            <a:avLst/>
          </a:prstGeom>
        </p:spPr>
      </p:pic>
      <p:sp>
        <p:nvSpPr>
          <p:cNvPr id="7" name="Text 4"/>
          <p:cNvSpPr/>
          <p:nvPr/>
        </p:nvSpPr>
        <p:spPr>
          <a:xfrm>
            <a:off x="1078992" y="1188720"/>
            <a:ext cx="3520440"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Character-level BIO tagging effectively captures clitic segmentation boundaries</a:t>
            </a:r>
            <a:endParaRPr lang="en-US" sz="950" dirty="0"/>
          </a:p>
        </p:txBody>
      </p:sp>
      <p:pic>
        <p:nvPicPr>
          <p:cNvPr id="8" name="Image 1" descr="preencoded.png"/>
          <p:cNvPicPr>
            <a:picLocks noChangeAspect="1"/>
          </p:cNvPicPr>
          <p:nvPr/>
        </p:nvPicPr>
        <p:blipFill>
          <a:blip r:embed="rId3"/>
          <a:stretch>
            <a:fillRect/>
          </a:stretch>
        </p:blipFill>
        <p:spPr>
          <a:xfrm>
            <a:off x="822960" y="1490472"/>
            <a:ext cx="164592" cy="164592"/>
          </a:xfrm>
          <a:prstGeom prst="rect">
            <a:avLst/>
          </a:prstGeom>
        </p:spPr>
      </p:pic>
      <p:sp>
        <p:nvSpPr>
          <p:cNvPr id="9" name="Text 5"/>
          <p:cNvSpPr/>
          <p:nvPr/>
        </p:nvSpPr>
        <p:spPr>
          <a:xfrm>
            <a:off x="1078992" y="1490472"/>
            <a:ext cx="3520440"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Strong monolingual performance: Boundary F1 = 0.9644 on Spanish test set</a:t>
            </a:r>
            <a:endParaRPr lang="en-US" sz="950" dirty="0"/>
          </a:p>
        </p:txBody>
      </p:sp>
      <p:pic>
        <p:nvPicPr>
          <p:cNvPr id="10" name="Image 2" descr="preencoded.png"/>
          <p:cNvPicPr>
            <a:picLocks noChangeAspect="1"/>
          </p:cNvPicPr>
          <p:nvPr/>
        </p:nvPicPr>
        <p:blipFill>
          <a:blip r:embed="rId3"/>
          <a:stretch>
            <a:fillRect/>
          </a:stretch>
        </p:blipFill>
        <p:spPr>
          <a:xfrm>
            <a:off x="822960" y="1792224"/>
            <a:ext cx="164592" cy="164592"/>
          </a:xfrm>
          <a:prstGeom prst="rect">
            <a:avLst/>
          </a:prstGeom>
        </p:spPr>
      </p:pic>
      <p:sp>
        <p:nvSpPr>
          <p:cNvPr id="11" name="Text 6"/>
          <p:cNvSpPr/>
          <p:nvPr/>
        </p:nvSpPr>
        <p:spPr>
          <a:xfrm>
            <a:off x="1078992" y="1792224"/>
            <a:ext cx="3520440"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117/131 multi-word tokens correctly segmented (89.3%)</a:t>
            </a:r>
            <a:endParaRPr lang="en-US" sz="950" dirty="0"/>
          </a:p>
        </p:txBody>
      </p:sp>
      <p:pic>
        <p:nvPicPr>
          <p:cNvPr id="12" name="Image 3" descr="preencoded.png"/>
          <p:cNvPicPr>
            <a:picLocks noChangeAspect="1"/>
          </p:cNvPicPr>
          <p:nvPr/>
        </p:nvPicPr>
        <p:blipFill>
          <a:blip r:embed="rId3"/>
          <a:stretch>
            <a:fillRect/>
          </a:stretch>
        </p:blipFill>
        <p:spPr>
          <a:xfrm>
            <a:off x="822960" y="2093976"/>
            <a:ext cx="164592" cy="164592"/>
          </a:xfrm>
          <a:prstGeom prst="rect">
            <a:avLst/>
          </a:prstGeom>
        </p:spPr>
      </p:pic>
      <p:sp>
        <p:nvSpPr>
          <p:cNvPr id="13" name="Text 7"/>
          <p:cNvSpPr/>
          <p:nvPr/>
        </p:nvSpPr>
        <p:spPr>
          <a:xfrm>
            <a:off x="1078992" y="2093976"/>
            <a:ext cx="3520440"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Cross-lingual analysis reveals 0.26 F1 gap (Spanish → Italian) — partial generalization</a:t>
            </a:r>
            <a:endParaRPr lang="en-US" sz="950" dirty="0"/>
          </a:p>
        </p:txBody>
      </p:sp>
      <p:pic>
        <p:nvPicPr>
          <p:cNvPr id="14" name="Image 4" descr="preencoded.png"/>
          <p:cNvPicPr>
            <a:picLocks noChangeAspect="1"/>
          </p:cNvPicPr>
          <p:nvPr/>
        </p:nvPicPr>
        <p:blipFill>
          <a:blip r:embed="rId3"/>
          <a:stretch>
            <a:fillRect/>
          </a:stretch>
        </p:blipFill>
        <p:spPr>
          <a:xfrm>
            <a:off x="822960" y="2395728"/>
            <a:ext cx="164592" cy="164592"/>
          </a:xfrm>
          <a:prstGeom prst="rect">
            <a:avLst/>
          </a:prstGeom>
        </p:spPr>
      </p:pic>
      <p:sp>
        <p:nvSpPr>
          <p:cNvPr id="15" name="Text 8"/>
          <p:cNvSpPr/>
          <p:nvPr/>
        </p:nvSpPr>
        <p:spPr>
          <a:xfrm>
            <a:off x="1078992" y="2395728"/>
            <a:ext cx="3520440"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Ablation study shows n-grams are critical (−3.3%), POS is minimal (−0.25%)</a:t>
            </a:r>
            <a:endParaRPr lang="en-US" sz="950" dirty="0"/>
          </a:p>
        </p:txBody>
      </p:sp>
      <p:pic>
        <p:nvPicPr>
          <p:cNvPr id="16" name="Image 5" descr="preencoded.png"/>
          <p:cNvPicPr>
            <a:picLocks noChangeAspect="1"/>
          </p:cNvPicPr>
          <p:nvPr/>
        </p:nvPicPr>
        <p:blipFill>
          <a:blip r:embed="rId3"/>
          <a:stretch>
            <a:fillRect/>
          </a:stretch>
        </p:blipFill>
        <p:spPr>
          <a:xfrm>
            <a:off x="822960" y="2697480"/>
            <a:ext cx="164592" cy="164592"/>
          </a:xfrm>
          <a:prstGeom prst="rect">
            <a:avLst/>
          </a:prstGeom>
        </p:spPr>
      </p:pic>
      <p:sp>
        <p:nvSpPr>
          <p:cNvPr id="17" name="Text 9"/>
          <p:cNvSpPr/>
          <p:nvPr/>
        </p:nvSpPr>
        <p:spPr>
          <a:xfrm>
            <a:off x="1078992" y="2697480"/>
            <a:ext cx="3520440"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Boundary F1 proved to be the right metric over misleading character accuracy</a:t>
            </a:r>
            <a:endParaRPr lang="en-US" sz="950" dirty="0"/>
          </a:p>
        </p:txBody>
      </p:sp>
      <p:sp>
        <p:nvSpPr>
          <p:cNvPr id="18" name="Text 10"/>
          <p:cNvSpPr/>
          <p:nvPr/>
        </p:nvSpPr>
        <p:spPr>
          <a:xfrm>
            <a:off x="5029200" y="822960"/>
            <a:ext cx="3474720" cy="274320"/>
          </a:xfrm>
          <a:prstGeom prst="rect">
            <a:avLst/>
          </a:prstGeom>
          <a:noFill/>
          <a:ln/>
        </p:spPr>
        <p:txBody>
          <a:bodyPr wrap="square" lIns="0" tIns="0" rIns="0" bIns="0" rtlCol="0" anchor="ctr"/>
          <a:lstStyle/>
          <a:p>
            <a:pPr marL="0" indent="0">
              <a:buNone/>
            </a:pPr>
            <a:r>
              <a:rPr lang="en-US" sz="1600" b="1" dirty="0">
                <a:solidFill>
                  <a:srgbClr val="D4A03C"/>
                </a:solidFill>
                <a:latin typeface="Calibri" pitchFamily="34" charset="0"/>
                <a:ea typeface="Calibri" pitchFamily="34" charset="-122"/>
                <a:cs typeface="Calibri" pitchFamily="34" charset="-120"/>
              </a:rPr>
              <a:t>Key Numbers</a:t>
            </a:r>
            <a:endParaRPr lang="en-US" sz="1600" dirty="0"/>
          </a:p>
        </p:txBody>
      </p:sp>
      <p:sp>
        <p:nvSpPr>
          <p:cNvPr id="19" name="Shape 11"/>
          <p:cNvSpPr/>
          <p:nvPr/>
        </p:nvSpPr>
        <p:spPr>
          <a:xfrm>
            <a:off x="5029200" y="1188720"/>
            <a:ext cx="3474720" cy="246888"/>
          </a:xfrm>
          <a:prstGeom prst="rect">
            <a:avLst/>
          </a:prstGeom>
          <a:solidFill>
            <a:srgbClr val="6B3A6B"/>
          </a:solidFill>
          <a:ln/>
        </p:spPr>
      </p:sp>
      <p:sp>
        <p:nvSpPr>
          <p:cNvPr id="20" name="Text 12"/>
          <p:cNvSpPr/>
          <p:nvPr/>
        </p:nvSpPr>
        <p:spPr>
          <a:xfrm>
            <a:off x="5120640" y="1207008"/>
            <a:ext cx="2011680" cy="210312"/>
          </a:xfrm>
          <a:prstGeom prst="rect">
            <a:avLst/>
          </a:prstGeom>
          <a:noFill/>
          <a:ln/>
        </p:spPr>
        <p:txBody>
          <a:bodyPr wrap="square" lIns="0" tIns="0" rIns="0" bIns="0" rtlCol="0" anchor="ctr"/>
          <a:lstStyle/>
          <a:p>
            <a:pPr marL="0" indent="0">
              <a:buNone/>
            </a:pPr>
            <a:r>
              <a:rPr lang="en-US" sz="950" dirty="0">
                <a:solidFill>
                  <a:srgbClr val="E89AAE"/>
                </a:solidFill>
                <a:latin typeface="Calibri" pitchFamily="34" charset="0"/>
                <a:ea typeface="Calibri" pitchFamily="34" charset="-122"/>
                <a:cs typeface="Calibri" pitchFamily="34" charset="-120"/>
              </a:rPr>
              <a:t>Spanish Test F1</a:t>
            </a:r>
            <a:endParaRPr lang="en-US" sz="950" dirty="0"/>
          </a:p>
        </p:txBody>
      </p:sp>
      <p:sp>
        <p:nvSpPr>
          <p:cNvPr id="21" name="Text 13"/>
          <p:cNvSpPr/>
          <p:nvPr/>
        </p:nvSpPr>
        <p:spPr>
          <a:xfrm>
            <a:off x="7132320" y="1207008"/>
            <a:ext cx="1280160" cy="210312"/>
          </a:xfrm>
          <a:prstGeom prst="rect">
            <a:avLst/>
          </a:prstGeom>
          <a:noFill/>
          <a:ln/>
        </p:spPr>
        <p:txBody>
          <a:bodyPr wrap="square" lIns="0" tIns="0" rIns="0" bIns="0" rtlCol="0" anchor="ctr"/>
          <a:lstStyle/>
          <a:p>
            <a:pPr marL="0" indent="0" algn="r">
              <a:buNone/>
            </a:pPr>
            <a:r>
              <a:rPr lang="en-US" sz="1000" b="1" dirty="0">
                <a:solidFill>
                  <a:srgbClr val="D4A03C"/>
                </a:solidFill>
                <a:latin typeface="Consolas" pitchFamily="34" charset="0"/>
                <a:ea typeface="Consolas" pitchFamily="34" charset="-122"/>
                <a:cs typeface="Consolas" pitchFamily="34" charset="-120"/>
              </a:rPr>
              <a:t>0.9644</a:t>
            </a:r>
            <a:endParaRPr lang="en-US" sz="1000" dirty="0"/>
          </a:p>
        </p:txBody>
      </p:sp>
      <p:sp>
        <p:nvSpPr>
          <p:cNvPr id="22" name="Shape 14"/>
          <p:cNvSpPr/>
          <p:nvPr/>
        </p:nvSpPr>
        <p:spPr>
          <a:xfrm>
            <a:off x="5029200" y="1490472"/>
            <a:ext cx="3474720" cy="246888"/>
          </a:xfrm>
          <a:prstGeom prst="rect">
            <a:avLst/>
          </a:prstGeom>
          <a:solidFill>
            <a:srgbClr val="6B3A6B"/>
          </a:solidFill>
          <a:ln/>
        </p:spPr>
      </p:sp>
      <p:sp>
        <p:nvSpPr>
          <p:cNvPr id="23" name="Text 15"/>
          <p:cNvSpPr/>
          <p:nvPr/>
        </p:nvSpPr>
        <p:spPr>
          <a:xfrm>
            <a:off x="5120640" y="1508760"/>
            <a:ext cx="2011680" cy="210312"/>
          </a:xfrm>
          <a:prstGeom prst="rect">
            <a:avLst/>
          </a:prstGeom>
          <a:noFill/>
          <a:ln/>
        </p:spPr>
        <p:txBody>
          <a:bodyPr wrap="square" lIns="0" tIns="0" rIns="0" bIns="0" rtlCol="0" anchor="ctr"/>
          <a:lstStyle/>
          <a:p>
            <a:pPr marL="0" indent="0">
              <a:buNone/>
            </a:pPr>
            <a:r>
              <a:rPr lang="en-US" sz="950" dirty="0">
                <a:solidFill>
                  <a:srgbClr val="E89AAE"/>
                </a:solidFill>
                <a:latin typeface="Calibri" pitchFamily="34" charset="0"/>
                <a:ea typeface="Calibri" pitchFamily="34" charset="-122"/>
                <a:cs typeface="Calibri" pitchFamily="34" charset="-120"/>
              </a:rPr>
              <a:t>Spanish Dev F1</a:t>
            </a:r>
            <a:endParaRPr lang="en-US" sz="950" dirty="0"/>
          </a:p>
        </p:txBody>
      </p:sp>
      <p:sp>
        <p:nvSpPr>
          <p:cNvPr id="24" name="Text 16"/>
          <p:cNvSpPr/>
          <p:nvPr/>
        </p:nvSpPr>
        <p:spPr>
          <a:xfrm>
            <a:off x="7132320" y="1508760"/>
            <a:ext cx="1280160" cy="210312"/>
          </a:xfrm>
          <a:prstGeom prst="rect">
            <a:avLst/>
          </a:prstGeom>
          <a:noFill/>
          <a:ln/>
        </p:spPr>
        <p:txBody>
          <a:bodyPr wrap="square" lIns="0" tIns="0" rIns="0" bIns="0" rtlCol="0" anchor="ctr"/>
          <a:lstStyle/>
          <a:p>
            <a:pPr marL="0" indent="0" algn="r">
              <a:buNone/>
            </a:pPr>
            <a:r>
              <a:rPr lang="en-US" sz="1000" b="1" dirty="0">
                <a:solidFill>
                  <a:srgbClr val="D4A03C"/>
                </a:solidFill>
                <a:latin typeface="Consolas" pitchFamily="34" charset="0"/>
                <a:ea typeface="Consolas" pitchFamily="34" charset="-122"/>
                <a:cs typeface="Consolas" pitchFamily="34" charset="-120"/>
              </a:rPr>
              <a:t>0.9949</a:t>
            </a:r>
            <a:endParaRPr lang="en-US" sz="1000" dirty="0"/>
          </a:p>
        </p:txBody>
      </p:sp>
      <p:sp>
        <p:nvSpPr>
          <p:cNvPr id="25" name="Shape 17"/>
          <p:cNvSpPr/>
          <p:nvPr/>
        </p:nvSpPr>
        <p:spPr>
          <a:xfrm>
            <a:off x="5029200" y="1792224"/>
            <a:ext cx="3474720" cy="246888"/>
          </a:xfrm>
          <a:prstGeom prst="rect">
            <a:avLst/>
          </a:prstGeom>
          <a:solidFill>
            <a:srgbClr val="6B3A6B"/>
          </a:solidFill>
          <a:ln/>
        </p:spPr>
      </p:sp>
      <p:sp>
        <p:nvSpPr>
          <p:cNvPr id="26" name="Text 18"/>
          <p:cNvSpPr/>
          <p:nvPr/>
        </p:nvSpPr>
        <p:spPr>
          <a:xfrm>
            <a:off x="5120640" y="1810512"/>
            <a:ext cx="2011680" cy="210312"/>
          </a:xfrm>
          <a:prstGeom prst="rect">
            <a:avLst/>
          </a:prstGeom>
          <a:noFill/>
          <a:ln/>
        </p:spPr>
        <p:txBody>
          <a:bodyPr wrap="square" lIns="0" tIns="0" rIns="0" bIns="0" rtlCol="0" anchor="ctr"/>
          <a:lstStyle/>
          <a:p>
            <a:pPr marL="0" indent="0">
              <a:buNone/>
            </a:pPr>
            <a:r>
              <a:rPr lang="en-US" sz="950" dirty="0">
                <a:solidFill>
                  <a:srgbClr val="E89AAE"/>
                </a:solidFill>
                <a:latin typeface="Calibri" pitchFamily="34" charset="0"/>
                <a:ea typeface="Calibri" pitchFamily="34" charset="-122"/>
                <a:cs typeface="Calibri" pitchFamily="34" charset="-120"/>
              </a:rPr>
              <a:t>Italian (Zero-Shot) F1</a:t>
            </a:r>
            <a:endParaRPr lang="en-US" sz="950" dirty="0"/>
          </a:p>
        </p:txBody>
      </p:sp>
      <p:sp>
        <p:nvSpPr>
          <p:cNvPr id="27" name="Text 19"/>
          <p:cNvSpPr/>
          <p:nvPr/>
        </p:nvSpPr>
        <p:spPr>
          <a:xfrm>
            <a:off x="7132320" y="1810512"/>
            <a:ext cx="1280160" cy="210312"/>
          </a:xfrm>
          <a:prstGeom prst="rect">
            <a:avLst/>
          </a:prstGeom>
          <a:noFill/>
          <a:ln/>
        </p:spPr>
        <p:txBody>
          <a:bodyPr wrap="square" lIns="0" tIns="0" rIns="0" bIns="0" rtlCol="0" anchor="ctr"/>
          <a:lstStyle/>
          <a:p>
            <a:pPr marL="0" indent="0" algn="r">
              <a:buNone/>
            </a:pPr>
            <a:r>
              <a:rPr lang="en-US" sz="1000" b="1" dirty="0">
                <a:solidFill>
                  <a:srgbClr val="D4A03C"/>
                </a:solidFill>
                <a:latin typeface="Consolas" pitchFamily="34" charset="0"/>
                <a:ea typeface="Consolas" pitchFamily="34" charset="-122"/>
                <a:cs typeface="Consolas" pitchFamily="34" charset="-120"/>
              </a:rPr>
              <a:t>0.7024</a:t>
            </a:r>
            <a:endParaRPr lang="en-US" sz="1000" dirty="0"/>
          </a:p>
        </p:txBody>
      </p:sp>
      <p:sp>
        <p:nvSpPr>
          <p:cNvPr id="28" name="Shape 20"/>
          <p:cNvSpPr/>
          <p:nvPr/>
        </p:nvSpPr>
        <p:spPr>
          <a:xfrm>
            <a:off x="5029200" y="2093976"/>
            <a:ext cx="3474720" cy="246888"/>
          </a:xfrm>
          <a:prstGeom prst="rect">
            <a:avLst/>
          </a:prstGeom>
          <a:solidFill>
            <a:srgbClr val="6B3A6B"/>
          </a:solidFill>
          <a:ln/>
        </p:spPr>
      </p:sp>
      <p:sp>
        <p:nvSpPr>
          <p:cNvPr id="29" name="Text 21"/>
          <p:cNvSpPr/>
          <p:nvPr/>
        </p:nvSpPr>
        <p:spPr>
          <a:xfrm>
            <a:off x="5120640" y="2112264"/>
            <a:ext cx="2011680" cy="210312"/>
          </a:xfrm>
          <a:prstGeom prst="rect">
            <a:avLst/>
          </a:prstGeom>
          <a:noFill/>
          <a:ln/>
        </p:spPr>
        <p:txBody>
          <a:bodyPr wrap="square" lIns="0" tIns="0" rIns="0" bIns="0" rtlCol="0" anchor="ctr"/>
          <a:lstStyle/>
          <a:p>
            <a:pPr marL="0" indent="0">
              <a:buNone/>
            </a:pPr>
            <a:r>
              <a:rPr lang="en-US" sz="950" dirty="0">
                <a:solidFill>
                  <a:srgbClr val="E89AAE"/>
                </a:solidFill>
                <a:latin typeface="Calibri" pitchFamily="34" charset="0"/>
                <a:ea typeface="Calibri" pitchFamily="34" charset="-122"/>
                <a:cs typeface="Calibri" pitchFamily="34" charset="-120"/>
              </a:rPr>
              <a:t>MWTs Correct</a:t>
            </a:r>
            <a:endParaRPr lang="en-US" sz="950" dirty="0"/>
          </a:p>
        </p:txBody>
      </p:sp>
      <p:sp>
        <p:nvSpPr>
          <p:cNvPr id="30" name="Text 22"/>
          <p:cNvSpPr/>
          <p:nvPr/>
        </p:nvSpPr>
        <p:spPr>
          <a:xfrm>
            <a:off x="7132320" y="2112264"/>
            <a:ext cx="1280160" cy="210312"/>
          </a:xfrm>
          <a:prstGeom prst="rect">
            <a:avLst/>
          </a:prstGeom>
          <a:noFill/>
          <a:ln/>
        </p:spPr>
        <p:txBody>
          <a:bodyPr wrap="square" lIns="0" tIns="0" rIns="0" bIns="0" rtlCol="0" anchor="ctr"/>
          <a:lstStyle/>
          <a:p>
            <a:pPr marL="0" indent="0" algn="r">
              <a:buNone/>
            </a:pPr>
            <a:r>
              <a:rPr lang="en-US" sz="1000" b="1" dirty="0">
                <a:solidFill>
                  <a:srgbClr val="D4A03C"/>
                </a:solidFill>
                <a:latin typeface="Consolas" pitchFamily="34" charset="0"/>
                <a:ea typeface="Consolas" pitchFamily="34" charset="-122"/>
                <a:cs typeface="Consolas" pitchFamily="34" charset="-120"/>
              </a:rPr>
              <a:t>117/131</a:t>
            </a:r>
            <a:endParaRPr lang="en-US" sz="1000" dirty="0"/>
          </a:p>
        </p:txBody>
      </p:sp>
      <p:sp>
        <p:nvSpPr>
          <p:cNvPr id="31" name="Shape 23"/>
          <p:cNvSpPr/>
          <p:nvPr/>
        </p:nvSpPr>
        <p:spPr>
          <a:xfrm>
            <a:off x="5029200" y="2395728"/>
            <a:ext cx="3474720" cy="246888"/>
          </a:xfrm>
          <a:prstGeom prst="rect">
            <a:avLst/>
          </a:prstGeom>
          <a:solidFill>
            <a:srgbClr val="6B3A6B"/>
          </a:solidFill>
          <a:ln/>
        </p:spPr>
      </p:sp>
      <p:sp>
        <p:nvSpPr>
          <p:cNvPr id="32" name="Text 24"/>
          <p:cNvSpPr/>
          <p:nvPr/>
        </p:nvSpPr>
        <p:spPr>
          <a:xfrm>
            <a:off x="5120640" y="2414016"/>
            <a:ext cx="2011680" cy="210312"/>
          </a:xfrm>
          <a:prstGeom prst="rect">
            <a:avLst/>
          </a:prstGeom>
          <a:noFill/>
          <a:ln/>
        </p:spPr>
        <p:txBody>
          <a:bodyPr wrap="square" lIns="0" tIns="0" rIns="0" bIns="0" rtlCol="0" anchor="ctr"/>
          <a:lstStyle/>
          <a:p>
            <a:pPr marL="0" indent="0">
              <a:buNone/>
            </a:pPr>
            <a:r>
              <a:rPr lang="en-US" sz="950" dirty="0">
                <a:solidFill>
                  <a:srgbClr val="E89AAE"/>
                </a:solidFill>
                <a:latin typeface="Calibri" pitchFamily="34" charset="0"/>
                <a:ea typeface="Calibri" pitchFamily="34" charset="-122"/>
                <a:cs typeface="Calibri" pitchFamily="34" charset="-120"/>
              </a:rPr>
              <a:t>F1 Drop (N-grams removed)</a:t>
            </a:r>
            <a:endParaRPr lang="en-US" sz="950" dirty="0"/>
          </a:p>
        </p:txBody>
      </p:sp>
      <p:sp>
        <p:nvSpPr>
          <p:cNvPr id="33" name="Text 25"/>
          <p:cNvSpPr/>
          <p:nvPr/>
        </p:nvSpPr>
        <p:spPr>
          <a:xfrm>
            <a:off x="7132320" y="2414016"/>
            <a:ext cx="1280160" cy="210312"/>
          </a:xfrm>
          <a:prstGeom prst="rect">
            <a:avLst/>
          </a:prstGeom>
          <a:noFill/>
          <a:ln/>
        </p:spPr>
        <p:txBody>
          <a:bodyPr wrap="square" lIns="0" tIns="0" rIns="0" bIns="0" rtlCol="0" anchor="ctr"/>
          <a:lstStyle/>
          <a:p>
            <a:pPr marL="0" indent="0" algn="r">
              <a:buNone/>
            </a:pPr>
            <a:r>
              <a:rPr lang="en-US" sz="1000" b="1" dirty="0">
                <a:solidFill>
                  <a:srgbClr val="D4A03C"/>
                </a:solidFill>
                <a:latin typeface="Consolas" pitchFamily="34" charset="0"/>
                <a:ea typeface="Consolas" pitchFamily="34" charset="-122"/>
                <a:cs typeface="Consolas" pitchFamily="34" charset="-120"/>
              </a:rPr>
              <a:t>−3.3%</a:t>
            </a:r>
            <a:endParaRPr lang="en-US" sz="1000" dirty="0"/>
          </a:p>
        </p:txBody>
      </p:sp>
      <p:sp>
        <p:nvSpPr>
          <p:cNvPr id="34" name="Shape 26"/>
          <p:cNvSpPr/>
          <p:nvPr/>
        </p:nvSpPr>
        <p:spPr>
          <a:xfrm>
            <a:off x="5029200" y="2697480"/>
            <a:ext cx="3474720" cy="246888"/>
          </a:xfrm>
          <a:prstGeom prst="rect">
            <a:avLst/>
          </a:prstGeom>
          <a:solidFill>
            <a:srgbClr val="6B3A6B"/>
          </a:solidFill>
          <a:ln/>
        </p:spPr>
      </p:sp>
      <p:sp>
        <p:nvSpPr>
          <p:cNvPr id="35" name="Text 27"/>
          <p:cNvSpPr/>
          <p:nvPr/>
        </p:nvSpPr>
        <p:spPr>
          <a:xfrm>
            <a:off x="5120640" y="2715768"/>
            <a:ext cx="2011680" cy="210312"/>
          </a:xfrm>
          <a:prstGeom prst="rect">
            <a:avLst/>
          </a:prstGeom>
          <a:noFill/>
          <a:ln/>
        </p:spPr>
        <p:txBody>
          <a:bodyPr wrap="square" lIns="0" tIns="0" rIns="0" bIns="0" rtlCol="0" anchor="ctr"/>
          <a:lstStyle/>
          <a:p>
            <a:pPr marL="0" indent="0">
              <a:buNone/>
            </a:pPr>
            <a:r>
              <a:rPr lang="en-US" sz="950" dirty="0">
                <a:solidFill>
                  <a:srgbClr val="E89AAE"/>
                </a:solidFill>
                <a:latin typeface="Calibri" pitchFamily="34" charset="0"/>
                <a:ea typeface="Calibri" pitchFamily="34" charset="-122"/>
                <a:cs typeface="Calibri" pitchFamily="34" charset="-120"/>
              </a:rPr>
              <a:t>F1 Drop (POS removed)</a:t>
            </a:r>
            <a:endParaRPr lang="en-US" sz="950" dirty="0"/>
          </a:p>
        </p:txBody>
      </p:sp>
      <p:sp>
        <p:nvSpPr>
          <p:cNvPr id="36" name="Text 28"/>
          <p:cNvSpPr/>
          <p:nvPr/>
        </p:nvSpPr>
        <p:spPr>
          <a:xfrm>
            <a:off x="7132320" y="2715768"/>
            <a:ext cx="1280160" cy="210312"/>
          </a:xfrm>
          <a:prstGeom prst="rect">
            <a:avLst/>
          </a:prstGeom>
          <a:noFill/>
          <a:ln/>
        </p:spPr>
        <p:txBody>
          <a:bodyPr wrap="square" lIns="0" tIns="0" rIns="0" bIns="0" rtlCol="0" anchor="ctr"/>
          <a:lstStyle/>
          <a:p>
            <a:pPr marL="0" indent="0" algn="r">
              <a:buNone/>
            </a:pPr>
            <a:r>
              <a:rPr lang="en-US" sz="1000" b="1" dirty="0">
                <a:solidFill>
                  <a:srgbClr val="D4A03C"/>
                </a:solidFill>
                <a:latin typeface="Consolas" pitchFamily="34" charset="0"/>
                <a:ea typeface="Consolas" pitchFamily="34" charset="-122"/>
                <a:cs typeface="Consolas" pitchFamily="34" charset="-120"/>
              </a:rPr>
              <a:t>−0.25%</a:t>
            </a:r>
            <a:endParaRPr lang="en-US" sz="1000" dirty="0"/>
          </a:p>
        </p:txBody>
      </p:sp>
      <p:sp>
        <p:nvSpPr>
          <p:cNvPr id="37" name="Shape 29"/>
          <p:cNvSpPr/>
          <p:nvPr/>
        </p:nvSpPr>
        <p:spPr>
          <a:xfrm>
            <a:off x="822960" y="3200400"/>
            <a:ext cx="7498080" cy="731520"/>
          </a:xfrm>
          <a:prstGeom prst="rect">
            <a:avLst/>
          </a:prstGeom>
          <a:solidFill>
            <a:srgbClr val="6B3A6B"/>
          </a:solidFill>
          <a:ln/>
        </p:spPr>
      </p:sp>
      <p:sp>
        <p:nvSpPr>
          <p:cNvPr id="38" name="Text 30"/>
          <p:cNvSpPr/>
          <p:nvPr/>
        </p:nvSpPr>
        <p:spPr>
          <a:xfrm>
            <a:off x="960120" y="3246120"/>
            <a:ext cx="7223760" cy="64008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The model achieves high segmentation accuracy on Spanish and provides valuable insights into cross-lingual generalization. Character-level representations are powerful for morphological segmentation, but clitic attachment patterns remain partially language-dependent — emphasizing the importance of linguistic variation in multilingual settings.</a:t>
            </a:r>
            <a:endParaRPr lang="en-US" sz="1100" dirty="0"/>
          </a:p>
        </p:txBody>
      </p:sp>
      <p:sp>
        <p:nvSpPr>
          <p:cNvPr id="39" name="Text 31"/>
          <p:cNvSpPr/>
          <p:nvPr/>
        </p:nvSpPr>
        <p:spPr>
          <a:xfrm>
            <a:off x="822960" y="4114800"/>
            <a:ext cx="7315200" cy="228600"/>
          </a:xfrm>
          <a:prstGeom prst="rect">
            <a:avLst/>
          </a:prstGeom>
          <a:noFill/>
          <a:ln/>
        </p:spPr>
        <p:txBody>
          <a:bodyPr wrap="square" lIns="0" tIns="0" rIns="0" bIns="0" rtlCol="0" anchor="ctr"/>
          <a:lstStyle/>
          <a:p>
            <a:pPr marL="0" indent="0">
              <a:buNone/>
            </a:pPr>
            <a:r>
              <a:rPr lang="en-US" sz="1400" b="1" dirty="0">
                <a:solidFill>
                  <a:srgbClr val="D4A03C"/>
                </a:solidFill>
                <a:latin typeface="Calibri" pitchFamily="34" charset="0"/>
                <a:ea typeface="Calibri" pitchFamily="34" charset="-122"/>
                <a:cs typeface="Calibri" pitchFamily="34" charset="-120"/>
              </a:rPr>
              <a:t>Future Directions</a:t>
            </a:r>
            <a:endParaRPr lang="en-US" sz="1400" dirty="0"/>
          </a:p>
        </p:txBody>
      </p:sp>
      <p:sp>
        <p:nvSpPr>
          <p:cNvPr id="40" name="Shape 32"/>
          <p:cNvSpPr/>
          <p:nvPr/>
        </p:nvSpPr>
        <p:spPr>
          <a:xfrm>
            <a:off x="822960" y="4389120"/>
            <a:ext cx="1828800" cy="640080"/>
          </a:xfrm>
          <a:prstGeom prst="rect">
            <a:avLst/>
          </a:prstGeom>
          <a:solidFill>
            <a:srgbClr val="6B3A6B"/>
          </a:solidFill>
          <a:ln/>
        </p:spPr>
      </p:sp>
      <p:sp>
        <p:nvSpPr>
          <p:cNvPr id="41" name="Text 33"/>
          <p:cNvSpPr/>
          <p:nvPr/>
        </p:nvSpPr>
        <p:spPr>
          <a:xfrm>
            <a:off x="914400" y="4416552"/>
            <a:ext cx="1645920" cy="182880"/>
          </a:xfrm>
          <a:prstGeom prst="rect">
            <a:avLst/>
          </a:prstGeom>
          <a:noFill/>
          <a:ln/>
        </p:spPr>
        <p:txBody>
          <a:bodyPr wrap="square" lIns="0" tIns="0" rIns="0" bIns="0" rtlCol="0" anchor="ctr"/>
          <a:lstStyle/>
          <a:p>
            <a:pPr marL="0" indent="0">
              <a:buNone/>
            </a:pPr>
            <a:r>
              <a:rPr lang="en-US" sz="1000" b="1" dirty="0">
                <a:solidFill>
                  <a:srgbClr val="D4A03C"/>
                </a:solidFill>
                <a:latin typeface="Calibri" pitchFamily="34" charset="0"/>
                <a:ea typeface="Calibri" pitchFamily="34" charset="-122"/>
                <a:cs typeface="Calibri" pitchFamily="34" charset="-120"/>
              </a:rPr>
              <a:t>More Languages</a:t>
            </a:r>
            <a:endParaRPr lang="en-US" sz="1000" dirty="0"/>
          </a:p>
        </p:txBody>
      </p:sp>
      <p:sp>
        <p:nvSpPr>
          <p:cNvPr id="42" name="Text 34"/>
          <p:cNvSpPr/>
          <p:nvPr/>
        </p:nvSpPr>
        <p:spPr>
          <a:xfrm>
            <a:off x="914400" y="4617720"/>
            <a:ext cx="1645920" cy="365760"/>
          </a:xfrm>
          <a:prstGeom prst="rect">
            <a:avLst/>
          </a:prstGeom>
          <a:noFill/>
          <a:ln/>
        </p:spPr>
        <p:txBody>
          <a:bodyPr wrap="square" lIns="0" tIns="0" rIns="0" bIns="0" rtlCol="0" anchor="ctr"/>
          <a:lstStyle/>
          <a:p>
            <a:pPr marL="0" indent="0">
              <a:buNone/>
            </a:pPr>
            <a:r>
              <a:rPr lang="en-US" sz="900" dirty="0">
                <a:solidFill>
                  <a:srgbClr val="8A7A8A"/>
                </a:solidFill>
                <a:latin typeface="Calibri" pitchFamily="34" charset="0"/>
                <a:ea typeface="Calibri" pitchFamily="34" charset="-122"/>
                <a:cs typeface="Calibri" pitchFamily="34" charset="-120"/>
              </a:rPr>
              <a:t>Test on Arabic, Turkish, Finnish</a:t>
            </a:r>
            <a:endParaRPr lang="en-US" sz="900" dirty="0"/>
          </a:p>
        </p:txBody>
      </p:sp>
      <p:sp>
        <p:nvSpPr>
          <p:cNvPr id="43" name="Shape 35"/>
          <p:cNvSpPr/>
          <p:nvPr/>
        </p:nvSpPr>
        <p:spPr>
          <a:xfrm>
            <a:off x="2834640" y="4389120"/>
            <a:ext cx="1828800" cy="640080"/>
          </a:xfrm>
          <a:prstGeom prst="rect">
            <a:avLst/>
          </a:prstGeom>
          <a:solidFill>
            <a:srgbClr val="6B3A6B"/>
          </a:solidFill>
          <a:ln/>
        </p:spPr>
      </p:sp>
      <p:sp>
        <p:nvSpPr>
          <p:cNvPr id="44" name="Text 36"/>
          <p:cNvSpPr/>
          <p:nvPr/>
        </p:nvSpPr>
        <p:spPr>
          <a:xfrm>
            <a:off x="2926080" y="4416552"/>
            <a:ext cx="1645920" cy="182880"/>
          </a:xfrm>
          <a:prstGeom prst="rect">
            <a:avLst/>
          </a:prstGeom>
          <a:noFill/>
          <a:ln/>
        </p:spPr>
        <p:txBody>
          <a:bodyPr wrap="square" lIns="0" tIns="0" rIns="0" bIns="0" rtlCol="0" anchor="ctr"/>
          <a:lstStyle/>
          <a:p>
            <a:pPr marL="0" indent="0">
              <a:buNone/>
            </a:pPr>
            <a:r>
              <a:rPr lang="en-US" sz="1000" b="1" dirty="0">
                <a:solidFill>
                  <a:srgbClr val="D4A03C"/>
                </a:solidFill>
                <a:latin typeface="Calibri" pitchFamily="34" charset="0"/>
                <a:ea typeface="Calibri" pitchFamily="34" charset="-122"/>
                <a:cs typeface="Calibri" pitchFamily="34" charset="-120"/>
              </a:rPr>
              <a:t>Multilingual Training</a:t>
            </a:r>
            <a:endParaRPr lang="en-US" sz="1000" dirty="0"/>
          </a:p>
        </p:txBody>
      </p:sp>
      <p:sp>
        <p:nvSpPr>
          <p:cNvPr id="45" name="Text 37"/>
          <p:cNvSpPr/>
          <p:nvPr/>
        </p:nvSpPr>
        <p:spPr>
          <a:xfrm>
            <a:off x="2926080" y="4617720"/>
            <a:ext cx="1645920" cy="365760"/>
          </a:xfrm>
          <a:prstGeom prst="rect">
            <a:avLst/>
          </a:prstGeom>
          <a:noFill/>
          <a:ln/>
        </p:spPr>
        <p:txBody>
          <a:bodyPr wrap="square" lIns="0" tIns="0" rIns="0" bIns="0" rtlCol="0" anchor="ctr"/>
          <a:lstStyle/>
          <a:p>
            <a:pPr marL="0" indent="0">
              <a:buNone/>
            </a:pPr>
            <a:r>
              <a:rPr lang="en-US" sz="900" dirty="0">
                <a:solidFill>
                  <a:srgbClr val="8A7A8A"/>
                </a:solidFill>
                <a:latin typeface="Calibri" pitchFamily="34" charset="0"/>
                <a:ea typeface="Calibri" pitchFamily="34" charset="-122"/>
                <a:cs typeface="Calibri" pitchFamily="34" charset="-120"/>
              </a:rPr>
              <a:t>Train jointly on multiple languages</a:t>
            </a:r>
            <a:endParaRPr lang="en-US" sz="900" dirty="0"/>
          </a:p>
        </p:txBody>
      </p:sp>
      <p:sp>
        <p:nvSpPr>
          <p:cNvPr id="46" name="Shape 38"/>
          <p:cNvSpPr/>
          <p:nvPr/>
        </p:nvSpPr>
        <p:spPr>
          <a:xfrm>
            <a:off x="4846320" y="4389120"/>
            <a:ext cx="1828800" cy="640080"/>
          </a:xfrm>
          <a:prstGeom prst="rect">
            <a:avLst/>
          </a:prstGeom>
          <a:solidFill>
            <a:srgbClr val="6B3A6B"/>
          </a:solidFill>
          <a:ln/>
        </p:spPr>
      </p:sp>
      <p:sp>
        <p:nvSpPr>
          <p:cNvPr id="47" name="Text 39"/>
          <p:cNvSpPr/>
          <p:nvPr/>
        </p:nvSpPr>
        <p:spPr>
          <a:xfrm>
            <a:off x="4937760" y="4416552"/>
            <a:ext cx="1645920" cy="182880"/>
          </a:xfrm>
          <a:prstGeom prst="rect">
            <a:avLst/>
          </a:prstGeom>
          <a:noFill/>
          <a:ln/>
        </p:spPr>
        <p:txBody>
          <a:bodyPr wrap="square" lIns="0" tIns="0" rIns="0" bIns="0" rtlCol="0" anchor="ctr"/>
          <a:lstStyle/>
          <a:p>
            <a:pPr marL="0" indent="0">
              <a:buNone/>
            </a:pPr>
            <a:r>
              <a:rPr lang="en-US" sz="1000" b="1" dirty="0">
                <a:solidFill>
                  <a:srgbClr val="D4A03C"/>
                </a:solidFill>
                <a:latin typeface="Calibri" pitchFamily="34" charset="0"/>
                <a:ea typeface="Calibri" pitchFamily="34" charset="-122"/>
                <a:cs typeface="Calibri" pitchFamily="34" charset="-120"/>
              </a:rPr>
              <a:t>Neural Hybrid</a:t>
            </a:r>
            <a:endParaRPr lang="en-US" sz="1000" dirty="0"/>
          </a:p>
        </p:txBody>
      </p:sp>
      <p:sp>
        <p:nvSpPr>
          <p:cNvPr id="48" name="Text 40"/>
          <p:cNvSpPr/>
          <p:nvPr/>
        </p:nvSpPr>
        <p:spPr>
          <a:xfrm>
            <a:off x="4937760" y="4617720"/>
            <a:ext cx="1645920" cy="365760"/>
          </a:xfrm>
          <a:prstGeom prst="rect">
            <a:avLst/>
          </a:prstGeom>
          <a:noFill/>
          <a:ln/>
        </p:spPr>
        <p:txBody>
          <a:bodyPr wrap="square" lIns="0" tIns="0" rIns="0" bIns="0" rtlCol="0" anchor="ctr"/>
          <a:lstStyle/>
          <a:p>
            <a:pPr marL="0" indent="0">
              <a:buNone/>
            </a:pPr>
            <a:r>
              <a:rPr lang="en-US" sz="900" dirty="0">
                <a:solidFill>
                  <a:srgbClr val="8A7A8A"/>
                </a:solidFill>
                <a:latin typeface="Calibri" pitchFamily="34" charset="0"/>
                <a:ea typeface="Calibri" pitchFamily="34" charset="-122"/>
                <a:cs typeface="Calibri" pitchFamily="34" charset="-120"/>
              </a:rPr>
              <a:t>Combine with BiLSTM features</a:t>
            </a:r>
            <a:endParaRPr lang="en-US" sz="900" dirty="0"/>
          </a:p>
        </p:txBody>
      </p:sp>
      <p:sp>
        <p:nvSpPr>
          <p:cNvPr id="49" name="Shape 41"/>
          <p:cNvSpPr/>
          <p:nvPr/>
        </p:nvSpPr>
        <p:spPr>
          <a:xfrm>
            <a:off x="6858000" y="4389120"/>
            <a:ext cx="1828800" cy="640080"/>
          </a:xfrm>
          <a:prstGeom prst="rect">
            <a:avLst/>
          </a:prstGeom>
          <a:solidFill>
            <a:srgbClr val="6B3A6B"/>
          </a:solidFill>
          <a:ln/>
        </p:spPr>
      </p:sp>
      <p:sp>
        <p:nvSpPr>
          <p:cNvPr id="50" name="Text 42"/>
          <p:cNvSpPr/>
          <p:nvPr/>
        </p:nvSpPr>
        <p:spPr>
          <a:xfrm>
            <a:off x="6949440" y="4416552"/>
            <a:ext cx="1645920" cy="182880"/>
          </a:xfrm>
          <a:prstGeom prst="rect">
            <a:avLst/>
          </a:prstGeom>
          <a:noFill/>
          <a:ln/>
        </p:spPr>
        <p:txBody>
          <a:bodyPr wrap="square" lIns="0" tIns="0" rIns="0" bIns="0" rtlCol="0" anchor="ctr"/>
          <a:lstStyle/>
          <a:p>
            <a:pPr marL="0" indent="0">
              <a:buNone/>
            </a:pPr>
            <a:r>
              <a:rPr lang="en-US" sz="1000" b="1" dirty="0">
                <a:solidFill>
                  <a:srgbClr val="D4A03C"/>
                </a:solidFill>
                <a:latin typeface="Calibri" pitchFamily="34" charset="0"/>
                <a:ea typeface="Calibri" pitchFamily="34" charset="-122"/>
                <a:cs typeface="Calibri" pitchFamily="34" charset="-120"/>
              </a:rPr>
              <a:t>Error Analysis</a:t>
            </a:r>
            <a:endParaRPr lang="en-US" sz="1000" dirty="0"/>
          </a:p>
        </p:txBody>
      </p:sp>
      <p:sp>
        <p:nvSpPr>
          <p:cNvPr id="51" name="Text 43"/>
          <p:cNvSpPr/>
          <p:nvPr/>
        </p:nvSpPr>
        <p:spPr>
          <a:xfrm>
            <a:off x="6949440" y="4617720"/>
            <a:ext cx="1645920" cy="365760"/>
          </a:xfrm>
          <a:prstGeom prst="rect">
            <a:avLst/>
          </a:prstGeom>
          <a:noFill/>
          <a:ln/>
        </p:spPr>
        <p:txBody>
          <a:bodyPr wrap="square" lIns="0" tIns="0" rIns="0" bIns="0" rtlCol="0" anchor="ctr"/>
          <a:lstStyle/>
          <a:p>
            <a:pPr marL="0" indent="0">
              <a:buNone/>
            </a:pPr>
            <a:r>
              <a:rPr lang="en-US" sz="900" dirty="0">
                <a:solidFill>
                  <a:srgbClr val="8A7A8A"/>
                </a:solidFill>
                <a:latin typeface="Calibri" pitchFamily="34" charset="0"/>
                <a:ea typeface="Calibri" pitchFamily="34" charset="-122"/>
                <a:cs typeface="Calibri" pitchFamily="34" charset="-120"/>
              </a:rPr>
              <a:t>Per-token boundary error study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2782</Words>
  <Application>Microsoft Office PowerPoint</Application>
  <PresentationFormat>On-screen Show (16:9)</PresentationFormat>
  <Paragraphs>452</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Clitic Segmentation Using Character-Level BIO Tagging</dc:title>
  <dc:subject>PptxGenJS Presentation</dc:subject>
  <dc:creator>PptxGenJS</dc:creator>
  <cp:lastModifiedBy>Niti Priya</cp:lastModifiedBy>
  <cp:revision>2</cp:revision>
  <dcterms:created xsi:type="dcterms:W3CDTF">2026-04-13T09:08:22Z</dcterms:created>
  <dcterms:modified xsi:type="dcterms:W3CDTF">2026-04-13T11:34:53Z</dcterms:modified>
</cp:coreProperties>
</file>